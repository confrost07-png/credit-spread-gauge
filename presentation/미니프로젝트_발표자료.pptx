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70" r:id="rId8"/>
    <p:sldId id="271" r:id="rId9"/>
    <p:sldId id="262" r:id="rId10"/>
    <p:sldId id="263" r:id="rId11"/>
    <p:sldId id="264" r:id="rId12"/>
    <p:sldId id="265" r:id="rId13"/>
    <p:sldId id="266" r:id="rId14"/>
    <p:sldId id="267" r:id="rId15"/>
    <p:sldId id="268" r:id="rId16"/>
    <p:sldId id="272" r:id="rId17"/>
    <p:sldId id="273" r:id="rId24"/>
    <p:sldId id="269" r:id="rId18"/>
  </p:sldIdLst>
  <p:sldSz cx="12192000" cy="6858000"/>
  <p:notesSz cx="6858000" cy="12192000"/>
  <p:defaultTextStyle>
    <a:lvl1pPr marL="0" algn="l" defTabSz="914400" rtl="0" eaLnBrk="1" latinLnBrk="0" hangingPunct="1">
      <a:defRPr sz="1800" kern="1200">
        <a:solidFill>
          <a:schemeClr val="tx1"/>
        </a:solidFill>
        <a:latin typeface="+mn-lt"/>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맑은 고딕" panose="020B0503020000020004" pitchFamily="50" charset="-127"/>
        <a:cs typeface="+mn-cs"/>
      </a:defRPr>
    </a:lvl2pPr>
    <a:lvl3pPr marL="914400" algn="l" defTabSz="914400" rtl="0" eaLnBrk="1" latinLnBrk="0" hangingPunct="1">
      <a:defRPr sz="1800" kern="1200">
        <a:solidFill>
          <a:schemeClr val="tx1"/>
        </a:solidFill>
        <a:latin typeface="+mn-lt"/>
        <a:ea typeface="맑은 고딕" panose="020B0503020000020004" pitchFamily="50" charset="-127"/>
        <a:cs typeface="+mn-cs"/>
      </a:defRPr>
    </a:lvl3pPr>
    <a:lvl4pPr marL="1371600" algn="l" defTabSz="914400" rtl="0" eaLnBrk="1" latinLnBrk="0" hangingPunct="1">
      <a:defRPr sz="1800" kern="1200">
        <a:solidFill>
          <a:schemeClr val="tx1"/>
        </a:solidFill>
        <a:latin typeface="+mn-lt"/>
        <a:ea typeface="맑은 고딕" panose="020B0503020000020004" pitchFamily="50" charset="-127"/>
        <a:cs typeface="+mn-cs"/>
      </a:defRPr>
    </a:lvl4pPr>
    <a:lvl5pPr marL="1828800" algn="l" defTabSz="914400" rtl="0" eaLnBrk="1" latinLnBrk="0" hangingPunct="1">
      <a:defRPr sz="1800" kern="1200">
        <a:solidFill>
          <a:schemeClr val="tx1"/>
        </a:solidFill>
        <a:latin typeface="+mn-lt"/>
        <a:ea typeface="맑은 고딕" panose="020B0503020000020004" pitchFamily="50" charset="-127"/>
        <a:cs typeface="+mn-cs"/>
      </a:defRPr>
    </a:lvl5pPr>
    <a:lvl6pPr marL="2286000" algn="l" defTabSz="914400" rtl="0" eaLnBrk="1" latinLnBrk="0" hangingPunct="1">
      <a:defRPr sz="1800" kern="1200">
        <a:solidFill>
          <a:schemeClr val="tx1"/>
        </a:solidFill>
        <a:latin typeface="+mn-lt"/>
        <a:ea typeface="맑은 고딕" panose="020B0503020000020004" pitchFamily="50" charset="-127"/>
        <a:cs typeface="+mn-cs"/>
      </a:defRPr>
    </a:lvl6pPr>
    <a:lvl7pPr marL="2743200" algn="l" defTabSz="914400" rtl="0" eaLnBrk="1" latinLnBrk="0" hangingPunct="1">
      <a:defRPr sz="1800" kern="1200">
        <a:solidFill>
          <a:schemeClr val="tx1"/>
        </a:solidFill>
        <a:latin typeface="+mn-lt"/>
        <a:ea typeface="맑은 고딕" panose="020B0503020000020004" pitchFamily="50" charset="-127"/>
        <a:cs typeface="+mn-cs"/>
      </a:defRPr>
    </a:lvl7pPr>
    <a:lvl8pPr marL="3200400" algn="l" defTabSz="914400" rtl="0" eaLnBrk="1" latinLnBrk="0" hangingPunct="1">
      <a:defRPr sz="1800" kern="1200">
        <a:solidFill>
          <a:schemeClr val="tx1"/>
        </a:solidFill>
        <a:latin typeface="+mn-lt"/>
        <a:ea typeface="맑은 고딕" panose="020B0503020000020004" pitchFamily="50" charset="-127"/>
        <a:cs typeface="+mn-cs"/>
      </a:defRPr>
    </a:lvl8pPr>
    <a:lvl9pPr marL="3657600" algn="l" defTabSz="914400" rtl="0" eaLnBrk="1" latinLnBrk="0" hangingPunct="1">
      <a:defRPr sz="1800" kern="1200">
        <a:solidFill>
          <a:schemeClr val="tx1"/>
        </a:solidFill>
        <a:latin typeface="+mn-lt"/>
        <a:ea typeface="맑은 고딕" panose="020B0503020000020004" pitchFamily="50" charset="-127"/>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3" d="100"/>
          <a:sy n="83" d="100"/>
        </p:scale>
        <p:origin x="-6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8.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ko-KR"/>
  <c:roundedCorners val="0"/>
  <c:style val="2"/>
  <c:chart>
    <c:title>
      <c:tx>
        <c:rich>
          <a:bodyPr/>
          <a:lstStyle/>
          <a:p>
            <a:pPr>
              <a:defRPr sz="1200" b="0" i="0" u="none" strike="noStrike">
                <a:solidFill>
                  <a:srgbClr val="1F2A36"/>
                </a:solidFill>
                <a:latin typeface="맑은 고딕" panose="020B0503020000020004" pitchFamily="50" charset="-127"/>
              </a:defRPr>
            </a:pPr>
            <a:r>
              <a:rPr lang="en-US" altLang="ko-KR" sz="1200" b="0" i="0" u="none" strike="noStrike">
                <a:solidFill>
                  <a:srgbClr val="1F2A36"/>
                </a:solidFill>
                <a:latin typeface="맑은 고딕" panose="020B0503020000020004" pitchFamily="50" charset="-127"/>
              </a:rPr>
              <a:t>AA− </a:t>
            </a:r>
            <a:r>
              <a:rPr lang="ko-KR" altLang="en-US" sz="1200" b="0" i="0" u="none" strike="noStrike">
                <a:solidFill>
                  <a:srgbClr val="1F2A36"/>
                </a:solidFill>
                <a:latin typeface="맑은 고딕" panose="020B0503020000020004" pitchFamily="50" charset="-127"/>
              </a:rPr>
              <a:t>회사채 − 국고채</a:t>
            </a:r>
            <a:r>
              <a:rPr lang="en-US" altLang="ko-KR" sz="1200" b="0" i="0" u="none" strike="noStrike">
                <a:solidFill>
                  <a:srgbClr val="1F2A36"/>
                </a:solidFill>
                <a:latin typeface="맑은 고딕" panose="020B0503020000020004" pitchFamily="50" charset="-127"/>
              </a:rPr>
              <a:t>(3</a:t>
            </a:r>
            <a:r>
              <a:rPr lang="ko-KR" altLang="en-US" sz="1200" b="0" i="0" u="none" strike="noStrike">
                <a:solidFill>
                  <a:srgbClr val="1F2A36"/>
                </a:solidFill>
                <a:latin typeface="맑은 고딕" panose="020B0503020000020004" pitchFamily="50" charset="-127"/>
              </a:rPr>
              <a:t>년</a:t>
            </a:r>
            <a:r>
              <a:rPr lang="en-US" altLang="ko-KR" sz="1200" b="0" i="0" u="none" strike="noStrike">
                <a:solidFill>
                  <a:srgbClr val="1F2A36"/>
                </a:solidFill>
                <a:latin typeface="맑은 고딕" panose="020B0503020000020004" pitchFamily="50" charset="-127"/>
              </a:rPr>
              <a:t>) </a:t>
            </a:r>
            <a:r>
              <a:rPr lang="ko-KR" altLang="en-US" sz="1200" b="0" i="0" u="none" strike="noStrike">
                <a:solidFill>
                  <a:srgbClr val="1F2A36"/>
                </a:solidFill>
                <a:latin typeface="맑은 고딕" panose="020B0503020000020004" pitchFamily="50" charset="-127"/>
              </a:rPr>
              <a:t>월평균 스프레드</a:t>
            </a:r>
            <a:r>
              <a:rPr lang="en-US" altLang="ko-KR" sz="1200" b="0" i="0" u="none" strike="noStrike">
                <a:solidFill>
                  <a:srgbClr val="1F2A36"/>
                </a:solidFill>
                <a:latin typeface="맑은 고딕" panose="020B0503020000020004" pitchFamily="50" charset="-127"/>
              </a:rPr>
              <a:t>, bp (2019.01–2023.12)</a:t>
            </a:r>
          </a:p>
        </c:rich>
      </c:tx>
      <c:layout/>
      <c:overlay val="0"/>
    </c:title>
    <c:autoTitleDeleted val="0"/>
    <c:plotArea>
      <c:layout/>
      <c:lineChart>
        <c:grouping val="standard"/>
        <c:varyColors val="0"/>
        <c:ser>
          <c:idx val="0"/>
          <c:order val="0"/>
          <c:tx>
            <c:strRef>
              <c:f>Sheet1!$B$1</c:f>
              <c:strCache>
                <c:ptCount val="1"/>
                <c:pt idx="0">
                  <c:v>AA− 신용스프레드(bp)</c:v>
                </c:pt>
              </c:strCache>
            </c:strRef>
          </c:tx>
          <c:spPr>
            <a:ln w="28575" cap="flat">
              <a:solidFill>
                <a:srgbClr val="14304A"/>
              </a:solidFill>
              <a:prstDash val="solid"/>
              <a:round/>
            </a:ln>
            <a:effectLst/>
          </c:spPr>
          <c:marker>
            <c:symbol val="circle"/>
            <c:size val="4"/>
            <c:spPr>
              <a:solidFill>
                <a:srgbClr val="14304A"/>
              </a:solidFill>
              <a:ln w="9525" cap="flat">
                <a:solidFill>
                  <a:srgbClr val="14304A"/>
                </a:solidFill>
                <a:prstDash val="solid"/>
                <a:round/>
              </a:ln>
              <a:effectLst/>
            </c:spPr>
          </c:marker>
          <c:cat>
            <c:strRef>
              <c:f>Sheet1!$A$2:$A$61</c:f>
              <c:strCache>
                <c:ptCount val="60"/>
                <c:pt idx="0">
                  <c:v>2019</c:v>
                </c:pt>
                <c:pt idx="12">
                  <c:v>2020</c:v>
                </c:pt>
                <c:pt idx="24">
                  <c:v>2021</c:v>
                </c:pt>
                <c:pt idx="36">
                  <c:v>2022</c:v>
                </c:pt>
                <c:pt idx="48">
                  <c:v>2023</c:v>
                </c:pt>
              </c:strCache>
            </c:strRef>
          </c:cat>
          <c:val>
            <c:numRef>
              <c:f>Sheet1!$B$2:$B$61</c:f>
              <c:numCache>
                <c:formatCode>General</c:formatCode>
                <c:ptCount val="60"/>
                <c:pt idx="0">
                  <c:v>42</c:v>
                </c:pt>
                <c:pt idx="1">
                  <c:v>45</c:v>
                </c:pt>
                <c:pt idx="2">
                  <c:v>45</c:v>
                </c:pt>
                <c:pt idx="3">
                  <c:v>47</c:v>
                </c:pt>
                <c:pt idx="4">
                  <c:v>27</c:v>
                </c:pt>
                <c:pt idx="5">
                  <c:v>33</c:v>
                </c:pt>
                <c:pt idx="6">
                  <c:v>32</c:v>
                </c:pt>
                <c:pt idx="7">
                  <c:v>41</c:v>
                </c:pt>
                <c:pt idx="8">
                  <c:v>42</c:v>
                </c:pt>
                <c:pt idx="9">
                  <c:v>40</c:v>
                </c:pt>
                <c:pt idx="10">
                  <c:v>41</c:v>
                </c:pt>
                <c:pt idx="11">
                  <c:v>42</c:v>
                </c:pt>
                <c:pt idx="12">
                  <c:v>42</c:v>
                </c:pt>
                <c:pt idx="13">
                  <c:v>41</c:v>
                </c:pt>
                <c:pt idx="14">
                  <c:v>61</c:v>
                </c:pt>
                <c:pt idx="15">
                  <c:v>74</c:v>
                </c:pt>
                <c:pt idx="16">
                  <c:v>76</c:v>
                </c:pt>
                <c:pt idx="17">
                  <c:v>73</c:v>
                </c:pt>
                <c:pt idx="18">
                  <c:v>67</c:v>
                </c:pt>
                <c:pt idx="19">
                  <c:v>61</c:v>
                </c:pt>
                <c:pt idx="20">
                  <c:v>59</c:v>
                </c:pt>
                <c:pt idx="21">
                  <c:v>57</c:v>
                </c:pt>
                <c:pt idx="22">
                  <c:v>49</c:v>
                </c:pt>
                <c:pt idx="23">
                  <c:v>41</c:v>
                </c:pt>
                <c:pt idx="24">
                  <c:v>33</c:v>
                </c:pt>
                <c:pt idx="25">
                  <c:v>32</c:v>
                </c:pt>
                <c:pt idx="26">
                  <c:v>38</c:v>
                </c:pt>
                <c:pt idx="27">
                  <c:v>37</c:v>
                </c:pt>
                <c:pt idx="28">
                  <c:v>29</c:v>
                </c:pt>
                <c:pt idx="29">
                  <c:v>22</c:v>
                </c:pt>
                <c:pt idx="30">
                  <c:v>39</c:v>
                </c:pt>
                <c:pt idx="31">
                  <c:v>42</c:v>
                </c:pt>
                <c:pt idx="32">
                  <c:v>43</c:v>
                </c:pt>
                <c:pt idx="33">
                  <c:v>46</c:v>
                </c:pt>
                <c:pt idx="34">
                  <c:v>54</c:v>
                </c:pt>
                <c:pt idx="35">
                  <c:v>61</c:v>
                </c:pt>
                <c:pt idx="36">
                  <c:v>57</c:v>
                </c:pt>
                <c:pt idx="37">
                  <c:v>58</c:v>
                </c:pt>
                <c:pt idx="38">
                  <c:v>66</c:v>
                </c:pt>
                <c:pt idx="39">
                  <c:v>69</c:v>
                </c:pt>
                <c:pt idx="40">
                  <c:v>76</c:v>
                </c:pt>
                <c:pt idx="41">
                  <c:v>75</c:v>
                </c:pt>
                <c:pt idx="42">
                  <c:v>89</c:v>
                </c:pt>
                <c:pt idx="43">
                  <c:v>98</c:v>
                </c:pt>
                <c:pt idx="44">
                  <c:v>100</c:v>
                </c:pt>
                <c:pt idx="45">
                  <c:v>120</c:v>
                </c:pt>
                <c:pt idx="46">
                  <c:v>159</c:v>
                </c:pt>
                <c:pt idx="47">
                  <c:v>167</c:v>
                </c:pt>
                <c:pt idx="48">
                  <c:v>124</c:v>
                </c:pt>
                <c:pt idx="49">
                  <c:v>80</c:v>
                </c:pt>
                <c:pt idx="50">
                  <c:v>72</c:v>
                </c:pt>
                <c:pt idx="51">
                  <c:v>81</c:v>
                </c:pt>
                <c:pt idx="52">
                  <c:v>81</c:v>
                </c:pt>
                <c:pt idx="53">
                  <c:v>81</c:v>
                </c:pt>
                <c:pt idx="54">
                  <c:v>80</c:v>
                </c:pt>
                <c:pt idx="55">
                  <c:v>77</c:v>
                </c:pt>
                <c:pt idx="56">
                  <c:v>76</c:v>
                </c:pt>
                <c:pt idx="57">
                  <c:v>80</c:v>
                </c:pt>
                <c:pt idx="58">
                  <c:v>81</c:v>
                </c:pt>
                <c:pt idx="59">
                  <c:v>73</c:v>
                </c:pt>
              </c:numCache>
            </c:numRef>
          </c:val>
          <c:smooth val="0"/>
        </c:ser>
        <c:dLbls>
          <c:showLegendKey val="0"/>
          <c:showVal val="0"/>
          <c:showCatName val="0"/>
          <c:showSerName val="0"/>
          <c:showPercent val="0"/>
          <c:showBubbleSize val="0"/>
        </c:dLbls>
        <c:marker val="1"/>
        <c:smooth val="0"/>
        <c:axId val="213452288"/>
        <c:axId val="213453824"/>
      </c:lineChart>
      <c:catAx>
        <c:axId val="213452288"/>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맑은 고딕" panose="020B0503020000020004" pitchFamily="50" charset="-127"/>
              </a:defRPr>
            </a:pPr>
            <a:endParaRPr lang="ko-KR"/>
          </a:p>
        </c:txPr>
        <c:crossAx val="213453824"/>
        <c:crosses val="autoZero"/>
        <c:auto val="1"/>
        <c:lblAlgn val="ctr"/>
        <c:lblOffset val="100"/>
        <c:noMultiLvlLbl val="1"/>
      </c:catAx>
      <c:valAx>
        <c:axId val="213453824"/>
        <c:scaling>
          <c:orientation val="minMax"/>
          <c:max val="180"/>
          <c:min val="0"/>
        </c:scaling>
        <c:delete val="0"/>
        <c:axPos val="l"/>
        <c:majorGridlines>
          <c:spPr>
            <a:ln w="6350"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맑은 고딕" panose="020B0503020000020004" pitchFamily="50" charset="-127"/>
              </a:defRPr>
            </a:pPr>
            <a:endParaRPr lang="ko-KR"/>
          </a:p>
        </c:txPr>
        <c:crossAx val="213452288"/>
        <c:crosses val="autoZero"/>
        <c:crossBetween val="between"/>
        <c:majorUnit val="3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ko-KR"/>
  <c:roundedCorners val="0"/>
  <c:style val="2"/>
  <c:chart>
    <c:title>
      <c:tx>
        <c:rich>
          <a:bodyPr/>
          <a:lstStyle/>
          <a:p>
            <a:pPr>
              <a:defRPr sz="1200" b="0" i="0" u="none" strike="noStrike">
                <a:solidFill>
                  <a:srgbClr val="1F2A36"/>
                </a:solidFill>
                <a:latin typeface="맑은 고딕" panose="020B0503020000020004" pitchFamily="50" charset="-127"/>
              </a:defRPr>
            </a:pPr>
            <a:r>
              <a:rPr lang="en-US" altLang="ko-KR" sz="1200" b="0" i="0" u="none" strike="noStrike">
                <a:solidFill>
                  <a:srgbClr val="1F2A36"/>
                </a:solidFill>
                <a:latin typeface="맑은 고딕" panose="020B0503020000020004" pitchFamily="50" charset="-127"/>
              </a:rPr>
              <a:t>2022</a:t>
            </a:r>
            <a:r>
              <a:rPr lang="ko-KR" altLang="en-US" sz="1200" b="0" i="0" u="none" strike="noStrike">
                <a:solidFill>
                  <a:srgbClr val="1F2A36"/>
                </a:solidFill>
                <a:latin typeface="맑은 고딕" panose="020B0503020000020004" pitchFamily="50" charset="-127"/>
              </a:rPr>
              <a:t>년 </a:t>
            </a:r>
            <a:r>
              <a:rPr lang="en-US" altLang="ko-KR" sz="1200" b="0" i="0" u="none" strike="noStrike">
                <a:solidFill>
                  <a:srgbClr val="1F2A36"/>
                </a:solidFill>
                <a:latin typeface="맑은 고딕" panose="020B0503020000020004" pitchFamily="50" charset="-127"/>
              </a:rPr>
              <a:t>10</a:t>
            </a:r>
            <a:r>
              <a:rPr lang="ko-KR" altLang="en-US" sz="1200" b="0" i="0" u="none" strike="noStrike">
                <a:solidFill>
                  <a:srgbClr val="1F2A36"/>
                </a:solidFill>
                <a:latin typeface="맑은 고딕" panose="020B0503020000020004" pitchFamily="50" charset="-127"/>
              </a:rPr>
              <a:t>월 → </a:t>
            </a:r>
            <a:r>
              <a:rPr lang="en-US" altLang="ko-KR" sz="1200" b="0" i="0" u="none" strike="noStrike">
                <a:solidFill>
                  <a:srgbClr val="1F2A36"/>
                </a:solidFill>
                <a:latin typeface="맑은 고딕" panose="020B0503020000020004" pitchFamily="50" charset="-127"/>
              </a:rPr>
              <a:t>12</a:t>
            </a:r>
            <a:r>
              <a:rPr lang="ko-KR" altLang="en-US" sz="1200" b="0" i="0" u="none" strike="noStrike">
                <a:solidFill>
                  <a:srgbClr val="1F2A36"/>
                </a:solidFill>
                <a:latin typeface="맑은 고딕" panose="020B0503020000020004" pitchFamily="50" charset="-127"/>
              </a:rPr>
              <a:t>월 변화 </a:t>
            </a:r>
            <a:r>
              <a:rPr lang="en-US" altLang="ko-KR" sz="1200" b="0" i="0" u="none" strike="noStrike">
                <a:solidFill>
                  <a:srgbClr val="1F2A36"/>
                </a:solidFill>
                <a:latin typeface="맑은 고딕" panose="020B0503020000020004" pitchFamily="50" charset="-127"/>
              </a:rPr>
              <a:t>(bp)</a:t>
            </a:r>
          </a:p>
        </c:rich>
      </c:tx>
      <c:layout/>
      <c:overlay val="0"/>
    </c:title>
    <c:autoTitleDeleted val="0"/>
    <c:plotArea>
      <c:layout/>
      <c:barChart>
        <c:barDir val="col"/>
        <c:grouping val="clustered"/>
        <c:varyColors val="0"/>
        <c:ser>
          <c:idx val="0"/>
          <c:order val="0"/>
          <c:tx>
            <c:strRef>
              <c:f>Sheet1!$B$1</c:f>
              <c:strCache>
                <c:ptCount val="1"/>
                <c:pt idx="0">
                  <c:v>변화(bp)</c:v>
                </c:pt>
              </c:strCache>
            </c:strRef>
          </c:tx>
          <c:spPr>
            <a:solidFill>
              <a:srgbClr val="E0A020"/>
            </a:solidFill>
            <a:effectLst/>
          </c:spPr>
          <c:invertIfNegative val="0"/>
          <c:dPt>
            <c:idx val="0"/>
            <c:invertIfNegative val="0"/>
            <c:bubble3D val="0"/>
          </c:dPt>
          <c:dPt>
            <c:idx val="1"/>
            <c:invertIfNegative val="0"/>
            <c:bubble3D val="0"/>
            <c:spPr>
              <a:solidFill>
                <a:srgbClr val="14304A"/>
              </a:solidFill>
              <a:effectLst/>
            </c:spPr>
          </c:dPt>
          <c:dPt>
            <c:idx val="2"/>
            <c:invertIfNegative val="0"/>
            <c:bubble3D val="0"/>
            <c:spPr>
              <a:solidFill>
                <a:srgbClr val="C8412E"/>
              </a:solidFill>
              <a:effectLst/>
            </c:spPr>
          </c:dPt>
          <c:dLbls>
            <c:numFmt formatCode="\+0;\-0;0" sourceLinked="0"/>
            <c:txPr>
              <a:bodyPr/>
              <a:lstStyle/>
              <a:p>
                <a:pPr>
                  <a:defRPr sz="1400" b="1" i="0" u="none" strike="noStrike">
                    <a:solidFill>
                      <a:srgbClr val="1F2A36"/>
                    </a:solidFill>
                    <a:latin typeface="맑은 고딕" panose="020B0503020000020004" pitchFamily="50" charset="-127"/>
                  </a:defRPr>
                </a:pPr>
                <a:endParaRPr lang="ko-KR"/>
              </a:p>
            </c:txPr>
            <c:showLegendKey val="0"/>
            <c:showVal val="1"/>
            <c:showCatName val="0"/>
            <c:showSerName val="0"/>
            <c:showPercent val="0"/>
            <c:showBubbleSize val="0"/>
            <c:showLeaderLines val="0"/>
          </c:dLbls>
          <c:cat>
            <c:strRef>
              <c:f>Sheet1!$A$2:$A$4</c:f>
              <c:strCache>
                <c:ptCount val="3"/>
                <c:pt idx="0">
                  <c:v>회사채 AA− 금리</c:v>
                </c:pt>
                <c:pt idx="1">
                  <c:v>국고채 금리</c:v>
                </c:pt>
                <c:pt idx="2">
                  <c:v>스프레드</c:v>
                </c:pt>
              </c:strCache>
            </c:strRef>
          </c:cat>
          <c:val>
            <c:numRef>
              <c:f>Sheet1!$B$2:$B$4</c:f>
              <c:numCache>
                <c:formatCode>General</c:formatCode>
                <c:ptCount val="3"/>
                <c:pt idx="0">
                  <c:v>-14</c:v>
                </c:pt>
                <c:pt idx="1">
                  <c:v>-61</c:v>
                </c:pt>
                <c:pt idx="2">
                  <c:v>47</c:v>
                </c:pt>
              </c:numCache>
            </c:numRef>
          </c:val>
        </c:ser>
        <c:dLbls>
          <c:showLegendKey val="0"/>
          <c:showVal val="1"/>
          <c:showCatName val="0"/>
          <c:showSerName val="0"/>
          <c:showPercent val="0"/>
          <c:showBubbleSize val="0"/>
        </c:dLbls>
        <c:gapWidth val="70"/>
        <c:axId val="214338176"/>
        <c:axId val="214351872"/>
      </c:barChart>
      <c:catAx>
        <c:axId val="21433817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36"/>
                </a:solidFill>
                <a:latin typeface="맑은 고딕" panose="020B0503020000020004" pitchFamily="50" charset="-127"/>
              </a:defRPr>
            </a:pPr>
            <a:endParaRPr lang="ko-KR"/>
          </a:p>
        </c:txPr>
        <c:crossAx val="214351872"/>
        <c:crosses val="autoZero"/>
        <c:auto val="1"/>
        <c:lblAlgn val="ctr"/>
        <c:lblOffset val="100"/>
        <c:noMultiLvlLbl val="1"/>
      </c:catAx>
      <c:valAx>
        <c:axId val="214351872"/>
        <c:scaling>
          <c:orientation val="minMax"/>
          <c:max val="80"/>
          <c:min val="-80"/>
        </c:scaling>
        <c:delete val="0"/>
        <c:axPos val="l"/>
        <c:majorGridlines>
          <c:spPr>
            <a:ln w="6350"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맑은 고딕" panose="020B0503020000020004" pitchFamily="50" charset="-127"/>
              </a:defRPr>
            </a:pPr>
            <a:endParaRPr lang="ko-KR"/>
          </a:p>
        </c:txPr>
        <c:crossAx val="214338176"/>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ko-KR"/>
  <c:roundedCorners val="0"/>
  <c:style val="2"/>
  <c:chart>
    <c:title>
      <c:tx>
        <c:rich>
          <a:bodyPr/>
          <a:lstStyle/>
          <a:p>
            <a:pPr>
              <a:defRPr sz="1200" b="0" i="0" u="none" strike="noStrike">
                <a:solidFill>
                  <a:srgbClr val="1F2A36"/>
                </a:solidFill>
                <a:latin typeface="맑은 고딕" panose="020B0503020000020004" pitchFamily="50" charset="-127"/>
              </a:defRPr>
            </a:pPr>
            <a:r>
              <a:rPr lang="ko-KR" altLang="en-US" sz="1200" b="0" i="0" u="none" strike="noStrike">
                <a:solidFill>
                  <a:srgbClr val="1F2A36"/>
                </a:solidFill>
                <a:latin typeface="맑은 고딕" panose="020B0503020000020004" pitchFamily="50" charset="-127"/>
              </a:rPr>
              <a:t>일별 스프레드</a:t>
            </a:r>
            <a:r>
              <a:rPr lang="en-US" altLang="ko-KR" sz="1200" b="0" i="0" u="none" strike="noStrike">
                <a:solidFill>
                  <a:srgbClr val="1F2A36"/>
                </a:solidFill>
                <a:latin typeface="맑은 고딕" panose="020B0503020000020004" pitchFamily="50" charset="-127"/>
              </a:rPr>
              <a:t>, bp (2022.01–2023.06)</a:t>
            </a:r>
            <a:r>
              <a:rPr lang="ko-KR" altLang="en-US" sz="1200" b="0" i="0" u="none" strike="noStrike">
                <a:solidFill>
                  <a:srgbClr val="1F2A36"/>
                </a:solidFill>
                <a:latin typeface="맑은 고딕" panose="020B0503020000020004" pitchFamily="50" charset="-127"/>
              </a:rPr>
              <a:t>  ·  ①~⑦ = 오른쪽 사건</a:t>
            </a:r>
          </a:p>
        </c:rich>
      </c:tx>
      <c:layout/>
      <c:overlay val="0"/>
    </c:title>
    <c:autoTitleDeleted val="0"/>
    <c:plotArea>
      <c:layout/>
      <c:lineChart>
        <c:grouping val="standard"/>
        <c:varyColors val="0"/>
        <c:ser>
          <c:idx val="0"/>
          <c:order val="0"/>
          <c:tx>
            <c:strRef>
              <c:f>Sheet1!$B$1</c:f>
              <c:strCache>
                <c:ptCount val="1"/>
                <c:pt idx="0">
                  <c:v>회사채 AA− 스프레드</c:v>
                </c:pt>
              </c:strCache>
            </c:strRef>
          </c:tx>
          <c:spPr>
            <a:ln w="19050" cap="flat">
              <a:solidFill>
                <a:srgbClr val="14304A"/>
              </a:solidFill>
              <a:prstDash val="solid"/>
              <a:round/>
            </a:ln>
            <a:effectLst/>
          </c:spPr>
          <c:marker>
            <c:symbol val="none"/>
          </c:marker>
          <c:dPt>
            <c:idx val="182"/>
            <c:marker>
              <c:symbol val="circle"/>
              <c:size val="7"/>
              <c:spPr>
                <a:solidFill>
                  <a:srgbClr val="14304A"/>
                </a:solidFill>
                <a:ln w="12700">
                  <a:solidFill>
                    <a:srgbClr val="FFFFFF"/>
                  </a:solidFill>
                </a:ln>
              </c:spPr>
            </c:marker>
            <c:bubble3D val="0"/>
          </c:dPt>
          <c:dPt>
            <c:idx val="265"/>
            <c:marker>
              <c:symbol val="circle"/>
              <c:size val="7"/>
              <c:spPr>
                <a:solidFill>
                  <a:srgbClr val="14304A"/>
                </a:solidFill>
                <a:ln w="12700">
                  <a:solidFill>
                    <a:srgbClr val="FFFFFF"/>
                  </a:solidFill>
                </a:ln>
              </c:spPr>
            </c:marker>
            <c:bubble3D val="0"/>
          </c:dPt>
          <c:dLbls>
            <c:dLbl>
              <c:idx val="182"/>
              <c:tx>
                <c:rich>
                  <a:bodyPr/>
                  <a:lstStyle/>
                  <a:p>
                    <a:r>
                      <a:rPr lang="ko-KR" altLang="en-US" sz="1400" b="1">
                        <a:solidFill>
                          <a:srgbClr val="14304A"/>
                        </a:solidFill>
                        <a:latin typeface="맑은 고딕" panose="020B0503020000020004" pitchFamily="50" charset="-127"/>
                        <a:ea typeface="맑은 고딕" panose="020B0503020000020004" pitchFamily="50" charset="-127"/>
                      </a:rPr>
                      <a:t>②</a:t>
                    </a:r>
                  </a:p>
                </c:rich>
              </c:tx>
              <c:spPr>
                <a:solidFill>
                  <a:srgbClr val="FFFFFF"/>
                </a:solidFill>
                <a:ln>
                  <a:noFill/>
                </a:ln>
              </c:spPr>
              <c:dLblPos val="t"/>
              <c:showLegendKey val="0"/>
              <c:showVal val="1"/>
              <c:showCatName val="0"/>
              <c:showSerName val="0"/>
              <c:showPercent val="0"/>
              <c:showBubbleSize val="0"/>
            </c:dLbl>
            <c:dLbl>
              <c:idx val="265"/>
              <c:tx>
                <c:rich>
                  <a:bodyPr/>
                  <a:lstStyle/>
                  <a:p>
                    <a:r>
                      <a:rPr lang="ko-KR" altLang="en-US" sz="1400" b="1">
                        <a:solidFill>
                          <a:srgbClr val="14304A"/>
                        </a:solidFill>
                        <a:latin typeface="맑은 고딕" panose="020B0503020000020004" pitchFamily="50" charset="-127"/>
                        <a:ea typeface="맑은 고딕" panose="020B0503020000020004" pitchFamily="50" charset="-127"/>
                      </a:rPr>
                      <a:t>⑥</a:t>
                    </a:r>
                  </a:p>
                </c:rich>
              </c:tx>
              <c:spPr>
                <a:solidFill>
                  <a:srgbClr val="FFFFFF"/>
                </a:solidFill>
                <a:ln>
                  <a:noFill/>
                </a:ln>
              </c:spPr>
              <c:dLblPos val="r"/>
              <c:showLegendKey val="0"/>
              <c:showVal val="1"/>
              <c:showCatName val="0"/>
              <c:showSerName val="0"/>
              <c:showPercent val="0"/>
              <c:showBubbleSize val="0"/>
            </c:dLbl>
            <c:showLegendKey val="0"/>
            <c:showVal val="0"/>
            <c:showCatName val="0"/>
            <c:showSerName val="0"/>
            <c:showPercent val="0"/>
            <c:showBubbleSize val="0"/>
          </c:dLbls>
          <c:cat>
            <c:strRef>
              <c:f>Sheet1!$A$2:$A$371</c:f>
              <c:strCache>
                <c:ptCount val="370"/>
                <c:pt idx="0">
                  <c:v>22.01</c:v>
                </c:pt>
                <c:pt idx="59">
                  <c:v>22.04</c:v>
                </c:pt>
                <c:pt idx="121">
                  <c:v>22.07</c:v>
                </c:pt>
                <c:pt idx="184">
                  <c:v>22.10</c:v>
                </c:pt>
                <c:pt idx="247">
                  <c:v>23.01</c:v>
                </c:pt>
                <c:pt idx="309">
                  <c:v>23.04</c:v>
                </c:pt>
              </c:strCache>
            </c:strRef>
          </c:cat>
          <c:val>
            <c:numRef>
              <c:f>Sheet1!$B$2:$B$371</c:f>
              <c:numCache>
                <c:formatCode>General</c:formatCode>
                <c:ptCount val="370"/>
                <c:pt idx="0">
                  <c:v>60.5</c:v>
                </c:pt>
                <c:pt idx="1">
                  <c:v>60.6</c:v>
                </c:pt>
                <c:pt idx="2">
                  <c:v>59.3</c:v>
                </c:pt>
                <c:pt idx="3">
                  <c:v>57.7</c:v>
                </c:pt>
                <c:pt idx="4">
                  <c:v>57.8</c:v>
                </c:pt>
                <c:pt idx="5">
                  <c:v>56.6</c:v>
                </c:pt>
                <c:pt idx="6">
                  <c:v>57.3</c:v>
                </c:pt>
                <c:pt idx="7">
                  <c:v>57.8</c:v>
                </c:pt>
                <c:pt idx="8">
                  <c:v>58.4</c:v>
                </c:pt>
                <c:pt idx="9">
                  <c:v>55.6</c:v>
                </c:pt>
                <c:pt idx="10">
                  <c:v>55.1</c:v>
                </c:pt>
                <c:pt idx="11">
                  <c:v>55.8</c:v>
                </c:pt>
                <c:pt idx="12">
                  <c:v>57.2</c:v>
                </c:pt>
                <c:pt idx="13">
                  <c:v>56.5</c:v>
                </c:pt>
                <c:pt idx="14">
                  <c:v>56.1</c:v>
                </c:pt>
                <c:pt idx="15">
                  <c:v>56.3</c:v>
                </c:pt>
                <c:pt idx="16">
                  <c:v>55.1</c:v>
                </c:pt>
                <c:pt idx="17">
                  <c:v>55.7</c:v>
                </c:pt>
                <c:pt idx="18">
                  <c:v>56.4</c:v>
                </c:pt>
                <c:pt idx="19">
                  <c:v>57.6</c:v>
                </c:pt>
                <c:pt idx="20">
                  <c:v>57.5</c:v>
                </c:pt>
                <c:pt idx="21">
                  <c:v>57.7</c:v>
                </c:pt>
                <c:pt idx="22">
                  <c:v>57.8</c:v>
                </c:pt>
                <c:pt idx="23">
                  <c:v>56.4</c:v>
                </c:pt>
                <c:pt idx="24">
                  <c:v>57.8</c:v>
                </c:pt>
                <c:pt idx="25">
                  <c:v>58.6</c:v>
                </c:pt>
                <c:pt idx="26">
                  <c:v>57.8</c:v>
                </c:pt>
                <c:pt idx="27">
                  <c:v>57.9</c:v>
                </c:pt>
                <c:pt idx="28">
                  <c:v>58.3</c:v>
                </c:pt>
                <c:pt idx="29">
                  <c:v>58.8</c:v>
                </c:pt>
                <c:pt idx="30">
                  <c:v>60</c:v>
                </c:pt>
                <c:pt idx="31">
                  <c:v>59.4</c:v>
                </c:pt>
                <c:pt idx="32">
                  <c:v>58.6</c:v>
                </c:pt>
                <c:pt idx="33">
                  <c:v>58.9</c:v>
                </c:pt>
                <c:pt idx="34">
                  <c:v>59.6</c:v>
                </c:pt>
                <c:pt idx="35">
                  <c:v>60.4</c:v>
                </c:pt>
                <c:pt idx="36">
                  <c:v>61</c:v>
                </c:pt>
                <c:pt idx="37">
                  <c:v>61.3</c:v>
                </c:pt>
                <c:pt idx="38">
                  <c:v>62.6</c:v>
                </c:pt>
                <c:pt idx="39">
                  <c:v>64</c:v>
                </c:pt>
                <c:pt idx="40">
                  <c:v>63.4</c:v>
                </c:pt>
                <c:pt idx="41">
                  <c:v>63.4</c:v>
                </c:pt>
                <c:pt idx="42">
                  <c:v>64.400000000000006</c:v>
                </c:pt>
                <c:pt idx="43">
                  <c:v>66.599999999999994</c:v>
                </c:pt>
                <c:pt idx="44">
                  <c:v>66.5</c:v>
                </c:pt>
                <c:pt idx="45">
                  <c:v>66.400000000000006</c:v>
                </c:pt>
                <c:pt idx="46">
                  <c:v>68</c:v>
                </c:pt>
                <c:pt idx="47">
                  <c:v>68</c:v>
                </c:pt>
                <c:pt idx="48">
                  <c:v>68.5</c:v>
                </c:pt>
                <c:pt idx="49">
                  <c:v>68</c:v>
                </c:pt>
                <c:pt idx="50">
                  <c:v>67.599999999999994</c:v>
                </c:pt>
                <c:pt idx="51">
                  <c:v>64.599999999999994</c:v>
                </c:pt>
                <c:pt idx="52">
                  <c:v>64.7</c:v>
                </c:pt>
                <c:pt idx="53">
                  <c:v>64.900000000000006</c:v>
                </c:pt>
                <c:pt idx="54">
                  <c:v>65.8</c:v>
                </c:pt>
                <c:pt idx="55">
                  <c:v>64.7</c:v>
                </c:pt>
                <c:pt idx="56">
                  <c:v>66.099999999999994</c:v>
                </c:pt>
                <c:pt idx="57">
                  <c:v>67.599999999999994</c:v>
                </c:pt>
                <c:pt idx="58">
                  <c:v>67.7</c:v>
                </c:pt>
                <c:pt idx="59">
                  <c:v>67.400000000000006</c:v>
                </c:pt>
                <c:pt idx="60">
                  <c:v>66.2</c:v>
                </c:pt>
                <c:pt idx="61">
                  <c:v>66.3</c:v>
                </c:pt>
                <c:pt idx="62">
                  <c:v>65.099999999999994</c:v>
                </c:pt>
                <c:pt idx="63">
                  <c:v>65.7</c:v>
                </c:pt>
                <c:pt idx="64">
                  <c:v>64.900000000000006</c:v>
                </c:pt>
                <c:pt idx="65">
                  <c:v>62.7</c:v>
                </c:pt>
                <c:pt idx="66">
                  <c:v>66.900000000000006</c:v>
                </c:pt>
                <c:pt idx="67">
                  <c:v>68.7</c:v>
                </c:pt>
                <c:pt idx="68">
                  <c:v>69.5</c:v>
                </c:pt>
                <c:pt idx="69">
                  <c:v>69.599999999999994</c:v>
                </c:pt>
                <c:pt idx="70">
                  <c:v>69.900000000000006</c:v>
                </c:pt>
                <c:pt idx="71">
                  <c:v>69</c:v>
                </c:pt>
                <c:pt idx="72">
                  <c:v>70.5</c:v>
                </c:pt>
                <c:pt idx="73">
                  <c:v>72</c:v>
                </c:pt>
                <c:pt idx="74">
                  <c:v>71.7</c:v>
                </c:pt>
                <c:pt idx="75">
                  <c:v>74.5</c:v>
                </c:pt>
                <c:pt idx="76">
                  <c:v>75.400000000000006</c:v>
                </c:pt>
                <c:pt idx="77">
                  <c:v>69.599999999999994</c:v>
                </c:pt>
                <c:pt idx="78">
                  <c:v>71.099999999999994</c:v>
                </c:pt>
                <c:pt idx="79">
                  <c:v>72.2</c:v>
                </c:pt>
                <c:pt idx="80">
                  <c:v>70.8</c:v>
                </c:pt>
                <c:pt idx="81">
                  <c:v>71.599999999999994</c:v>
                </c:pt>
                <c:pt idx="82">
                  <c:v>70.900000000000006</c:v>
                </c:pt>
                <c:pt idx="83">
                  <c:v>72.7</c:v>
                </c:pt>
                <c:pt idx="84">
                  <c:v>73.8</c:v>
                </c:pt>
                <c:pt idx="85">
                  <c:v>73.7</c:v>
                </c:pt>
                <c:pt idx="86">
                  <c:v>76.3</c:v>
                </c:pt>
                <c:pt idx="87">
                  <c:v>75.7</c:v>
                </c:pt>
                <c:pt idx="88">
                  <c:v>76.2</c:v>
                </c:pt>
                <c:pt idx="89">
                  <c:v>73.5</c:v>
                </c:pt>
                <c:pt idx="90">
                  <c:v>75.3</c:v>
                </c:pt>
                <c:pt idx="91">
                  <c:v>76.3</c:v>
                </c:pt>
                <c:pt idx="92">
                  <c:v>77.5</c:v>
                </c:pt>
                <c:pt idx="93">
                  <c:v>77.3</c:v>
                </c:pt>
                <c:pt idx="94">
                  <c:v>77.8</c:v>
                </c:pt>
                <c:pt idx="95">
                  <c:v>77.5</c:v>
                </c:pt>
                <c:pt idx="96">
                  <c:v>77.400000000000006</c:v>
                </c:pt>
                <c:pt idx="97">
                  <c:v>77.8</c:v>
                </c:pt>
                <c:pt idx="98">
                  <c:v>78.099999999999994</c:v>
                </c:pt>
                <c:pt idx="99">
                  <c:v>78.2</c:v>
                </c:pt>
                <c:pt idx="100">
                  <c:v>78</c:v>
                </c:pt>
                <c:pt idx="101">
                  <c:v>77.2</c:v>
                </c:pt>
                <c:pt idx="102">
                  <c:v>77.5</c:v>
                </c:pt>
                <c:pt idx="103">
                  <c:v>76.900000000000006</c:v>
                </c:pt>
                <c:pt idx="104">
                  <c:v>77.3</c:v>
                </c:pt>
                <c:pt idx="105">
                  <c:v>78.7</c:v>
                </c:pt>
                <c:pt idx="106">
                  <c:v>72.099999999999994</c:v>
                </c:pt>
                <c:pt idx="107">
                  <c:v>70.8</c:v>
                </c:pt>
                <c:pt idx="108">
                  <c:v>72.2</c:v>
                </c:pt>
                <c:pt idx="109">
                  <c:v>70.5</c:v>
                </c:pt>
                <c:pt idx="110">
                  <c:v>70.900000000000006</c:v>
                </c:pt>
                <c:pt idx="111">
                  <c:v>72.3</c:v>
                </c:pt>
                <c:pt idx="112">
                  <c:v>73.900000000000006</c:v>
                </c:pt>
                <c:pt idx="113">
                  <c:v>73.900000000000006</c:v>
                </c:pt>
                <c:pt idx="114">
                  <c:v>75.3</c:v>
                </c:pt>
                <c:pt idx="115">
                  <c:v>75.5</c:v>
                </c:pt>
                <c:pt idx="116">
                  <c:v>77.400000000000006</c:v>
                </c:pt>
                <c:pt idx="117">
                  <c:v>77.599999999999994</c:v>
                </c:pt>
                <c:pt idx="118">
                  <c:v>78.7</c:v>
                </c:pt>
                <c:pt idx="119">
                  <c:v>80.7</c:v>
                </c:pt>
                <c:pt idx="120">
                  <c:v>81.099999999999994</c:v>
                </c:pt>
                <c:pt idx="121">
                  <c:v>81.8</c:v>
                </c:pt>
                <c:pt idx="122">
                  <c:v>81.7</c:v>
                </c:pt>
                <c:pt idx="123">
                  <c:v>82.7</c:v>
                </c:pt>
                <c:pt idx="124">
                  <c:v>84.7</c:v>
                </c:pt>
                <c:pt idx="125">
                  <c:v>85.1</c:v>
                </c:pt>
                <c:pt idx="126">
                  <c:v>87.1</c:v>
                </c:pt>
                <c:pt idx="127">
                  <c:v>87.4</c:v>
                </c:pt>
                <c:pt idx="128">
                  <c:v>86.7</c:v>
                </c:pt>
                <c:pt idx="129">
                  <c:v>88.3</c:v>
                </c:pt>
                <c:pt idx="130">
                  <c:v>87.9</c:v>
                </c:pt>
                <c:pt idx="131">
                  <c:v>88.6</c:v>
                </c:pt>
                <c:pt idx="132">
                  <c:v>89.2</c:v>
                </c:pt>
                <c:pt idx="133">
                  <c:v>90</c:v>
                </c:pt>
                <c:pt idx="134">
                  <c:v>90.1</c:v>
                </c:pt>
                <c:pt idx="135">
                  <c:v>90.8</c:v>
                </c:pt>
                <c:pt idx="136">
                  <c:v>91.7</c:v>
                </c:pt>
                <c:pt idx="137">
                  <c:v>92.9</c:v>
                </c:pt>
                <c:pt idx="138">
                  <c:v>94.2</c:v>
                </c:pt>
                <c:pt idx="139">
                  <c:v>94.3</c:v>
                </c:pt>
                <c:pt idx="140">
                  <c:v>95.2</c:v>
                </c:pt>
                <c:pt idx="141">
                  <c:v>96</c:v>
                </c:pt>
                <c:pt idx="142">
                  <c:v>96.2</c:v>
                </c:pt>
                <c:pt idx="143">
                  <c:v>97.1</c:v>
                </c:pt>
                <c:pt idx="144">
                  <c:v>98</c:v>
                </c:pt>
                <c:pt idx="145">
                  <c:v>97.7</c:v>
                </c:pt>
                <c:pt idx="146">
                  <c:v>97.7</c:v>
                </c:pt>
                <c:pt idx="147">
                  <c:v>97.9</c:v>
                </c:pt>
                <c:pt idx="148">
                  <c:v>98.5</c:v>
                </c:pt>
                <c:pt idx="149">
                  <c:v>97.9</c:v>
                </c:pt>
                <c:pt idx="150">
                  <c:v>98.7</c:v>
                </c:pt>
                <c:pt idx="151">
                  <c:v>97.8</c:v>
                </c:pt>
                <c:pt idx="152">
                  <c:v>97.9</c:v>
                </c:pt>
                <c:pt idx="153">
                  <c:v>98.9</c:v>
                </c:pt>
                <c:pt idx="154">
                  <c:v>98.9</c:v>
                </c:pt>
                <c:pt idx="155">
                  <c:v>98.9</c:v>
                </c:pt>
                <c:pt idx="156">
                  <c:v>99</c:v>
                </c:pt>
                <c:pt idx="157">
                  <c:v>98.9</c:v>
                </c:pt>
                <c:pt idx="158">
                  <c:v>98.7</c:v>
                </c:pt>
                <c:pt idx="159">
                  <c:v>97.6</c:v>
                </c:pt>
                <c:pt idx="160">
                  <c:v>97.4</c:v>
                </c:pt>
                <c:pt idx="161">
                  <c:v>96.8</c:v>
                </c:pt>
                <c:pt idx="162">
                  <c:v>97.6</c:v>
                </c:pt>
                <c:pt idx="163">
                  <c:v>97.3</c:v>
                </c:pt>
                <c:pt idx="164">
                  <c:v>96.9</c:v>
                </c:pt>
                <c:pt idx="165">
                  <c:v>97.7</c:v>
                </c:pt>
                <c:pt idx="166">
                  <c:v>98</c:v>
                </c:pt>
                <c:pt idx="167">
                  <c:v>98</c:v>
                </c:pt>
                <c:pt idx="168">
                  <c:v>98.3</c:v>
                </c:pt>
                <c:pt idx="169">
                  <c:v>99.8</c:v>
                </c:pt>
                <c:pt idx="170">
                  <c:v>98.9</c:v>
                </c:pt>
                <c:pt idx="171">
                  <c:v>99.4</c:v>
                </c:pt>
                <c:pt idx="172">
                  <c:v>98.9</c:v>
                </c:pt>
                <c:pt idx="173">
                  <c:v>99.1</c:v>
                </c:pt>
                <c:pt idx="174">
                  <c:v>99.2</c:v>
                </c:pt>
                <c:pt idx="175">
                  <c:v>98.3</c:v>
                </c:pt>
                <c:pt idx="176">
                  <c:v>99.6</c:v>
                </c:pt>
                <c:pt idx="177">
                  <c:v>98.8</c:v>
                </c:pt>
                <c:pt idx="178">
                  <c:v>99</c:v>
                </c:pt>
                <c:pt idx="179">
                  <c:v>98</c:v>
                </c:pt>
                <c:pt idx="180">
                  <c:v>100.4</c:v>
                </c:pt>
                <c:pt idx="181">
                  <c:v>100.4</c:v>
                </c:pt>
                <c:pt idx="182">
                  <c:v>107.5</c:v>
                </c:pt>
                <c:pt idx="183">
                  <c:v>109.4</c:v>
                </c:pt>
                <c:pt idx="184">
                  <c:v>109.4</c:v>
                </c:pt>
                <c:pt idx="185">
                  <c:v>108.5</c:v>
                </c:pt>
                <c:pt idx="186">
                  <c:v>108.6</c:v>
                </c:pt>
                <c:pt idx="187">
                  <c:v>108.2</c:v>
                </c:pt>
                <c:pt idx="188">
                  <c:v>109.4</c:v>
                </c:pt>
                <c:pt idx="189">
                  <c:v>110.3</c:v>
                </c:pt>
                <c:pt idx="190">
                  <c:v>110.7</c:v>
                </c:pt>
                <c:pt idx="191">
                  <c:v>111.3</c:v>
                </c:pt>
                <c:pt idx="192">
                  <c:v>113.4</c:v>
                </c:pt>
                <c:pt idx="193">
                  <c:v>116.6</c:v>
                </c:pt>
                <c:pt idx="194">
                  <c:v>120.2</c:v>
                </c:pt>
                <c:pt idx="195">
                  <c:v>123.8</c:v>
                </c:pt>
                <c:pt idx="196">
                  <c:v>124.1</c:v>
                </c:pt>
                <c:pt idx="197">
                  <c:v>128.69999999999999</c:v>
                </c:pt>
                <c:pt idx="198">
                  <c:v>130.69999999999999</c:v>
                </c:pt>
                <c:pt idx="199">
                  <c:v>134.5</c:v>
                </c:pt>
                <c:pt idx="200">
                  <c:v>136.6</c:v>
                </c:pt>
                <c:pt idx="201">
                  <c:v>137.5</c:v>
                </c:pt>
                <c:pt idx="202">
                  <c:v>139.5</c:v>
                </c:pt>
                <c:pt idx="203">
                  <c:v>141.80000000000001</c:v>
                </c:pt>
                <c:pt idx="204">
                  <c:v>143.80000000000001</c:v>
                </c:pt>
                <c:pt idx="205">
                  <c:v>145.80000000000001</c:v>
                </c:pt>
                <c:pt idx="206">
                  <c:v>147.30000000000001</c:v>
                </c:pt>
                <c:pt idx="207">
                  <c:v>147.6</c:v>
                </c:pt>
                <c:pt idx="208">
                  <c:v>148.6</c:v>
                </c:pt>
                <c:pt idx="209">
                  <c:v>150.80000000000001</c:v>
                </c:pt>
                <c:pt idx="210">
                  <c:v>151.80000000000001</c:v>
                </c:pt>
                <c:pt idx="211">
                  <c:v>152.69999999999999</c:v>
                </c:pt>
                <c:pt idx="212">
                  <c:v>157</c:v>
                </c:pt>
                <c:pt idx="213">
                  <c:v>159.30000000000001</c:v>
                </c:pt>
                <c:pt idx="214">
                  <c:v>160.80000000000001</c:v>
                </c:pt>
                <c:pt idx="215">
                  <c:v>162.30000000000001</c:v>
                </c:pt>
                <c:pt idx="216">
                  <c:v>164.2</c:v>
                </c:pt>
                <c:pt idx="217">
                  <c:v>165.5</c:v>
                </c:pt>
                <c:pt idx="218">
                  <c:v>167.2</c:v>
                </c:pt>
                <c:pt idx="219">
                  <c:v>168.7</c:v>
                </c:pt>
                <c:pt idx="220">
                  <c:v>171.3</c:v>
                </c:pt>
                <c:pt idx="221">
                  <c:v>173.2</c:v>
                </c:pt>
                <c:pt idx="222">
                  <c:v>173.6</c:v>
                </c:pt>
                <c:pt idx="223">
                  <c:v>174.5</c:v>
                </c:pt>
                <c:pt idx="224">
                  <c:v>175.6</c:v>
                </c:pt>
                <c:pt idx="225">
                  <c:v>177.2</c:v>
                </c:pt>
                <c:pt idx="226">
                  <c:v>177</c:v>
                </c:pt>
                <c:pt idx="227">
                  <c:v>176.1</c:v>
                </c:pt>
                <c:pt idx="228">
                  <c:v>175.4</c:v>
                </c:pt>
                <c:pt idx="229">
                  <c:v>173.9</c:v>
                </c:pt>
                <c:pt idx="230">
                  <c:v>173.6</c:v>
                </c:pt>
                <c:pt idx="231">
                  <c:v>173.4</c:v>
                </c:pt>
                <c:pt idx="232">
                  <c:v>176</c:v>
                </c:pt>
                <c:pt idx="233">
                  <c:v>175.1</c:v>
                </c:pt>
                <c:pt idx="234">
                  <c:v>174.2</c:v>
                </c:pt>
                <c:pt idx="235">
                  <c:v>172.7</c:v>
                </c:pt>
                <c:pt idx="236">
                  <c:v>168.8</c:v>
                </c:pt>
                <c:pt idx="237">
                  <c:v>167.2</c:v>
                </c:pt>
                <c:pt idx="238">
                  <c:v>164.8</c:v>
                </c:pt>
                <c:pt idx="239">
                  <c:v>163.4</c:v>
                </c:pt>
                <c:pt idx="240">
                  <c:v>162.5</c:v>
                </c:pt>
                <c:pt idx="241">
                  <c:v>159.19999999999999</c:v>
                </c:pt>
                <c:pt idx="242">
                  <c:v>157.19999999999999</c:v>
                </c:pt>
                <c:pt idx="243">
                  <c:v>155.69999999999999</c:v>
                </c:pt>
                <c:pt idx="244">
                  <c:v>153.5</c:v>
                </c:pt>
                <c:pt idx="245">
                  <c:v>151.9</c:v>
                </c:pt>
                <c:pt idx="246">
                  <c:v>150.9</c:v>
                </c:pt>
                <c:pt idx="247">
                  <c:v>148</c:v>
                </c:pt>
                <c:pt idx="248">
                  <c:v>147</c:v>
                </c:pt>
                <c:pt idx="249">
                  <c:v>144.6</c:v>
                </c:pt>
                <c:pt idx="250">
                  <c:v>141.6</c:v>
                </c:pt>
                <c:pt idx="251">
                  <c:v>138.1</c:v>
                </c:pt>
                <c:pt idx="252">
                  <c:v>135.30000000000001</c:v>
                </c:pt>
                <c:pt idx="253">
                  <c:v>133.1</c:v>
                </c:pt>
                <c:pt idx="254">
                  <c:v>131.19999999999999</c:v>
                </c:pt>
                <c:pt idx="255">
                  <c:v>126.4</c:v>
                </c:pt>
                <c:pt idx="256">
                  <c:v>125.1</c:v>
                </c:pt>
                <c:pt idx="257">
                  <c:v>120.7</c:v>
                </c:pt>
                <c:pt idx="258">
                  <c:v>119.3</c:v>
                </c:pt>
                <c:pt idx="259">
                  <c:v>117</c:v>
                </c:pt>
                <c:pt idx="260">
                  <c:v>115.5</c:v>
                </c:pt>
                <c:pt idx="261">
                  <c:v>112.3</c:v>
                </c:pt>
                <c:pt idx="262">
                  <c:v>111.5</c:v>
                </c:pt>
                <c:pt idx="263">
                  <c:v>108.8</c:v>
                </c:pt>
                <c:pt idx="264">
                  <c:v>106</c:v>
                </c:pt>
                <c:pt idx="265">
                  <c:v>103.9</c:v>
                </c:pt>
                <c:pt idx="266">
                  <c:v>101.9</c:v>
                </c:pt>
                <c:pt idx="267">
                  <c:v>100.5</c:v>
                </c:pt>
                <c:pt idx="268">
                  <c:v>99.4</c:v>
                </c:pt>
                <c:pt idx="269">
                  <c:v>97.1</c:v>
                </c:pt>
                <c:pt idx="270">
                  <c:v>95.4</c:v>
                </c:pt>
                <c:pt idx="271">
                  <c:v>92.9</c:v>
                </c:pt>
                <c:pt idx="272">
                  <c:v>90.5</c:v>
                </c:pt>
                <c:pt idx="273">
                  <c:v>85.3</c:v>
                </c:pt>
                <c:pt idx="274">
                  <c:v>83.3</c:v>
                </c:pt>
                <c:pt idx="275">
                  <c:v>80</c:v>
                </c:pt>
                <c:pt idx="276">
                  <c:v>77.8</c:v>
                </c:pt>
                <c:pt idx="277">
                  <c:v>75.3</c:v>
                </c:pt>
                <c:pt idx="278">
                  <c:v>73.5</c:v>
                </c:pt>
                <c:pt idx="279">
                  <c:v>70.599999999999994</c:v>
                </c:pt>
                <c:pt idx="280">
                  <c:v>69.2</c:v>
                </c:pt>
                <c:pt idx="281">
                  <c:v>70.099999999999994</c:v>
                </c:pt>
                <c:pt idx="282">
                  <c:v>69.7</c:v>
                </c:pt>
                <c:pt idx="283">
                  <c:v>71.2</c:v>
                </c:pt>
                <c:pt idx="284">
                  <c:v>70</c:v>
                </c:pt>
                <c:pt idx="285">
                  <c:v>68.3</c:v>
                </c:pt>
                <c:pt idx="286">
                  <c:v>68.7</c:v>
                </c:pt>
                <c:pt idx="287">
                  <c:v>68</c:v>
                </c:pt>
                <c:pt idx="288">
                  <c:v>68</c:v>
                </c:pt>
                <c:pt idx="289">
                  <c:v>68.400000000000006</c:v>
                </c:pt>
                <c:pt idx="290">
                  <c:v>68.400000000000006</c:v>
                </c:pt>
                <c:pt idx="291">
                  <c:v>67.900000000000006</c:v>
                </c:pt>
                <c:pt idx="292">
                  <c:v>68.2</c:v>
                </c:pt>
                <c:pt idx="293">
                  <c:v>69.3</c:v>
                </c:pt>
                <c:pt idx="294">
                  <c:v>71.400000000000006</c:v>
                </c:pt>
                <c:pt idx="295">
                  <c:v>70.400000000000006</c:v>
                </c:pt>
                <c:pt idx="296">
                  <c:v>69.599999999999994</c:v>
                </c:pt>
                <c:pt idx="297">
                  <c:v>69.8</c:v>
                </c:pt>
                <c:pt idx="298">
                  <c:v>69.5</c:v>
                </c:pt>
                <c:pt idx="299">
                  <c:v>72.2</c:v>
                </c:pt>
                <c:pt idx="300">
                  <c:v>72.2</c:v>
                </c:pt>
                <c:pt idx="301">
                  <c:v>73</c:v>
                </c:pt>
                <c:pt idx="302">
                  <c:v>76.400000000000006</c:v>
                </c:pt>
                <c:pt idx="303">
                  <c:v>76.8</c:v>
                </c:pt>
                <c:pt idx="304">
                  <c:v>76.900000000000006</c:v>
                </c:pt>
                <c:pt idx="305">
                  <c:v>77.099999999999994</c:v>
                </c:pt>
                <c:pt idx="306">
                  <c:v>77.8</c:v>
                </c:pt>
                <c:pt idx="307">
                  <c:v>79.5</c:v>
                </c:pt>
                <c:pt idx="308">
                  <c:v>80.400000000000006</c:v>
                </c:pt>
                <c:pt idx="309">
                  <c:v>79.7</c:v>
                </c:pt>
                <c:pt idx="310">
                  <c:v>80.2</c:v>
                </c:pt>
                <c:pt idx="311">
                  <c:v>80.8</c:v>
                </c:pt>
                <c:pt idx="312">
                  <c:v>81.099999999999994</c:v>
                </c:pt>
                <c:pt idx="313">
                  <c:v>80.900000000000006</c:v>
                </c:pt>
                <c:pt idx="314">
                  <c:v>81.2</c:v>
                </c:pt>
                <c:pt idx="315">
                  <c:v>81</c:v>
                </c:pt>
                <c:pt idx="316">
                  <c:v>80.900000000000006</c:v>
                </c:pt>
                <c:pt idx="317">
                  <c:v>81</c:v>
                </c:pt>
                <c:pt idx="318">
                  <c:v>80.7</c:v>
                </c:pt>
                <c:pt idx="319">
                  <c:v>80.5</c:v>
                </c:pt>
                <c:pt idx="320">
                  <c:v>80.7</c:v>
                </c:pt>
                <c:pt idx="321">
                  <c:v>80.900000000000006</c:v>
                </c:pt>
                <c:pt idx="322">
                  <c:v>81.2</c:v>
                </c:pt>
                <c:pt idx="323">
                  <c:v>81.599999999999994</c:v>
                </c:pt>
                <c:pt idx="324">
                  <c:v>82.1</c:v>
                </c:pt>
                <c:pt idx="325">
                  <c:v>81.099999999999994</c:v>
                </c:pt>
                <c:pt idx="326">
                  <c:v>81</c:v>
                </c:pt>
                <c:pt idx="327">
                  <c:v>80.599999999999994</c:v>
                </c:pt>
                <c:pt idx="328">
                  <c:v>81.2</c:v>
                </c:pt>
                <c:pt idx="329">
                  <c:v>80.5</c:v>
                </c:pt>
                <c:pt idx="330">
                  <c:v>81.3</c:v>
                </c:pt>
                <c:pt idx="331">
                  <c:v>82</c:v>
                </c:pt>
                <c:pt idx="332">
                  <c:v>81.8</c:v>
                </c:pt>
                <c:pt idx="333">
                  <c:v>81.3</c:v>
                </c:pt>
                <c:pt idx="334">
                  <c:v>81.3</c:v>
                </c:pt>
                <c:pt idx="335">
                  <c:v>81.2</c:v>
                </c:pt>
                <c:pt idx="336">
                  <c:v>81</c:v>
                </c:pt>
                <c:pt idx="337">
                  <c:v>81</c:v>
                </c:pt>
                <c:pt idx="338">
                  <c:v>81.400000000000006</c:v>
                </c:pt>
                <c:pt idx="339">
                  <c:v>81</c:v>
                </c:pt>
                <c:pt idx="340">
                  <c:v>80.7</c:v>
                </c:pt>
                <c:pt idx="341">
                  <c:v>80.8</c:v>
                </c:pt>
                <c:pt idx="342">
                  <c:v>80.599999999999994</c:v>
                </c:pt>
                <c:pt idx="343">
                  <c:v>80.8</c:v>
                </c:pt>
                <c:pt idx="344">
                  <c:v>80.5</c:v>
                </c:pt>
                <c:pt idx="345">
                  <c:v>80</c:v>
                </c:pt>
                <c:pt idx="346">
                  <c:v>80.400000000000006</c:v>
                </c:pt>
                <c:pt idx="347">
                  <c:v>79.900000000000006</c:v>
                </c:pt>
                <c:pt idx="348">
                  <c:v>80.3</c:v>
                </c:pt>
                <c:pt idx="349">
                  <c:v>80.7</c:v>
                </c:pt>
                <c:pt idx="350">
                  <c:v>80.8</c:v>
                </c:pt>
                <c:pt idx="351">
                  <c:v>80.5</c:v>
                </c:pt>
                <c:pt idx="352">
                  <c:v>80.2</c:v>
                </c:pt>
                <c:pt idx="353">
                  <c:v>80.099999999999994</c:v>
                </c:pt>
                <c:pt idx="354">
                  <c:v>80.3</c:v>
                </c:pt>
                <c:pt idx="355">
                  <c:v>80.900000000000006</c:v>
                </c:pt>
                <c:pt idx="356">
                  <c:v>81.3</c:v>
                </c:pt>
                <c:pt idx="357">
                  <c:v>81.099999999999994</c:v>
                </c:pt>
                <c:pt idx="358">
                  <c:v>81.099999999999994</c:v>
                </c:pt>
                <c:pt idx="359">
                  <c:v>81</c:v>
                </c:pt>
                <c:pt idx="360">
                  <c:v>80.7</c:v>
                </c:pt>
                <c:pt idx="361">
                  <c:v>81.3</c:v>
                </c:pt>
                <c:pt idx="362">
                  <c:v>80.7</c:v>
                </c:pt>
                <c:pt idx="363">
                  <c:v>80.8</c:v>
                </c:pt>
                <c:pt idx="364">
                  <c:v>81</c:v>
                </c:pt>
                <c:pt idx="365">
                  <c:v>80.7</c:v>
                </c:pt>
                <c:pt idx="366">
                  <c:v>81</c:v>
                </c:pt>
                <c:pt idx="367">
                  <c:v>80.8</c:v>
                </c:pt>
                <c:pt idx="368">
                  <c:v>80.7</c:v>
                </c:pt>
                <c:pt idx="369">
                  <c:v>81.099999999999994</c:v>
                </c:pt>
              </c:numCache>
            </c:numRef>
          </c:val>
          <c:smooth val="0"/>
        </c:ser>
        <c:ser>
          <c:idx val="1"/>
          <c:order val="1"/>
          <c:tx>
            <c:strRef>
              <c:f>Sheet1!$C$1</c:f>
              <c:strCache>
                <c:ptCount val="1"/>
                <c:pt idx="0">
                  <c:v>CP − CD</c:v>
                </c:pt>
              </c:strCache>
            </c:strRef>
          </c:tx>
          <c:spPr>
            <a:ln w="19050" cap="flat">
              <a:solidFill>
                <a:srgbClr val="C8412E"/>
              </a:solidFill>
              <a:prstDash val="solid"/>
              <a:round/>
            </a:ln>
            <a:effectLst/>
          </c:spPr>
          <c:marker>
            <c:symbol val="none"/>
          </c:marker>
          <c:dPt>
            <c:idx val="196"/>
            <c:marker>
              <c:symbol val="circle"/>
              <c:size val="7"/>
              <c:spPr>
                <a:solidFill>
                  <a:srgbClr val="C8412E"/>
                </a:solidFill>
                <a:ln w="12700">
                  <a:solidFill>
                    <a:srgbClr val="FFFFFF"/>
                  </a:solidFill>
                </a:ln>
              </c:spPr>
            </c:marker>
            <c:bubble3D val="0"/>
          </c:dPt>
          <c:dPt>
            <c:idx val="197"/>
            <c:marker>
              <c:symbol val="circle"/>
              <c:size val="7"/>
              <c:spPr>
                <a:solidFill>
                  <a:srgbClr val="C8412E"/>
                </a:solidFill>
                <a:ln w="12700">
                  <a:solidFill>
                    <a:srgbClr val="FFFFFF"/>
                  </a:solidFill>
                </a:ln>
              </c:spPr>
            </c:marker>
            <c:bubble3D val="0"/>
          </c:dPt>
          <c:dPt>
            <c:idx val="225"/>
            <c:marker>
              <c:symbol val="circle"/>
              <c:size val="7"/>
              <c:spPr>
                <a:solidFill>
                  <a:srgbClr val="C8412E"/>
                </a:solidFill>
                <a:ln w="12700">
                  <a:solidFill>
                    <a:srgbClr val="FFFFFF"/>
                  </a:solidFill>
                </a:ln>
              </c:spPr>
            </c:marker>
            <c:bubble3D val="0"/>
          </c:dPt>
          <c:dPt>
            <c:idx val="344"/>
            <c:marker>
              <c:symbol val="circle"/>
              <c:size val="7"/>
              <c:spPr>
                <a:solidFill>
                  <a:srgbClr val="C8412E"/>
                </a:solidFill>
                <a:ln w="12700">
                  <a:solidFill>
                    <a:srgbClr val="FFFFFF"/>
                  </a:solidFill>
                </a:ln>
              </c:spPr>
            </c:marker>
            <c:bubble3D val="0"/>
          </c:dPt>
          <c:dLbls>
            <c:dLbl>
              <c:idx val="196"/>
              <c:tx>
                <c:rich>
                  <a:bodyPr/>
                  <a:lstStyle/>
                  <a:p>
                    <a:r>
                      <a:rPr lang="ko-KR" altLang="en-US" sz="1400" b="1">
                        <a:solidFill>
                          <a:srgbClr val="C8412E"/>
                        </a:solidFill>
                        <a:latin typeface="맑은 고딕" panose="020B0503020000020004" pitchFamily="50" charset="-127"/>
                        <a:ea typeface="맑은 고딕" panose="020B0503020000020004" pitchFamily="50" charset="-127"/>
                      </a:rPr>
                      <a:t>③</a:t>
                    </a:r>
                  </a:p>
                </c:rich>
              </c:tx>
              <c:spPr>
                <a:solidFill>
                  <a:srgbClr val="FFFFFF"/>
                </a:solidFill>
                <a:ln>
                  <a:noFill/>
                </a:ln>
              </c:spPr>
              <c:dLblPos val="l"/>
              <c:showLegendKey val="0"/>
              <c:showVal val="1"/>
              <c:showCatName val="0"/>
              <c:showSerName val="0"/>
              <c:showPercent val="0"/>
              <c:showBubbleSize val="0"/>
            </c:dLbl>
            <c:dLbl>
              <c:idx val="197"/>
              <c:tx>
                <c:rich>
                  <a:bodyPr/>
                  <a:lstStyle/>
                  <a:p>
                    <a:r>
                      <a:rPr lang="ko-KR" altLang="en-US" sz="1400" b="1">
                        <a:solidFill>
                          <a:srgbClr val="C8412E"/>
                        </a:solidFill>
                        <a:latin typeface="맑은 고딕" panose="020B0503020000020004" pitchFamily="50" charset="-127"/>
                        <a:ea typeface="맑은 고딕" panose="020B0503020000020004" pitchFamily="50" charset="-127"/>
                      </a:rPr>
                      <a:t>④</a:t>
                    </a:r>
                  </a:p>
                </c:rich>
              </c:tx>
              <c:spPr>
                <a:solidFill>
                  <a:srgbClr val="FFFFFF"/>
                </a:solidFill>
                <a:ln>
                  <a:noFill/>
                </a:ln>
              </c:spPr>
              <c:dLblPos val="r"/>
              <c:showLegendKey val="0"/>
              <c:showVal val="1"/>
              <c:showCatName val="0"/>
              <c:showSerName val="0"/>
              <c:showPercent val="0"/>
              <c:showBubbleSize val="0"/>
            </c:dLbl>
            <c:dLbl>
              <c:idx val="225"/>
              <c:tx>
                <c:rich>
                  <a:bodyPr/>
                  <a:lstStyle/>
                  <a:p>
                    <a:r>
                      <a:rPr lang="ko-KR" altLang="en-US" sz="1400" b="1">
                        <a:solidFill>
                          <a:srgbClr val="C8412E"/>
                        </a:solidFill>
                        <a:latin typeface="맑은 고딕" panose="020B0503020000020004" pitchFamily="50" charset="-127"/>
                        <a:ea typeface="맑은 고딕" panose="020B0503020000020004" pitchFamily="50" charset="-127"/>
                      </a:rPr>
                      <a:t>⑤</a:t>
                    </a:r>
                  </a:p>
                </c:rich>
              </c:tx>
              <c:spPr>
                <a:solidFill>
                  <a:srgbClr val="FFFFFF"/>
                </a:solidFill>
                <a:ln>
                  <a:noFill/>
                </a:ln>
              </c:spPr>
              <c:dLblPos val="b"/>
              <c:showLegendKey val="0"/>
              <c:showVal val="1"/>
              <c:showCatName val="0"/>
              <c:showSerName val="0"/>
              <c:showPercent val="0"/>
              <c:showBubbleSize val="0"/>
            </c:dLbl>
            <c:dLbl>
              <c:idx val="344"/>
              <c:tx>
                <c:rich>
                  <a:bodyPr/>
                  <a:lstStyle/>
                  <a:p>
                    <a:r>
                      <a:rPr lang="ko-KR" altLang="en-US" sz="1400" b="1">
                        <a:solidFill>
                          <a:srgbClr val="C8412E"/>
                        </a:solidFill>
                        <a:latin typeface="맑은 고딕" panose="020B0503020000020004" pitchFamily="50" charset="-127"/>
                        <a:ea typeface="맑은 고딕" panose="020B0503020000020004" pitchFamily="50" charset="-127"/>
                      </a:rPr>
                      <a:t>⑦</a:t>
                    </a:r>
                  </a:p>
                </c:rich>
              </c:tx>
              <c:spPr>
                <a:solidFill>
                  <a:srgbClr val="FFFFFF"/>
                </a:solidFill>
                <a:ln>
                  <a:noFill/>
                </a:ln>
              </c:spPr>
              <c:dLblPos val="t"/>
              <c:showLegendKey val="0"/>
              <c:showVal val="1"/>
              <c:showCatName val="0"/>
              <c:showSerName val="0"/>
              <c:showPercent val="0"/>
              <c:showBubbleSize val="0"/>
            </c:dLbl>
            <c:showLegendKey val="0"/>
            <c:showVal val="0"/>
            <c:showCatName val="0"/>
            <c:showSerName val="0"/>
            <c:showPercent val="0"/>
            <c:showBubbleSize val="0"/>
          </c:dLbls>
          <c:cat>
            <c:strRef>
              <c:f>Sheet1!$A$2:$A$371</c:f>
              <c:strCache>
                <c:ptCount val="370"/>
                <c:pt idx="0">
                  <c:v>22.01</c:v>
                </c:pt>
                <c:pt idx="59">
                  <c:v>22.04</c:v>
                </c:pt>
                <c:pt idx="121">
                  <c:v>22.07</c:v>
                </c:pt>
                <c:pt idx="184">
                  <c:v>22.10</c:v>
                </c:pt>
                <c:pt idx="247">
                  <c:v>23.01</c:v>
                </c:pt>
                <c:pt idx="309">
                  <c:v>23.04</c:v>
                </c:pt>
              </c:strCache>
            </c:strRef>
          </c:cat>
          <c:val>
            <c:numRef>
              <c:f>Sheet1!$C$2:$C$371</c:f>
              <c:numCache>
                <c:formatCode>General</c:formatCode>
                <c:ptCount val="370"/>
                <c:pt idx="0">
                  <c:v>26</c:v>
                </c:pt>
                <c:pt idx="1">
                  <c:v>26</c:v>
                </c:pt>
                <c:pt idx="2">
                  <c:v>26</c:v>
                </c:pt>
                <c:pt idx="3">
                  <c:v>26</c:v>
                </c:pt>
                <c:pt idx="4">
                  <c:v>26</c:v>
                </c:pt>
                <c:pt idx="5">
                  <c:v>26</c:v>
                </c:pt>
                <c:pt idx="6">
                  <c:v>26</c:v>
                </c:pt>
                <c:pt idx="7">
                  <c:v>25</c:v>
                </c:pt>
                <c:pt idx="8">
                  <c:v>21</c:v>
                </c:pt>
                <c:pt idx="9">
                  <c:v>20</c:v>
                </c:pt>
                <c:pt idx="10">
                  <c:v>20</c:v>
                </c:pt>
                <c:pt idx="11">
                  <c:v>19</c:v>
                </c:pt>
                <c:pt idx="12">
                  <c:v>18</c:v>
                </c:pt>
                <c:pt idx="13">
                  <c:v>18</c:v>
                </c:pt>
                <c:pt idx="14">
                  <c:v>18</c:v>
                </c:pt>
                <c:pt idx="15">
                  <c:v>18</c:v>
                </c:pt>
                <c:pt idx="16">
                  <c:v>16</c:v>
                </c:pt>
                <c:pt idx="17">
                  <c:v>15</c:v>
                </c:pt>
                <c:pt idx="18">
                  <c:v>14</c:v>
                </c:pt>
                <c:pt idx="19">
                  <c:v>14</c:v>
                </c:pt>
                <c:pt idx="20">
                  <c:v>14</c:v>
                </c:pt>
                <c:pt idx="21">
                  <c:v>14</c:v>
                </c:pt>
                <c:pt idx="22">
                  <c:v>14</c:v>
                </c:pt>
                <c:pt idx="23">
                  <c:v>14</c:v>
                </c:pt>
                <c:pt idx="24">
                  <c:v>14</c:v>
                </c:pt>
                <c:pt idx="25">
                  <c:v>14</c:v>
                </c:pt>
                <c:pt idx="26">
                  <c:v>14</c:v>
                </c:pt>
                <c:pt idx="27">
                  <c:v>14</c:v>
                </c:pt>
                <c:pt idx="28">
                  <c:v>14</c:v>
                </c:pt>
                <c:pt idx="29">
                  <c:v>14</c:v>
                </c:pt>
                <c:pt idx="30">
                  <c:v>14</c:v>
                </c:pt>
                <c:pt idx="31">
                  <c:v>14</c:v>
                </c:pt>
                <c:pt idx="32">
                  <c:v>14</c:v>
                </c:pt>
                <c:pt idx="33">
                  <c:v>14</c:v>
                </c:pt>
                <c:pt idx="34">
                  <c:v>14</c:v>
                </c:pt>
                <c:pt idx="35">
                  <c:v>14</c:v>
                </c:pt>
                <c:pt idx="36">
                  <c:v>14</c:v>
                </c:pt>
                <c:pt idx="37">
                  <c:v>14</c:v>
                </c:pt>
                <c:pt idx="38">
                  <c:v>14</c:v>
                </c:pt>
                <c:pt idx="39">
                  <c:v>14</c:v>
                </c:pt>
                <c:pt idx="40">
                  <c:v>14</c:v>
                </c:pt>
                <c:pt idx="41">
                  <c:v>14</c:v>
                </c:pt>
                <c:pt idx="42">
                  <c:v>14</c:v>
                </c:pt>
                <c:pt idx="43">
                  <c:v>14</c:v>
                </c:pt>
                <c:pt idx="44">
                  <c:v>14</c:v>
                </c:pt>
                <c:pt idx="45">
                  <c:v>14</c:v>
                </c:pt>
                <c:pt idx="46">
                  <c:v>14</c:v>
                </c:pt>
                <c:pt idx="47">
                  <c:v>14</c:v>
                </c:pt>
                <c:pt idx="48">
                  <c:v>14</c:v>
                </c:pt>
                <c:pt idx="49">
                  <c:v>14</c:v>
                </c:pt>
                <c:pt idx="50">
                  <c:v>14</c:v>
                </c:pt>
                <c:pt idx="51">
                  <c:v>14</c:v>
                </c:pt>
                <c:pt idx="52">
                  <c:v>14</c:v>
                </c:pt>
                <c:pt idx="53">
                  <c:v>13</c:v>
                </c:pt>
                <c:pt idx="54">
                  <c:v>13</c:v>
                </c:pt>
                <c:pt idx="55">
                  <c:v>14</c:v>
                </c:pt>
                <c:pt idx="56">
                  <c:v>14</c:v>
                </c:pt>
                <c:pt idx="57">
                  <c:v>15</c:v>
                </c:pt>
                <c:pt idx="58">
                  <c:v>15</c:v>
                </c:pt>
                <c:pt idx="59">
                  <c:v>16</c:v>
                </c:pt>
                <c:pt idx="60">
                  <c:v>16</c:v>
                </c:pt>
                <c:pt idx="61">
                  <c:v>16</c:v>
                </c:pt>
                <c:pt idx="62">
                  <c:v>16</c:v>
                </c:pt>
                <c:pt idx="63">
                  <c:v>16</c:v>
                </c:pt>
                <c:pt idx="64">
                  <c:v>16</c:v>
                </c:pt>
                <c:pt idx="65">
                  <c:v>16</c:v>
                </c:pt>
                <c:pt idx="66">
                  <c:v>16</c:v>
                </c:pt>
                <c:pt idx="67">
                  <c:v>16</c:v>
                </c:pt>
                <c:pt idx="68">
                  <c:v>12</c:v>
                </c:pt>
                <c:pt idx="69">
                  <c:v>13</c:v>
                </c:pt>
                <c:pt idx="70">
                  <c:v>14</c:v>
                </c:pt>
                <c:pt idx="71">
                  <c:v>15</c:v>
                </c:pt>
                <c:pt idx="72">
                  <c:v>16</c:v>
                </c:pt>
                <c:pt idx="73">
                  <c:v>17</c:v>
                </c:pt>
                <c:pt idx="74">
                  <c:v>17</c:v>
                </c:pt>
                <c:pt idx="75">
                  <c:v>17</c:v>
                </c:pt>
                <c:pt idx="76">
                  <c:v>17</c:v>
                </c:pt>
                <c:pt idx="77">
                  <c:v>17</c:v>
                </c:pt>
                <c:pt idx="78">
                  <c:v>17</c:v>
                </c:pt>
                <c:pt idx="79">
                  <c:v>17</c:v>
                </c:pt>
                <c:pt idx="80">
                  <c:v>17</c:v>
                </c:pt>
                <c:pt idx="81">
                  <c:v>17</c:v>
                </c:pt>
                <c:pt idx="82">
                  <c:v>17</c:v>
                </c:pt>
                <c:pt idx="83">
                  <c:v>17</c:v>
                </c:pt>
                <c:pt idx="84">
                  <c:v>17</c:v>
                </c:pt>
                <c:pt idx="85">
                  <c:v>17</c:v>
                </c:pt>
                <c:pt idx="86">
                  <c:v>17</c:v>
                </c:pt>
                <c:pt idx="87">
                  <c:v>18</c:v>
                </c:pt>
                <c:pt idx="88">
                  <c:v>18</c:v>
                </c:pt>
                <c:pt idx="89">
                  <c:v>19</c:v>
                </c:pt>
                <c:pt idx="90">
                  <c:v>20</c:v>
                </c:pt>
                <c:pt idx="91">
                  <c:v>20</c:v>
                </c:pt>
                <c:pt idx="92">
                  <c:v>20</c:v>
                </c:pt>
                <c:pt idx="93">
                  <c:v>21</c:v>
                </c:pt>
                <c:pt idx="94">
                  <c:v>19</c:v>
                </c:pt>
                <c:pt idx="95">
                  <c:v>19</c:v>
                </c:pt>
                <c:pt idx="96">
                  <c:v>19</c:v>
                </c:pt>
                <c:pt idx="97">
                  <c:v>14</c:v>
                </c:pt>
                <c:pt idx="98">
                  <c:v>16</c:v>
                </c:pt>
                <c:pt idx="99">
                  <c:v>18</c:v>
                </c:pt>
                <c:pt idx="100">
                  <c:v>19</c:v>
                </c:pt>
                <c:pt idx="101">
                  <c:v>21</c:v>
                </c:pt>
                <c:pt idx="102">
                  <c:v>22</c:v>
                </c:pt>
                <c:pt idx="103">
                  <c:v>23</c:v>
                </c:pt>
                <c:pt idx="104">
                  <c:v>23</c:v>
                </c:pt>
                <c:pt idx="105">
                  <c:v>23</c:v>
                </c:pt>
                <c:pt idx="106">
                  <c:v>23</c:v>
                </c:pt>
                <c:pt idx="107">
                  <c:v>23</c:v>
                </c:pt>
                <c:pt idx="108">
                  <c:v>22</c:v>
                </c:pt>
                <c:pt idx="109">
                  <c:v>22</c:v>
                </c:pt>
                <c:pt idx="110">
                  <c:v>20</c:v>
                </c:pt>
                <c:pt idx="111">
                  <c:v>21</c:v>
                </c:pt>
                <c:pt idx="112">
                  <c:v>24</c:v>
                </c:pt>
                <c:pt idx="113">
                  <c:v>27</c:v>
                </c:pt>
                <c:pt idx="114">
                  <c:v>28</c:v>
                </c:pt>
                <c:pt idx="115">
                  <c:v>30</c:v>
                </c:pt>
                <c:pt idx="116">
                  <c:v>31</c:v>
                </c:pt>
                <c:pt idx="117">
                  <c:v>32</c:v>
                </c:pt>
                <c:pt idx="118">
                  <c:v>31</c:v>
                </c:pt>
                <c:pt idx="119">
                  <c:v>30</c:v>
                </c:pt>
                <c:pt idx="120">
                  <c:v>30</c:v>
                </c:pt>
                <c:pt idx="121">
                  <c:v>29</c:v>
                </c:pt>
                <c:pt idx="122">
                  <c:v>29</c:v>
                </c:pt>
                <c:pt idx="123">
                  <c:v>30</c:v>
                </c:pt>
                <c:pt idx="124">
                  <c:v>31</c:v>
                </c:pt>
                <c:pt idx="125">
                  <c:v>31</c:v>
                </c:pt>
                <c:pt idx="126">
                  <c:v>31</c:v>
                </c:pt>
                <c:pt idx="127">
                  <c:v>25</c:v>
                </c:pt>
                <c:pt idx="128">
                  <c:v>25</c:v>
                </c:pt>
                <c:pt idx="129">
                  <c:v>21</c:v>
                </c:pt>
                <c:pt idx="130">
                  <c:v>21</c:v>
                </c:pt>
                <c:pt idx="131">
                  <c:v>22</c:v>
                </c:pt>
                <c:pt idx="132">
                  <c:v>22</c:v>
                </c:pt>
                <c:pt idx="133">
                  <c:v>22</c:v>
                </c:pt>
                <c:pt idx="134">
                  <c:v>22</c:v>
                </c:pt>
                <c:pt idx="135">
                  <c:v>22</c:v>
                </c:pt>
                <c:pt idx="136">
                  <c:v>22</c:v>
                </c:pt>
                <c:pt idx="137">
                  <c:v>21</c:v>
                </c:pt>
                <c:pt idx="138">
                  <c:v>20</c:v>
                </c:pt>
                <c:pt idx="139">
                  <c:v>15</c:v>
                </c:pt>
                <c:pt idx="140">
                  <c:v>11</c:v>
                </c:pt>
                <c:pt idx="141">
                  <c:v>13</c:v>
                </c:pt>
                <c:pt idx="142">
                  <c:v>13</c:v>
                </c:pt>
                <c:pt idx="143">
                  <c:v>13</c:v>
                </c:pt>
                <c:pt idx="144">
                  <c:v>13</c:v>
                </c:pt>
                <c:pt idx="145">
                  <c:v>12</c:v>
                </c:pt>
                <c:pt idx="146">
                  <c:v>12</c:v>
                </c:pt>
                <c:pt idx="147">
                  <c:v>11</c:v>
                </c:pt>
                <c:pt idx="148">
                  <c:v>11</c:v>
                </c:pt>
                <c:pt idx="149">
                  <c:v>10</c:v>
                </c:pt>
                <c:pt idx="150">
                  <c:v>10</c:v>
                </c:pt>
                <c:pt idx="151">
                  <c:v>10</c:v>
                </c:pt>
                <c:pt idx="152">
                  <c:v>10</c:v>
                </c:pt>
                <c:pt idx="153">
                  <c:v>10</c:v>
                </c:pt>
                <c:pt idx="154">
                  <c:v>10</c:v>
                </c:pt>
                <c:pt idx="155">
                  <c:v>10</c:v>
                </c:pt>
                <c:pt idx="156">
                  <c:v>10</c:v>
                </c:pt>
                <c:pt idx="157">
                  <c:v>10</c:v>
                </c:pt>
                <c:pt idx="158">
                  <c:v>10</c:v>
                </c:pt>
                <c:pt idx="159">
                  <c:v>11</c:v>
                </c:pt>
                <c:pt idx="160">
                  <c:v>12</c:v>
                </c:pt>
                <c:pt idx="161">
                  <c:v>15</c:v>
                </c:pt>
                <c:pt idx="162">
                  <c:v>16</c:v>
                </c:pt>
                <c:pt idx="163">
                  <c:v>17</c:v>
                </c:pt>
                <c:pt idx="164">
                  <c:v>18</c:v>
                </c:pt>
                <c:pt idx="165">
                  <c:v>17</c:v>
                </c:pt>
                <c:pt idx="166">
                  <c:v>17</c:v>
                </c:pt>
                <c:pt idx="167">
                  <c:v>17</c:v>
                </c:pt>
                <c:pt idx="168">
                  <c:v>17</c:v>
                </c:pt>
                <c:pt idx="169">
                  <c:v>17</c:v>
                </c:pt>
                <c:pt idx="170">
                  <c:v>18</c:v>
                </c:pt>
                <c:pt idx="171">
                  <c:v>18</c:v>
                </c:pt>
                <c:pt idx="172">
                  <c:v>17</c:v>
                </c:pt>
                <c:pt idx="173">
                  <c:v>17</c:v>
                </c:pt>
                <c:pt idx="174">
                  <c:v>16</c:v>
                </c:pt>
                <c:pt idx="175">
                  <c:v>15</c:v>
                </c:pt>
                <c:pt idx="176">
                  <c:v>13</c:v>
                </c:pt>
                <c:pt idx="177">
                  <c:v>13</c:v>
                </c:pt>
                <c:pt idx="178">
                  <c:v>15</c:v>
                </c:pt>
                <c:pt idx="179">
                  <c:v>16</c:v>
                </c:pt>
                <c:pt idx="180">
                  <c:v>15</c:v>
                </c:pt>
                <c:pt idx="181">
                  <c:v>14</c:v>
                </c:pt>
                <c:pt idx="182">
                  <c:v>9</c:v>
                </c:pt>
                <c:pt idx="183">
                  <c:v>6</c:v>
                </c:pt>
                <c:pt idx="184">
                  <c:v>6</c:v>
                </c:pt>
                <c:pt idx="185">
                  <c:v>7</c:v>
                </c:pt>
                <c:pt idx="186">
                  <c:v>11</c:v>
                </c:pt>
                <c:pt idx="187">
                  <c:v>15</c:v>
                </c:pt>
                <c:pt idx="188">
                  <c:v>19</c:v>
                </c:pt>
                <c:pt idx="189">
                  <c:v>14</c:v>
                </c:pt>
                <c:pt idx="190">
                  <c:v>14</c:v>
                </c:pt>
                <c:pt idx="191">
                  <c:v>16</c:v>
                </c:pt>
                <c:pt idx="192">
                  <c:v>20</c:v>
                </c:pt>
                <c:pt idx="193">
                  <c:v>22</c:v>
                </c:pt>
                <c:pt idx="194">
                  <c:v>25</c:v>
                </c:pt>
                <c:pt idx="195">
                  <c:v>29</c:v>
                </c:pt>
                <c:pt idx="196">
                  <c:v>40</c:v>
                </c:pt>
                <c:pt idx="197">
                  <c:v>50</c:v>
                </c:pt>
                <c:pt idx="198">
                  <c:v>57</c:v>
                </c:pt>
                <c:pt idx="199">
                  <c:v>62</c:v>
                </c:pt>
                <c:pt idx="200">
                  <c:v>66</c:v>
                </c:pt>
                <c:pt idx="201">
                  <c:v>69</c:v>
                </c:pt>
                <c:pt idx="202">
                  <c:v>72</c:v>
                </c:pt>
                <c:pt idx="203">
                  <c:v>76</c:v>
                </c:pt>
                <c:pt idx="204">
                  <c:v>83</c:v>
                </c:pt>
                <c:pt idx="205">
                  <c:v>90</c:v>
                </c:pt>
                <c:pt idx="206">
                  <c:v>97</c:v>
                </c:pt>
                <c:pt idx="207">
                  <c:v>103</c:v>
                </c:pt>
                <c:pt idx="208">
                  <c:v>107</c:v>
                </c:pt>
                <c:pt idx="209">
                  <c:v>111</c:v>
                </c:pt>
                <c:pt idx="210">
                  <c:v>119</c:v>
                </c:pt>
                <c:pt idx="211">
                  <c:v>125</c:v>
                </c:pt>
                <c:pt idx="212">
                  <c:v>128</c:v>
                </c:pt>
                <c:pt idx="213">
                  <c:v>132</c:v>
                </c:pt>
                <c:pt idx="214">
                  <c:v>136</c:v>
                </c:pt>
                <c:pt idx="215">
                  <c:v>138</c:v>
                </c:pt>
                <c:pt idx="216">
                  <c:v>141</c:v>
                </c:pt>
                <c:pt idx="217">
                  <c:v>142</c:v>
                </c:pt>
                <c:pt idx="218">
                  <c:v>143</c:v>
                </c:pt>
                <c:pt idx="219">
                  <c:v>145</c:v>
                </c:pt>
                <c:pt idx="220">
                  <c:v>153</c:v>
                </c:pt>
                <c:pt idx="221">
                  <c:v>155</c:v>
                </c:pt>
                <c:pt idx="222">
                  <c:v>156</c:v>
                </c:pt>
                <c:pt idx="223">
                  <c:v>157</c:v>
                </c:pt>
                <c:pt idx="224">
                  <c:v>158</c:v>
                </c:pt>
                <c:pt idx="225">
                  <c:v>159</c:v>
                </c:pt>
                <c:pt idx="226">
                  <c:v>159</c:v>
                </c:pt>
                <c:pt idx="227">
                  <c:v>159</c:v>
                </c:pt>
                <c:pt idx="228">
                  <c:v>159</c:v>
                </c:pt>
                <c:pt idx="229">
                  <c:v>159</c:v>
                </c:pt>
                <c:pt idx="230">
                  <c:v>159</c:v>
                </c:pt>
                <c:pt idx="231">
                  <c:v>159</c:v>
                </c:pt>
                <c:pt idx="232">
                  <c:v>158</c:v>
                </c:pt>
                <c:pt idx="233">
                  <c:v>157</c:v>
                </c:pt>
                <c:pt idx="234">
                  <c:v>155</c:v>
                </c:pt>
                <c:pt idx="235">
                  <c:v>153</c:v>
                </c:pt>
                <c:pt idx="236">
                  <c:v>151</c:v>
                </c:pt>
                <c:pt idx="237">
                  <c:v>150</c:v>
                </c:pt>
                <c:pt idx="238">
                  <c:v>146</c:v>
                </c:pt>
                <c:pt idx="239">
                  <c:v>144</c:v>
                </c:pt>
                <c:pt idx="240">
                  <c:v>143</c:v>
                </c:pt>
                <c:pt idx="241">
                  <c:v>142</c:v>
                </c:pt>
                <c:pt idx="242">
                  <c:v>139</c:v>
                </c:pt>
                <c:pt idx="243">
                  <c:v>140</c:v>
                </c:pt>
                <c:pt idx="244">
                  <c:v>136</c:v>
                </c:pt>
                <c:pt idx="245">
                  <c:v>132</c:v>
                </c:pt>
                <c:pt idx="246">
                  <c:v>130</c:v>
                </c:pt>
                <c:pt idx="247">
                  <c:v>127</c:v>
                </c:pt>
                <c:pt idx="248">
                  <c:v>126</c:v>
                </c:pt>
                <c:pt idx="249">
                  <c:v>122</c:v>
                </c:pt>
                <c:pt idx="250">
                  <c:v>116</c:v>
                </c:pt>
                <c:pt idx="251">
                  <c:v>115</c:v>
                </c:pt>
                <c:pt idx="252">
                  <c:v>111</c:v>
                </c:pt>
                <c:pt idx="253">
                  <c:v>110</c:v>
                </c:pt>
                <c:pt idx="254">
                  <c:v>108</c:v>
                </c:pt>
                <c:pt idx="255">
                  <c:v>106</c:v>
                </c:pt>
                <c:pt idx="256">
                  <c:v>108</c:v>
                </c:pt>
                <c:pt idx="257">
                  <c:v>113</c:v>
                </c:pt>
                <c:pt idx="258">
                  <c:v>115</c:v>
                </c:pt>
                <c:pt idx="259">
                  <c:v>116</c:v>
                </c:pt>
                <c:pt idx="260">
                  <c:v>114</c:v>
                </c:pt>
                <c:pt idx="261">
                  <c:v>111</c:v>
                </c:pt>
                <c:pt idx="262">
                  <c:v>108</c:v>
                </c:pt>
                <c:pt idx="263">
                  <c:v>105</c:v>
                </c:pt>
                <c:pt idx="264">
                  <c:v>103</c:v>
                </c:pt>
                <c:pt idx="265">
                  <c:v>99</c:v>
                </c:pt>
                <c:pt idx="266">
                  <c:v>94</c:v>
                </c:pt>
                <c:pt idx="267">
                  <c:v>94</c:v>
                </c:pt>
                <c:pt idx="268">
                  <c:v>96</c:v>
                </c:pt>
                <c:pt idx="269">
                  <c:v>93</c:v>
                </c:pt>
                <c:pt idx="270">
                  <c:v>90</c:v>
                </c:pt>
                <c:pt idx="271">
                  <c:v>87</c:v>
                </c:pt>
                <c:pt idx="272">
                  <c:v>82</c:v>
                </c:pt>
                <c:pt idx="273">
                  <c:v>80</c:v>
                </c:pt>
                <c:pt idx="274">
                  <c:v>78</c:v>
                </c:pt>
                <c:pt idx="275">
                  <c:v>76</c:v>
                </c:pt>
                <c:pt idx="276">
                  <c:v>74</c:v>
                </c:pt>
                <c:pt idx="277">
                  <c:v>71</c:v>
                </c:pt>
                <c:pt idx="278">
                  <c:v>68</c:v>
                </c:pt>
                <c:pt idx="279">
                  <c:v>65</c:v>
                </c:pt>
                <c:pt idx="280">
                  <c:v>61</c:v>
                </c:pt>
                <c:pt idx="281">
                  <c:v>58</c:v>
                </c:pt>
                <c:pt idx="282">
                  <c:v>54</c:v>
                </c:pt>
                <c:pt idx="283">
                  <c:v>50</c:v>
                </c:pt>
                <c:pt idx="284">
                  <c:v>49</c:v>
                </c:pt>
                <c:pt idx="285">
                  <c:v>48</c:v>
                </c:pt>
                <c:pt idx="286">
                  <c:v>47</c:v>
                </c:pt>
                <c:pt idx="287">
                  <c:v>45</c:v>
                </c:pt>
                <c:pt idx="288">
                  <c:v>45</c:v>
                </c:pt>
                <c:pt idx="289">
                  <c:v>45</c:v>
                </c:pt>
                <c:pt idx="290">
                  <c:v>45</c:v>
                </c:pt>
                <c:pt idx="291">
                  <c:v>45</c:v>
                </c:pt>
                <c:pt idx="292">
                  <c:v>45</c:v>
                </c:pt>
                <c:pt idx="293">
                  <c:v>45</c:v>
                </c:pt>
                <c:pt idx="294">
                  <c:v>45</c:v>
                </c:pt>
                <c:pt idx="295">
                  <c:v>45</c:v>
                </c:pt>
                <c:pt idx="296">
                  <c:v>45</c:v>
                </c:pt>
                <c:pt idx="297">
                  <c:v>44</c:v>
                </c:pt>
                <c:pt idx="298">
                  <c:v>44</c:v>
                </c:pt>
                <c:pt idx="299">
                  <c:v>44</c:v>
                </c:pt>
                <c:pt idx="300">
                  <c:v>44</c:v>
                </c:pt>
                <c:pt idx="301">
                  <c:v>44</c:v>
                </c:pt>
                <c:pt idx="302">
                  <c:v>43</c:v>
                </c:pt>
                <c:pt idx="303">
                  <c:v>45</c:v>
                </c:pt>
                <c:pt idx="304">
                  <c:v>44</c:v>
                </c:pt>
                <c:pt idx="305">
                  <c:v>43</c:v>
                </c:pt>
                <c:pt idx="306">
                  <c:v>42</c:v>
                </c:pt>
                <c:pt idx="307">
                  <c:v>42</c:v>
                </c:pt>
                <c:pt idx="308">
                  <c:v>42</c:v>
                </c:pt>
                <c:pt idx="309">
                  <c:v>42</c:v>
                </c:pt>
                <c:pt idx="310">
                  <c:v>42</c:v>
                </c:pt>
                <c:pt idx="311">
                  <c:v>42</c:v>
                </c:pt>
                <c:pt idx="312">
                  <c:v>43</c:v>
                </c:pt>
                <c:pt idx="313">
                  <c:v>48</c:v>
                </c:pt>
                <c:pt idx="314">
                  <c:v>50</c:v>
                </c:pt>
                <c:pt idx="315">
                  <c:v>53</c:v>
                </c:pt>
                <c:pt idx="316">
                  <c:v>58</c:v>
                </c:pt>
                <c:pt idx="317">
                  <c:v>58</c:v>
                </c:pt>
                <c:pt idx="318">
                  <c:v>58</c:v>
                </c:pt>
                <c:pt idx="319">
                  <c:v>58</c:v>
                </c:pt>
                <c:pt idx="320">
                  <c:v>57</c:v>
                </c:pt>
                <c:pt idx="321">
                  <c:v>56</c:v>
                </c:pt>
                <c:pt idx="322">
                  <c:v>54</c:v>
                </c:pt>
                <c:pt idx="323">
                  <c:v>52</c:v>
                </c:pt>
                <c:pt idx="324">
                  <c:v>52</c:v>
                </c:pt>
                <c:pt idx="325">
                  <c:v>52</c:v>
                </c:pt>
                <c:pt idx="326">
                  <c:v>51</c:v>
                </c:pt>
                <c:pt idx="327">
                  <c:v>49</c:v>
                </c:pt>
                <c:pt idx="328">
                  <c:v>49</c:v>
                </c:pt>
                <c:pt idx="329">
                  <c:v>48</c:v>
                </c:pt>
                <c:pt idx="330">
                  <c:v>46</c:v>
                </c:pt>
                <c:pt idx="331">
                  <c:v>46</c:v>
                </c:pt>
                <c:pt idx="332">
                  <c:v>46</c:v>
                </c:pt>
                <c:pt idx="333">
                  <c:v>46</c:v>
                </c:pt>
                <c:pt idx="334">
                  <c:v>42</c:v>
                </c:pt>
                <c:pt idx="335">
                  <c:v>41</c:v>
                </c:pt>
                <c:pt idx="336">
                  <c:v>40</c:v>
                </c:pt>
                <c:pt idx="337">
                  <c:v>39</c:v>
                </c:pt>
                <c:pt idx="338">
                  <c:v>39</c:v>
                </c:pt>
                <c:pt idx="339">
                  <c:v>36</c:v>
                </c:pt>
                <c:pt idx="340">
                  <c:v>35</c:v>
                </c:pt>
                <c:pt idx="341">
                  <c:v>34</c:v>
                </c:pt>
                <c:pt idx="342">
                  <c:v>33</c:v>
                </c:pt>
                <c:pt idx="343">
                  <c:v>31</c:v>
                </c:pt>
                <c:pt idx="344">
                  <c:v>28</c:v>
                </c:pt>
                <c:pt idx="345">
                  <c:v>26</c:v>
                </c:pt>
                <c:pt idx="346">
                  <c:v>26</c:v>
                </c:pt>
                <c:pt idx="347">
                  <c:v>25</c:v>
                </c:pt>
                <c:pt idx="348">
                  <c:v>25</c:v>
                </c:pt>
                <c:pt idx="349">
                  <c:v>25</c:v>
                </c:pt>
                <c:pt idx="350">
                  <c:v>25</c:v>
                </c:pt>
                <c:pt idx="351">
                  <c:v>25</c:v>
                </c:pt>
                <c:pt idx="352">
                  <c:v>26</c:v>
                </c:pt>
                <c:pt idx="353">
                  <c:v>26</c:v>
                </c:pt>
                <c:pt idx="354">
                  <c:v>26</c:v>
                </c:pt>
                <c:pt idx="355">
                  <c:v>26</c:v>
                </c:pt>
                <c:pt idx="356">
                  <c:v>26</c:v>
                </c:pt>
                <c:pt idx="357">
                  <c:v>26</c:v>
                </c:pt>
                <c:pt idx="358">
                  <c:v>26</c:v>
                </c:pt>
                <c:pt idx="359">
                  <c:v>26</c:v>
                </c:pt>
                <c:pt idx="360">
                  <c:v>26</c:v>
                </c:pt>
                <c:pt idx="361">
                  <c:v>26</c:v>
                </c:pt>
                <c:pt idx="362">
                  <c:v>26</c:v>
                </c:pt>
                <c:pt idx="363">
                  <c:v>26</c:v>
                </c:pt>
                <c:pt idx="364">
                  <c:v>26</c:v>
                </c:pt>
                <c:pt idx="365">
                  <c:v>26</c:v>
                </c:pt>
                <c:pt idx="366">
                  <c:v>26</c:v>
                </c:pt>
                <c:pt idx="367">
                  <c:v>26</c:v>
                </c:pt>
                <c:pt idx="368">
                  <c:v>27</c:v>
                </c:pt>
                <c:pt idx="369">
                  <c:v>27</c:v>
                </c:pt>
              </c:numCache>
            </c:numRef>
          </c:val>
          <c:smooth val="0"/>
        </c:ser>
        <c:ser>
          <c:idx val="2"/>
          <c:order val="2"/>
          <c:tx>
            <c:v>회생신청 발표일</c:v>
          </c:tx>
          <c:spPr>
            <a:ln w="19050">
              <a:noFill/>
            </a:ln>
          </c:spPr>
          <c:marker>
            <c:symbol val="none"/>
          </c:marker>
          <c:dLbls>
            <c:dLbl>
              <c:idx val="181"/>
              <c:tx>
                <c:rich>
                  <a:bodyPr/>
                  <a:lstStyle/>
                  <a:p>
                    <a:r>
                      <a:rPr lang="ko-KR" altLang="en-US" sz="1400" b="1">
                        <a:solidFill>
                          <a:srgbClr val="5B6B7A"/>
                        </a:solidFill>
                        <a:latin typeface="맑은 고딕" panose="020B0503020000020004" pitchFamily="50" charset="-127"/>
                        <a:ea typeface="맑은 고딕" panose="020B0503020000020004" pitchFamily="50" charset="-127"/>
                      </a:rPr>
                      <a:t>①</a:t>
                    </a:r>
                  </a:p>
                </c:rich>
              </c:tx>
              <c:spPr>
                <a:solidFill>
                  <a:srgbClr val="FFFFFF"/>
                </a:solidFill>
                <a:ln>
                  <a:noFill/>
                </a:ln>
              </c:spPr>
              <c:dLblPos val="r"/>
              <c:showLegendKey val="0"/>
              <c:showVal val="1"/>
              <c:showCatName val="0"/>
              <c:showSerName val="0"/>
              <c:showPercent val="0"/>
              <c:showBubbleSize val="0"/>
            </c:dLbl>
            <c:showLegendKey val="0"/>
            <c:showVal val="0"/>
            <c:showCatName val="0"/>
            <c:showSerName val="0"/>
            <c:showPercent val="0"/>
            <c:showBubbleSize val="0"/>
          </c:dLbls>
          <c:errBars>
            <c:errDir val="y"/>
            <c:errBarType val="minus"/>
            <c:errValType val="fixedVal"/>
            <c:noEndCap val="1"/>
            <c:val val="200"/>
            <c:spPr>
              <a:ln w="15875">
                <a:solidFill>
                  <a:srgbClr val="8A97A3"/>
                </a:solidFill>
                <a:prstDash val="dash"/>
              </a:ln>
            </c:spPr>
          </c:errBars>
          <c:cat>
            <c:strRef>
              <c:f>Sheet1!$A$2:$A$371</c:f>
              <c:strCache>
                <c:ptCount val="370"/>
                <c:pt idx="0">
                  <c:v>22.01</c:v>
                </c:pt>
                <c:pt idx="59">
                  <c:v>22.04</c:v>
                </c:pt>
                <c:pt idx="121">
                  <c:v>22.07</c:v>
                </c:pt>
                <c:pt idx="184">
                  <c:v>22.10</c:v>
                </c:pt>
                <c:pt idx="247">
                  <c:v>23.01</c:v>
                </c:pt>
                <c:pt idx="309">
                  <c:v>23.04</c:v>
                </c:pt>
              </c:strCache>
            </c:strRef>
          </c:cat>
          <c:val>
            <c:numLit>
              <c:formatCode>General</c:formatCode>
              <c:ptCount val="370"/>
              <c:pt idx="181">
                <c:v>200</c:v>
              </c:pt>
            </c:numLit>
          </c:val>
          <c:smooth val="0"/>
        </c:ser>
        <c:dLbls>
          <c:showLegendKey val="0"/>
          <c:showVal val="0"/>
          <c:showCatName val="0"/>
          <c:showSerName val="0"/>
          <c:showPercent val="0"/>
          <c:showBubbleSize val="0"/>
        </c:dLbls>
        <c:marker val="1"/>
        <c:smooth val="0"/>
        <c:axId val="214497152"/>
        <c:axId val="214498688"/>
      </c:lineChart>
      <c:catAx>
        <c:axId val="21449715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A"/>
                </a:solidFill>
                <a:latin typeface="맑은 고딕" panose="020B0503020000020004" pitchFamily="50" charset="-127"/>
              </a:defRPr>
            </a:pPr>
            <a:endParaRPr lang="ko-KR"/>
          </a:p>
        </c:txPr>
        <c:crossAx val="214498688"/>
        <c:crosses val="autoZero"/>
        <c:auto val="1"/>
        <c:lblAlgn val="ctr"/>
        <c:lblOffset val="100"/>
        <c:noMultiLvlLbl val="1"/>
      </c:catAx>
      <c:valAx>
        <c:axId val="214498688"/>
        <c:scaling>
          <c:orientation val="minMax"/>
          <c:max val="200"/>
          <c:min val="0"/>
        </c:scaling>
        <c:delete val="0"/>
        <c:axPos val="l"/>
        <c:majorGridlines>
          <c:spPr>
            <a:ln w="6350"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맑은 고딕" panose="020B0503020000020004" pitchFamily="50" charset="-127"/>
              </a:defRPr>
            </a:pPr>
            <a:endParaRPr lang="ko-KR"/>
          </a:p>
        </c:txPr>
        <c:crossAx val="214497152"/>
        <c:crosses val="autoZero"/>
        <c:crossBetween val="between"/>
        <c:majorUnit val="50"/>
      </c:valAx>
      <c:spPr>
        <a:noFill/>
        <a:ln>
          <a:noFill/>
        </a:ln>
        <a:effectLst/>
      </c:spPr>
    </c:plotArea>
    <c:legend>
      <c:legendPos val="t"/>
      <c:legendEntry>
        <c:idx val="2"/>
        <c:delete val="1"/>
      </c:legendEntry>
      <c:layout/>
      <c:overlay val="0"/>
      <c:txPr>
        <a:bodyPr/>
        <a:lstStyle/>
        <a:p>
          <a:pPr>
            <a:defRPr sz="1100">
              <a:solidFill>
                <a:srgbClr val="1F2A36"/>
              </a:solidFill>
              <a:latin typeface="맑은 고딕" panose="020B0503020000020004" pitchFamily="50" charset="-127"/>
              <a:cs typeface="맑은 고딕"/>
            </a:defRPr>
          </a:pPr>
          <a:endParaRPr lang="ko-KR"/>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ko-KR"/>
  <c:roundedCorners val="0"/>
  <c:style val="2"/>
  <c:chart>
    <c:title>
      <c:tx>
        <c:rich>
          <a:bodyPr/>
          <a:lstStyle/>
          <a:p>
            <a:pPr>
              <a:defRPr sz="1200" b="0" i="0" u="none" strike="noStrike">
                <a:solidFill>
                  <a:srgbClr val="1F2A36"/>
                </a:solidFill>
                <a:latin typeface="맑은 고딕" panose="020B0503020000020004" pitchFamily="50" charset="-127"/>
              </a:defRPr>
            </a:pPr>
            <a:r>
              <a:rPr lang="ko-KR" altLang="en-US" sz="1200" b="0" i="0" u="none" strike="noStrike">
                <a:solidFill>
                  <a:srgbClr val="1F2A36"/>
                </a:solidFill>
                <a:latin typeface="맑은 고딕" panose="020B0503020000020004" pitchFamily="50" charset="-127"/>
              </a:rPr>
              <a:t>매수 월별 </a:t>
            </a:r>
            <a:r>
              <a:rPr lang="en-US" altLang="ko-KR" sz="1200" b="0" i="0" u="none" strike="noStrike">
                <a:solidFill>
                  <a:srgbClr val="1F2A36"/>
                </a:solidFill>
                <a:latin typeface="맑은 고딕" panose="020B0503020000020004" pitchFamily="50" charset="-127"/>
              </a:rPr>
              <a:t>6</a:t>
            </a:r>
            <a:r>
              <a:rPr lang="ko-KR" altLang="en-US" sz="1200" b="0" i="0" u="none" strike="noStrike">
                <a:solidFill>
                  <a:srgbClr val="1F2A36"/>
                </a:solidFill>
                <a:latin typeface="맑은 고딕" panose="020B0503020000020004" pitchFamily="50" charset="-127"/>
              </a:rPr>
              <a:t>개월 보유 초과수익 근사</a:t>
            </a:r>
            <a:r>
              <a:rPr lang="en-US" altLang="ko-KR" sz="1200" b="0" i="0" u="none" strike="noStrike">
                <a:solidFill>
                  <a:srgbClr val="1F2A36"/>
                </a:solidFill>
                <a:latin typeface="맑은 고딕" panose="020B0503020000020004" pitchFamily="50" charset="-127"/>
              </a:rPr>
              <a:t>: AA− </a:t>
            </a:r>
            <a:r>
              <a:rPr lang="ko-KR" altLang="en-US" sz="1200" b="0" i="0" u="none" strike="noStrike">
                <a:solidFill>
                  <a:srgbClr val="1F2A36"/>
                </a:solidFill>
                <a:latin typeface="맑은 고딕" panose="020B0503020000020004" pitchFamily="50" charset="-127"/>
              </a:rPr>
              <a:t>회사채 − 국고채 </a:t>
            </a:r>
            <a:r>
              <a:rPr lang="en-US" altLang="ko-KR" sz="1200" b="0" i="0" u="none" strike="noStrike">
                <a:solidFill>
                  <a:srgbClr val="1F2A36"/>
                </a:solidFill>
                <a:latin typeface="맑은 고딕" panose="020B0503020000020004" pitchFamily="50" charset="-127"/>
              </a:rPr>
              <a:t>(bp)</a:t>
            </a:r>
          </a:p>
        </c:rich>
      </c:tx>
      <c:layout/>
      <c:overlay val="0"/>
    </c:title>
    <c:autoTitleDeleted val="0"/>
    <c:plotArea>
      <c:layout/>
      <c:barChart>
        <c:barDir val="col"/>
        <c:grouping val="clustered"/>
        <c:varyColors val="0"/>
        <c:ser>
          <c:idx val="0"/>
          <c:order val="0"/>
          <c:tx>
            <c:strRef>
              <c:f>Sheet1!$B$1</c:f>
              <c:strCache>
                <c:ptCount val="1"/>
                <c:pt idx="0">
                  <c:v>평온에 매수</c:v>
                </c:pt>
              </c:strCache>
            </c:strRef>
          </c:tx>
          <c:spPr>
            <a:solidFill>
              <a:srgbClr val="2E9E57"/>
            </a:solidFill>
            <a:effectLst/>
          </c:spPr>
          <c:invertIfNegative val="0"/>
          <c:cat>
            <c:strRef>
              <c:f>Sheet1!$A$2:$A$19</c:f>
              <c:strCache>
                <c:ptCount val="18"/>
                <c:pt idx="0">
                  <c:v>22.01</c:v>
                </c:pt>
                <c:pt idx="1">
                  <c:v>22.02</c:v>
                </c:pt>
                <c:pt idx="2">
                  <c:v>22.03</c:v>
                </c:pt>
                <c:pt idx="3">
                  <c:v>22.04</c:v>
                </c:pt>
                <c:pt idx="4">
                  <c:v>22.05</c:v>
                </c:pt>
                <c:pt idx="5">
                  <c:v>22.06</c:v>
                </c:pt>
                <c:pt idx="6">
                  <c:v>22.07</c:v>
                </c:pt>
                <c:pt idx="7">
                  <c:v>22.08</c:v>
                </c:pt>
                <c:pt idx="8">
                  <c:v>22.09</c:v>
                </c:pt>
                <c:pt idx="9">
                  <c:v>22.10</c:v>
                </c:pt>
                <c:pt idx="10">
                  <c:v>22.11</c:v>
                </c:pt>
                <c:pt idx="11">
                  <c:v>22.12</c:v>
                </c:pt>
                <c:pt idx="12">
                  <c:v>23.01</c:v>
                </c:pt>
                <c:pt idx="13">
                  <c:v>23.02</c:v>
                </c:pt>
                <c:pt idx="14">
                  <c:v>23.03</c:v>
                </c:pt>
                <c:pt idx="15">
                  <c:v>23.04</c:v>
                </c:pt>
                <c:pt idx="16">
                  <c:v>23.05</c:v>
                </c:pt>
                <c:pt idx="17">
                  <c:v>23.06</c:v>
                </c:pt>
              </c:strCache>
            </c:strRef>
          </c:cat>
          <c:val>
            <c:numRef>
              <c:f>Sheet1!$B$2:$B$19</c:f>
              <c:numCache>
                <c:formatCode>General</c:formatCode>
                <c:ptCount val="18"/>
                <c:pt idx="0">
                  <c:v>-61.1</c:v>
                </c:pt>
                <c:pt idx="1">
                  <c:v>-83</c:v>
                </c:pt>
                <c:pt idx="2">
                  <c:v>-62.2</c:v>
                </c:pt>
                <c:pt idx="3">
                  <c:v>-108.3</c:v>
                </c:pt>
                <c:pt idx="14">
                  <c:v>24.8</c:v>
                </c:pt>
              </c:numCache>
            </c:numRef>
          </c:val>
        </c:ser>
        <c:ser>
          <c:idx val="1"/>
          <c:order val="1"/>
          <c:tx>
            <c:strRef>
              <c:f>Sheet1!$C$1</c:f>
              <c:strCache>
                <c:ptCount val="1"/>
                <c:pt idx="0">
                  <c:v>긴장에 매수</c:v>
                </c:pt>
              </c:strCache>
            </c:strRef>
          </c:tx>
          <c:spPr>
            <a:solidFill>
              <a:srgbClr val="E0A020"/>
            </a:solidFill>
            <a:effectLst/>
          </c:spPr>
          <c:invertIfNegative val="0"/>
          <c:cat>
            <c:strRef>
              <c:f>Sheet1!$A$2:$A$19</c:f>
              <c:strCache>
                <c:ptCount val="18"/>
                <c:pt idx="0">
                  <c:v>22.01</c:v>
                </c:pt>
                <c:pt idx="1">
                  <c:v>22.02</c:v>
                </c:pt>
                <c:pt idx="2">
                  <c:v>22.03</c:v>
                </c:pt>
                <c:pt idx="3">
                  <c:v>22.04</c:v>
                </c:pt>
                <c:pt idx="4">
                  <c:v>22.05</c:v>
                </c:pt>
                <c:pt idx="5">
                  <c:v>22.06</c:v>
                </c:pt>
                <c:pt idx="6">
                  <c:v>22.07</c:v>
                </c:pt>
                <c:pt idx="7">
                  <c:v>22.08</c:v>
                </c:pt>
                <c:pt idx="8">
                  <c:v>22.09</c:v>
                </c:pt>
                <c:pt idx="9">
                  <c:v>22.10</c:v>
                </c:pt>
                <c:pt idx="10">
                  <c:v>22.11</c:v>
                </c:pt>
                <c:pt idx="11">
                  <c:v>22.12</c:v>
                </c:pt>
                <c:pt idx="12">
                  <c:v>23.01</c:v>
                </c:pt>
                <c:pt idx="13">
                  <c:v>23.02</c:v>
                </c:pt>
                <c:pt idx="14">
                  <c:v>23.03</c:v>
                </c:pt>
                <c:pt idx="15">
                  <c:v>23.04</c:v>
                </c:pt>
                <c:pt idx="16">
                  <c:v>23.05</c:v>
                </c:pt>
                <c:pt idx="17">
                  <c:v>23.06</c:v>
                </c:pt>
              </c:strCache>
            </c:strRef>
          </c:cat>
          <c:val>
            <c:numRef>
              <c:f>Sheet1!$C$2:$C$19</c:f>
              <c:numCache>
                <c:formatCode>General</c:formatCode>
                <c:ptCount val="18"/>
                <c:pt idx="4">
                  <c:v>-194.4</c:v>
                </c:pt>
                <c:pt idx="5">
                  <c:v>-220.1</c:v>
                </c:pt>
                <c:pt idx="6">
                  <c:v>-53.5</c:v>
                </c:pt>
                <c:pt idx="7">
                  <c:v>99.4</c:v>
                </c:pt>
                <c:pt idx="13">
                  <c:v>48.4</c:v>
                </c:pt>
                <c:pt idx="15">
                  <c:v>43.3</c:v>
                </c:pt>
                <c:pt idx="16">
                  <c:v>40.5</c:v>
                </c:pt>
                <c:pt idx="17">
                  <c:v>62.9</c:v>
                </c:pt>
              </c:numCache>
            </c:numRef>
          </c:val>
        </c:ser>
        <c:ser>
          <c:idx val="2"/>
          <c:order val="2"/>
          <c:tx>
            <c:strRef>
              <c:f>Sheet1!$D$1</c:f>
              <c:strCache>
                <c:ptCount val="1"/>
                <c:pt idx="0">
                  <c:v>경색에 매수</c:v>
                </c:pt>
              </c:strCache>
            </c:strRef>
          </c:tx>
          <c:spPr>
            <a:solidFill>
              <a:srgbClr val="C8412E"/>
            </a:solidFill>
            <a:effectLst/>
          </c:spPr>
          <c:invertIfNegative val="0"/>
          <c:cat>
            <c:strRef>
              <c:f>Sheet1!$A$2:$A$19</c:f>
              <c:strCache>
                <c:ptCount val="18"/>
                <c:pt idx="0">
                  <c:v>22.01</c:v>
                </c:pt>
                <c:pt idx="1">
                  <c:v>22.02</c:v>
                </c:pt>
                <c:pt idx="2">
                  <c:v>22.03</c:v>
                </c:pt>
                <c:pt idx="3">
                  <c:v>22.04</c:v>
                </c:pt>
                <c:pt idx="4">
                  <c:v>22.05</c:v>
                </c:pt>
                <c:pt idx="5">
                  <c:v>22.06</c:v>
                </c:pt>
                <c:pt idx="6">
                  <c:v>22.07</c:v>
                </c:pt>
                <c:pt idx="7">
                  <c:v>22.08</c:v>
                </c:pt>
                <c:pt idx="8">
                  <c:v>22.09</c:v>
                </c:pt>
                <c:pt idx="9">
                  <c:v>22.10</c:v>
                </c:pt>
                <c:pt idx="10">
                  <c:v>22.11</c:v>
                </c:pt>
                <c:pt idx="11">
                  <c:v>22.12</c:v>
                </c:pt>
                <c:pt idx="12">
                  <c:v>23.01</c:v>
                </c:pt>
                <c:pt idx="13">
                  <c:v>23.02</c:v>
                </c:pt>
                <c:pt idx="14">
                  <c:v>23.03</c:v>
                </c:pt>
                <c:pt idx="15">
                  <c:v>23.04</c:v>
                </c:pt>
                <c:pt idx="16">
                  <c:v>23.05</c:v>
                </c:pt>
                <c:pt idx="17">
                  <c:v>23.06</c:v>
                </c:pt>
              </c:strCache>
            </c:strRef>
          </c:cat>
          <c:val>
            <c:numRef>
              <c:f>Sheet1!$D$2:$D$19</c:f>
              <c:numCache>
                <c:formatCode>General</c:formatCode>
                <c:ptCount val="18"/>
                <c:pt idx="8">
                  <c:v>128.4</c:v>
                </c:pt>
                <c:pt idx="9">
                  <c:v>169.2</c:v>
                </c:pt>
                <c:pt idx="10">
                  <c:v>297.89999999999998</c:v>
                </c:pt>
                <c:pt idx="11">
                  <c:v>324.3</c:v>
                </c:pt>
                <c:pt idx="12">
                  <c:v>185.2</c:v>
                </c:pt>
              </c:numCache>
            </c:numRef>
          </c:val>
        </c:ser>
        <c:dLbls>
          <c:showLegendKey val="0"/>
          <c:showVal val="0"/>
          <c:showCatName val="0"/>
          <c:showSerName val="0"/>
          <c:showPercent val="0"/>
          <c:showBubbleSize val="0"/>
        </c:dLbls>
        <c:gapWidth val="40"/>
        <c:overlap val="100"/>
        <c:axId val="214732800"/>
        <c:axId val="214734336"/>
      </c:barChart>
      <c:catAx>
        <c:axId val="21473280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A"/>
                </a:solidFill>
                <a:latin typeface="맑은 고딕" panose="020B0503020000020004" pitchFamily="50" charset="-127"/>
              </a:defRPr>
            </a:pPr>
            <a:endParaRPr lang="ko-KR"/>
          </a:p>
        </c:txPr>
        <c:crossAx val="214734336"/>
        <c:crosses val="autoZero"/>
        <c:auto val="1"/>
        <c:lblAlgn val="ctr"/>
        <c:lblOffset val="100"/>
        <c:noMultiLvlLbl val="1"/>
      </c:catAx>
      <c:valAx>
        <c:axId val="214734336"/>
        <c:scaling>
          <c:orientation val="minMax"/>
          <c:max val="400"/>
          <c:min val="-300"/>
        </c:scaling>
        <c:delete val="0"/>
        <c:axPos val="l"/>
        <c:majorGridlines>
          <c:spPr>
            <a:ln w="6350"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맑은 고딕" panose="020B0503020000020004" pitchFamily="50" charset="-127"/>
              </a:defRPr>
            </a:pPr>
            <a:endParaRPr lang="ko-KR"/>
          </a:p>
        </c:txPr>
        <c:crossAx val="214732800"/>
        <c:crosses val="autoZero"/>
        <c:crossBetween val="between"/>
        <c:majorUnit val="100"/>
      </c:valAx>
      <c:spPr>
        <a:noFill/>
        <a:ln>
          <a:noFill/>
        </a:ln>
        <a:effectLst/>
      </c:spPr>
    </c:plotArea>
    <c:legend>
      <c:legendPos val="t"/>
      <c:layout/>
      <c:overlay val="0"/>
      <c:txPr>
        <a:bodyPr/>
        <a:lstStyle/>
        <a:p>
          <a:pPr>
            <a:defRPr sz="1100">
              <a:solidFill>
                <a:srgbClr val="1F2A36"/>
              </a:solidFill>
              <a:latin typeface="맑은 고딕" panose="020B0503020000020004" pitchFamily="50" charset="-127"/>
              <a:cs typeface="맑은 고딕"/>
            </a:defRPr>
          </a:pPr>
          <a:endParaRPr lang="ko-KR"/>
        </a:p>
      </c:txPr>
    </c:legend>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5F2EF94B-40EC-4C3E-8869-228F45A7FE4F}" type="datetimeFigureOut">
              <a:rPr lang="ko-KR" altLang="en-US" smtClean="0"/>
              <a:t>2026-09-28</a:t>
            </a:fld>
            <a:endParaRPr lang="ko-KR" altLang="en-US"/>
          </a:p>
        </p:txBody>
      </p:sp>
      <p:sp>
        <p:nvSpPr>
          <p:cNvPr id="4" name="슬라이드 이미지 개체 틀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E9522447-BD6B-4DF3-BCE6-0F1323E1DAFF}" type="slidenum">
              <a:rPr lang="ko-KR" altLang="en-US" smtClean="0"/>
              <a:t>‹#›</a:t>
            </a:fld>
            <a:endParaRPr lang="ko-KR" altLang="en-US"/>
          </a:p>
        </p:txBody>
      </p:sp>
    </p:spTree>
    <p:extLst>
      <p:ext uri="{BB962C8B-B14F-4D97-AF65-F5344CB8AC3E}">
        <p14:creationId xmlns:p14="http://schemas.microsoft.com/office/powerpoint/2010/main" val="310448797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최수인]</a:t>
            </a:r>
          </a:p>
          <a:p>
            <a:r>
              <a:t>안녕하세요, Money Catcher 조의 최수인입니다. 앞부분은 제가, 분석 결과는 조윤호가 이어서 발표하겠습니다. 저희는 2022년 레고랜드 사태 때 우량 회사채 시장이 얼마나 흔들렸는지를 공공 데이터로 크롤링해 분석했습니다. 오른쪽 계기판의 167bp는 2022년 12월 우량 회사채의 신용스프레드, 즉 기업이 신용위험 때문에 국채보다 더 내야 했던 이자입니다. 이 숫자가 얼마나 큰 값인지부터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최수인]</a:t>
            </a:r>
          </a:p>
          <a:p>
            <a:r>
              <a:t>결론부터 네 가지 숫자로 말씀드리겠습니다. 첫째, 신용스프레드가 사건 전 96bp에서 경색기 149bp로 53bp, 55% 커졌습니다. 둘째, 정점 167bp는 코로나 충격 때 정점 76bp의 2.2배였습니다. 셋째, 10월부터 12월까지 시장금리는 내려갔는데 스프레드는 오히려 47bp 벌어졌습니다. 넷째, 이 스프레드로 계기판을 만들어 보니, 경색 신호일 때 우량 회사채를 샀다면 6개월 동안 국고채보다 평균 221bp를 더 벌었다는 근사 결과가 나왔습니다. 참고로 1bp는 0.01%p입니다.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최수인]</a:t>
            </a:r>
          </a:p>
          <a:p>
            <a:r>
              <a:t>과제에서 제시한 다섯 가지 핵심 질문에는 이렇게 답했습니다. 데이터는 e-나라지표를 크롤링한 월별 금리와 한국은행 API의 일별 금리입니다. 이 사건을 고른 이유는, 지자체가 보증한 채무 하나가 우량 기업의 자금 조달까지 막았기 때문입니다. 신용위험이 번지는 과정을 금리 차이로 볼 수 있는 드문 사례라고 판단했습니다.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최수인]</a:t>
            </a:r>
          </a:p>
          <a:p>
            <a:r>
              <a:t>작업은 과제 흐름을 그대로 따랐습니다. 핵심인 웹 크롤링은 requests로 페이지를 받고 BeautifulSoup으로 월별 금리 60개월을 뽑았습니다. 날짜 단위로 더 정밀하게 보려고 한국은행 ECOS API에서 일별 금리 370영업일을 추가했습니다. 받은 원본은 해시값과 함께 저장해서, 명령어 한 줄로 누구나 같은 결과를 다시 만들 수 있습니다. 이건 발표 마지막에 영상으로 직접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최수인]</a:t>
            </a:r>
          </a:p>
          <a:p>
            <a:r>
              <a:t>구조 분석에서 가장 중요한 발견은, 이 페이지의 금리가 표가 아니라 본문 텍스트 안에 있다는 점이었습니다. 처음엔 table 태그를 찾았지만 수치가 없었습니다. 그래서 지표해석 영역을 선택자로 찾고, 국고채·회사채·CD 제목을 모두 가진 요소가 정확히 하나인지 확인한 뒤, 정규식으로 괄호 안 날짜와 금리를 짝지어 뽑았습니다. 사이트 구조가 바뀌면 틀린 값을 넣지 않고 멈추도록 했습니다. robots.txt는 원본을 수집한 뒤에 따로 확인했고, 파일이 없었습니다(404). 코드에는 다음 온라인 수집부터 check_robots()가 먼저 실행되도록 넣어 두었습니다. 금지 표시가 없다고 허용된 것은 아니라서, 페이지는 한 번만 요청하고 저장한 원본을 재사용했습니다.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최수인]</a:t>
            </a:r>
          </a:p>
          <a:p>
            <a:r>
              <a:t>전처리 원칙은 고치지 않고, 확인하고, 문제가 있으면 멈추는 것이었습니다. 중복, 결측, 빠진 달은 모두 0건이었습니다. 이상값도 지우지 않았습니다. 위기 때의 급등이 바로 분석 대상이기 때문입니다. 또 월별 값이 월평균인지 월말값인지 한국은행 일별 자료로 직접 계산해 보니 월평균과 0.01%p 차이여서 월평균으로 확인했습니다. 월평균은 급등락을 평평하게 만들기 때문에 날짜 판단은 일별 자료로 했습니다. 결과는 CSV와 SQLite 표 12개로 저장했고, 구조는 다음 두 장에서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최수인]</a:t>
            </a:r>
          </a:p>
          <a:p>
            <a:r>
              <a:t>저장한 SQLite DB 구조입니다. 표 12개를 월별과 일별 두 장으로 나눴습니다. 월별은 크롤링한 60개월을 정제한 monthly_all에서 날짜로 잘라 분석 구간 18개월, 사건 전후 9개월, 계기판 판정 24개월 표를 만들었습니다. 그래서 세 표가 날짜 하나로 연결되고, 분석 구간 표는 구간명으로 period_summary와 이어집니다. 오른쪽 네 개는 계산 결과만 담은 표라 키가 없습니다. 외래키 제약은 걸지 않았고, 값이 실제로 이어지는지 확인해서 그린 논리 관계입니다.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최수인]</a:t>
            </a:r>
          </a:p>
          <a:p>
            <a:r>
              <a:t>일별은 한국은행 ECOS에서 받은 370영업일 자료, ecos_daily입니다. 월별과 같은 구간명 네 개를 써서 period_summary로 월별 표와 이어집니다. 여기서 사건 다섯 개의 전후 5영업일을 비교한 표와, 지표별로 처음 튄 날·정점·복귀일을 담은 요약표를 만들었습니다. 점선은 일부만 대응하는 연결입니다. 10월 23일 대책일은 일요일이라 일별 행이 없기 때문입니다. 여기까지가 수집과 저장이었습니다. 분석 결과는 조윤호가 이어서 발표하겠습니다.  → 조윤호에게 교대</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조윤호]</a:t>
            </a:r>
          </a:p>
          <a:p>
            <a:r>
              <a:t>이어서 분석 결과를 발표할 조윤호입니다. 첫 번째 질문, 얼마나 벌어졌나입니다. 2019년부터 21년까지 평소 스프레드는 평균 46bp였고, 코로나 충격 때도 76bp가 최고였습니다. 그런데 레고랜드 이후 2022년 12월에 167bp까지 치솟았습니다. 코로나 때의 2.2배입니다. 참고로 앞에서 말씀드린 '사건 전' 96bp는 평상시가 아닙니다. 금리가 급하게 오르던 시기라 저희 기준으로도 이미 긴장 구간이었고, 그래서 평상시 비교는 2019년부터 21년까지를 기준으로 따로 했습니다. 오른쪽 끝도 눈여겨봐 주십시오. 2023년 하반기에도 78bp로 평소의 1.7배에 머물렀습니다. 다만 2023년은 금리 수준 자체가 높았기 때문에, 저희는 '완전히 회복되지 않았다'까지만 해석했습니다.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조윤호]</a:t>
            </a:r>
          </a:p>
          <a:p>
            <a:r>
              <a:t>두 번째 질문, 금리가 내려가면 스프레드도 줄었을까요? 아니었습니다. 10월에서 12월 사이 국고채 금리는 61bp 내렸는데, 회사채는 14bp밖에 안 내렸습니다. 그래서 둘의 차이인 스프레드는 47bp 커졌습니다. 금리만 보면 시장이 진정된 것처럼 보였지만, 기업이 더 내야 하는 위험 프리미엄은 오히려 늘어난 겁니다. 1,000억 원을 새로 빌리는 기업이라면 사건 전보다 연 5억 원 넘게 더 내는 셈입니다.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조윤호]</a:t>
            </a:r>
          </a:p>
          <a:p>
            <a:r>
              <a:t>세 번째 질문은 단기자금시장입니다. 파란 선이 회사채 스프레드, 빨간 선이 CP에서 CD를 뺀 값입니다. CP는 기업이, CD는 은행이 91일 동안 빌리는 금리라서, 둘을 빼면 금리 인상 기대는 지워지고 기업의 신용 불안만 남습니다. 회사채는 발표 다음 날 하루에 7.1bp가 뛰었습니다. 사건 전 추세대로라면 22영업일이 걸릴 폭이라, 추세가 아니라 급변이었습니다. 반면 CP−CD는 23일, 영업일로 15일 뒤에야 벌어졌지만 폭은 85bp로 더 컸고, 50조원 대책이 나온 직후에도 오히려 34bp 더 벌어졌습니다. 회복도 회사채보다 약 넉 달 늦었습니다. 단기시장은 늦게, 더 크게, 더 오래 흔들렸습니다.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조윤호]</a:t>
            </a:r>
          </a:p>
          <a:p>
            <a:r>
              <a:t>네 번째 질문, 이걸 판단 도구로 쓸 수 있을까. 그래서 스프레드 계기판을 만들었습니다. 핵심은 기준을 분석 기간과 겹치지 않는 2019년부터 21년 자료로만 정했다는 점입니다. 평균에 표준편차 두 배를 더한 72.7bp까지는 평온, 네 배를 더한 99.5bp를 넘으면 경색입니다. 이 기준이면 코로나 정점은 긴장, 레고랜드 경색기는 경색으로 나옵니다. 경색 기준을 표준편차 3배나 5배로 바꿔도 결론은 같았습니다. 다만 일별로 보면 경색 진입이 발표 전날인 9월 27일이었습니다. 계기판은 스프레드 수준을 판정할 뿐, 그 원인이 레고랜드인지는 구분하지 못합니다.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조윤호]</a:t>
            </a:r>
          </a:p>
          <a:p>
            <a:r>
              <a:t>그렇다면 경색 신호일 때 샀으면 어땠을까요. 매달 우량 회사채를 사서 6개월 보유했을 때 국고채보다 얼마나 더 벌었는지 채권 가격 공식으로 근사했습니다. 경색일 때 샀다면 평균 221bp를 더 벌었고, 평온할 때 샀다면 오히려 58bp 손해였습니다. 월평균 판정은 월말에야 확정되므로 다음 달에 산다고 다시 계산해도 경색 205bp, 평온 마이너스 81bp로 방향은 같았습니다. 스프레드가 높을 때 사면 이자도 더 받고, 이후 스프레드가 줄면서 가격 이익도 나기 때문입니다. 다만 위기 한 번에서 나온 결과라서 매수 신호라고 단정하지는 않습니다.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조윤호]</a:t>
            </a:r>
          </a:p>
          <a:p>
            <a:r>
              <a:t>인사이트는 네 가지입니다. 기업 재무 입장에서는 우량 등급도 안전하지 않으니 만기 분산과 선제 조달이 필요합니다. 채권 투자, 특히 증권사 WM에서는 금리가 아니라 스프레드를 봐야 하고, 계기판이 경색일 때는 발행사 등급을 먼저 확인한 뒤 우량채를 검토 대상에 올릴 수 있습니다. 다만 위기 한 번에서 나온 사후 관찰입니다. CP로 자금을 돌리는 기업은 채권시장이 풀린 뒤에도 단기 조달 비용이 오래 남는다는 점에 대비해야 합니다. 마지막으로, 정책 대책 직후에도 단기시장의 확대는 이어졌습니다. 같은 시기 기준금리 인상이 겹쳐 대책 효과를 따로 떼어 보지는 않았습니다.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조윤호]</a:t>
            </a:r>
          </a:p>
          <a:p>
            <a:r>
              <a:t>한계도 분명히 말씀드리겠습니다. 같은 시기에 기준금리 인상과 흥국생명 사태가 겹쳐, 레고랜드만의 효과는 분리하지 않았습니다. 계기판은 위기 한 번으로 만든 틀이고, 초과수익은 근사치입니다. 다음 단계로는 개별 회사채를 수집해 발행사별 계기판을 만들고, 2024년 이후 자료로 적중 여부를 검증해 보고 싶습니다.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조윤호]</a:t>
            </a:r>
          </a:p>
          <a:p>
            <a:r>
              <a:t>정리하겠습니다. 금리만 보면 2022년 말은 오히려 안정돼 보였습니다. 하지만 스프레드는 코로나의 두 배가 넘는 위기를, 그리고 그만큼의 기회를 보여줬습니다. 그리고 방금 보신 것처럼, 누가 ZIP을 받아 돌려도 같은 결과가 나옵니다.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조윤호]</a:t>
            </a:r>
          </a:p>
          <a:p>
            <a:r>
              <a:t>마치기 전에, 작업하며 부딪힌 문제 세 가지를 짧게 말씀드리겠습니다. 첫째, 처음엔 국고채와 회사채 두 지표, 월별 18행뿐이라 구간 평균 비교밖에 할 수 없었습니다. 그래서 같은 본문의 CD를 추가로 뽑고, 한국은행 API로 일별 370영업일을 더해 날짜 단위로 볼 수 있게 했습니다. 둘째, 원자료를 엑셀로 열면 1월과 10월이 똑같이 19.1로 보였습니다. 월을 두 자리로 저장하고 원문 토큰도 함께 남겨서 해결했습니다. 셋째가 가장 중요했습니다. 처음엔 계기판 기준을 분석하는 18개월로 정하고 같은 기간으로 검증해서, 답을 보고 기준을 만든 셈이었습니다. 그래서 기준을 표본 밖 2019년부터 21년 자료로 다시 정했고, 다음 달에 산다고 다시 계산해도 221bp가 205bp로, 결론은 유지됐습니다. 마지막으로, 이 결과가 정말 다시 만들어지는지 영상으로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조윤호] 재생 중에는 말하지 않음 — 슬라이드가 열리면 영상 자동 재생(1분 39초, 녹음된 설명 포함). 끝나면 클릭해서 18장으로.</a:t>
            </a:r>
          </a:p>
          <a:p>
            <a:r>
              <a:t>소리가 안 나올 때만 읽기: 지금 보시는 건 저희가 제출한 ZIP을 푼 폴더이고, 결과 파일 수정 시각은 오후 1시 6분입니다. 여기서 인터넷도, API 키도 없이 명령어 한 줄을 실행합니다. 저장해 둔 원본 7개를 해시값으로 확인한 뒤, 정리부터 DB, 그래프, 보고서까지 전부 다시 만듭니다. 경고 없이 끝났고 결과 요약이 출력됩니다. 결과 파일이 전부 1시 8분, 방금 시각으로 바뀌었습니다. 새로 만들어진 보고서를 열어 보겠습니다. 마지막으로 새로 그려진 계기판입니다. 사건 전 96bp, 경색기 149bp, 발표 자료와 같은 숫자입니다.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맑은 고딕" panose="020B0503020000020004" pitchFamily="50" charset="-127"/>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맑은 고딕" panose="020B0503020000020004" pitchFamily="50" charset="-127"/>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맑은 고딕" panose="020B0503020000020004" pitchFamily="50" charset="-127"/>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맑은 고딕" panose="020B0503020000020004" pitchFamily="50" charset="-127"/>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맑은 고딕" panose="020B0503020000020004" pitchFamily="50" charset="-127"/>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맑은 고딕" panose="020B0503020000020004"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맑은 고딕" panose="020B0503020000020004" pitchFamily="50" charset="-127"/>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맑은 고딕" panose="020B0503020000020004" pitchFamily="50" charset="-127"/>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맑은 고딕" panose="020B0503020000020004" pitchFamily="50" charset="-127"/>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맑은 고딕" panose="020B0503020000020004" pitchFamily="50" charset="-127"/>
          <a:cs typeface="+mn-cs"/>
        </a:defRPr>
      </a:lvl9pPr>
    </p:bodyStyle>
    <p:otherStyle>
      <a:defPPr>
        <a:defRPr lang="ko-KR" altLang="en-US"/>
      </a:defPPr>
      <a:lvl1pPr marL="0" algn="l" defTabSz="914400" rtl="0" eaLnBrk="1" latinLnBrk="0" hangingPunct="1">
        <a:defRPr sz="1800" kern="1200">
          <a:solidFill>
            <a:schemeClr val="tx1"/>
          </a:solidFill>
          <a:latin typeface="+mn-lt"/>
          <a:ea typeface="맑은 고딕" panose="020B0503020000020004" pitchFamily="50" charset="-127"/>
          <a:cs typeface="+mn-cs"/>
        </a:defRPr>
      </a:lvl1pPr>
      <a:lvl2pPr marL="457200" algn="l" defTabSz="914400" rtl="0" eaLnBrk="1" latinLnBrk="0" hangingPunct="1">
        <a:defRPr sz="1800" kern="1200">
          <a:solidFill>
            <a:schemeClr val="tx1"/>
          </a:solidFill>
          <a:latin typeface="+mn-lt"/>
          <a:ea typeface="맑은 고딕" panose="020B0503020000020004" pitchFamily="50" charset="-127"/>
          <a:cs typeface="+mn-cs"/>
        </a:defRPr>
      </a:lvl2pPr>
      <a:lvl3pPr marL="914400" algn="l" defTabSz="914400" rtl="0" eaLnBrk="1" latinLnBrk="0" hangingPunct="1">
        <a:defRPr sz="1800" kern="1200">
          <a:solidFill>
            <a:schemeClr val="tx1"/>
          </a:solidFill>
          <a:latin typeface="+mn-lt"/>
          <a:ea typeface="맑은 고딕" panose="020B0503020000020004" pitchFamily="50" charset="-127"/>
          <a:cs typeface="+mn-cs"/>
        </a:defRPr>
      </a:lvl3pPr>
      <a:lvl4pPr marL="1371600" algn="l" defTabSz="914400" rtl="0" eaLnBrk="1" latinLnBrk="0" hangingPunct="1">
        <a:defRPr sz="1800" kern="1200">
          <a:solidFill>
            <a:schemeClr val="tx1"/>
          </a:solidFill>
          <a:latin typeface="+mn-lt"/>
          <a:ea typeface="맑은 고딕" panose="020B0503020000020004" pitchFamily="50" charset="-127"/>
          <a:cs typeface="+mn-cs"/>
        </a:defRPr>
      </a:lvl4pPr>
      <a:lvl5pPr marL="1828800" algn="l" defTabSz="914400" rtl="0" eaLnBrk="1" latinLnBrk="0" hangingPunct="1">
        <a:defRPr sz="1800" kern="1200">
          <a:solidFill>
            <a:schemeClr val="tx1"/>
          </a:solidFill>
          <a:latin typeface="+mn-lt"/>
          <a:ea typeface="맑은 고딕" panose="020B0503020000020004" pitchFamily="50" charset="-127"/>
          <a:cs typeface="+mn-cs"/>
        </a:defRPr>
      </a:lvl5pPr>
      <a:lvl6pPr marL="2286000" algn="l" defTabSz="914400" rtl="0" eaLnBrk="1" latinLnBrk="0" hangingPunct="1">
        <a:defRPr sz="1800" kern="1200">
          <a:solidFill>
            <a:schemeClr val="tx1"/>
          </a:solidFill>
          <a:latin typeface="+mn-lt"/>
          <a:ea typeface="맑은 고딕" panose="020B0503020000020004" pitchFamily="50" charset="-127"/>
          <a:cs typeface="+mn-cs"/>
        </a:defRPr>
      </a:lvl6pPr>
      <a:lvl7pPr marL="2743200" algn="l" defTabSz="914400" rtl="0" eaLnBrk="1" latinLnBrk="0" hangingPunct="1">
        <a:defRPr sz="1800" kern="1200">
          <a:solidFill>
            <a:schemeClr val="tx1"/>
          </a:solidFill>
          <a:latin typeface="+mn-lt"/>
          <a:ea typeface="맑은 고딕" panose="020B0503020000020004" pitchFamily="50" charset="-127"/>
          <a:cs typeface="+mn-cs"/>
        </a:defRPr>
      </a:lvl7pPr>
      <a:lvl8pPr marL="3200400" algn="l" defTabSz="914400" rtl="0" eaLnBrk="1" latinLnBrk="0" hangingPunct="1">
        <a:defRPr sz="1800" kern="1200">
          <a:solidFill>
            <a:schemeClr val="tx1"/>
          </a:solidFill>
          <a:latin typeface="+mn-lt"/>
          <a:ea typeface="맑은 고딕" panose="020B0503020000020004" pitchFamily="50" charset="-127"/>
          <a:cs typeface="+mn-cs"/>
        </a:defRPr>
      </a:lvl8pPr>
      <a:lvl9pPr marL="3657600" algn="l" defTabSz="914400" rtl="0" eaLnBrk="1" latinLnBrk="0" hangingPunct="1">
        <a:defRPr sz="1800" kern="1200">
          <a:solidFill>
            <a:schemeClr val="tx1"/>
          </a:solidFill>
          <a:latin typeface="+mn-lt"/>
          <a:ea typeface="맑은 고딕" panose="020B0503020000020004" pitchFamily="50" charset="-127"/>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4A"/>
        </a:solidFill>
        <a:effectLst/>
      </p:bgPr>
    </p:bg>
    <p:spTree>
      <p:nvGrpSpPr>
        <p:cNvPr id="1" name=""/>
        <p:cNvGrpSpPr/>
        <p:nvPr/>
      </p:nvGrpSpPr>
      <p:grpSpPr>
        <a:xfrm>
          <a:off x="0" y="0"/>
          <a:ext cx="0" cy="0"/>
          <a:chOff x="0" y="0"/>
          <a:chExt cx="0" cy="0"/>
        </a:xfrm>
      </p:grpSpPr>
      <p:sp>
        <p:nvSpPr>
          <p:cNvPr id="2" name="Text 0"/>
          <p:cNvSpPr txBox="1"/>
          <p:nvPr/>
        </p:nvSpPr>
        <p:spPr>
          <a:xfrm>
            <a:off x="548640" y="731520"/>
            <a:ext cx="7315200" cy="365760"/>
          </a:xfrm>
          <a:prstGeom prst="rect">
            <a:avLst/>
          </a:prstGeom>
          <a:noFill/>
          <a:ln/>
        </p:spPr>
        <p:txBody>
          <a:bodyPr wrap="square" lIns="0" tIns="0" rIns="0" bIns="0" rtlCol="0" anchor="t"/>
          <a:lstStyle/>
          <a:p>
            <a:pPr marL="0" indent="0">
              <a:buNone/>
            </a:pPr>
            <a:r>
              <a:rPr lang="ko-KR" altLang="en-US" sz="1400" dirty="0">
                <a:solidFill>
                  <a:srgbClr val="C9D8E6"/>
                </a:solidFill>
                <a:latin typeface="맑은 고딕" panose="020B0503020000020004" pitchFamily="50" charset="-127"/>
                <a:ea typeface="맑은 고딕" panose="020B0503020000020004" pitchFamily="50" charset="-127"/>
                <a:cs typeface="맑은 고딕" pitchFamily="34" charset="-120"/>
              </a:rPr>
              <a:t>MODULE 03 MINI PROJECT  ·  BeautifulSoup를 활용한 금융 데이터 크롤링</a:t>
            </a:r>
            <a:endParaRPr lang="ko-KR" altLang="en-US" sz="1400" dirty="0"/>
          </a:p>
        </p:txBody>
      </p:sp>
      <p:sp>
        <p:nvSpPr>
          <p:cNvPr id="3" name="Text 1"/>
          <p:cNvSpPr txBox="1"/>
          <p:nvPr/>
        </p:nvSpPr>
        <p:spPr>
          <a:xfrm>
            <a:off x="548640" y="1371600"/>
            <a:ext cx="6949440" cy="2651760"/>
          </a:xfrm>
          <a:prstGeom prst="rect">
            <a:avLst/>
          </a:prstGeom>
          <a:noFill/>
          <a:ln/>
        </p:spPr>
        <p:txBody>
          <a:bodyPr wrap="square" lIns="0" tIns="0" rIns="0" bIns="0" rtlCol="0" anchor="t"/>
          <a:lstStyle/>
          <a:p>
            <a:pPr marL="0" indent="0">
              <a:buNone/>
            </a:pPr>
            <a:r>
              <a:rPr lang="ko-KR" altLang="en-US" sz="3800" b="1" dirty="0">
                <a:solidFill>
                  <a:srgbClr val="FFFFFF"/>
                </a:solidFill>
                <a:latin typeface="맑은 고딕" panose="020B0503020000020004" pitchFamily="50" charset="-127"/>
                <a:ea typeface="맑은 고딕" panose="020B0503020000020004" pitchFamily="50" charset="-127"/>
                <a:cs typeface="맑은 고딕" pitchFamily="34" charset="-120"/>
              </a:rPr>
              <a:t>레고랜드 사태,</a:t>
            </a:r>
            <a:endParaRPr lang="ko-KR" altLang="en-US" sz="3800" dirty="0"/>
          </a:p>
          <a:p>
            <a:pPr marL="0" indent="0">
              <a:buNone/>
            </a:pPr>
            <a:r>
              <a:rPr lang="ko-KR" altLang="en-US" sz="3800" b="1" dirty="0">
                <a:solidFill>
                  <a:srgbClr val="FFFFFF"/>
                </a:solidFill>
                <a:latin typeface="맑은 고딕" panose="020B0503020000020004" pitchFamily="50" charset="-127"/>
                <a:ea typeface="맑은 고딕" panose="020B0503020000020004" pitchFamily="50" charset="-127"/>
                <a:cs typeface="맑은 고딕" pitchFamily="34" charset="-120"/>
              </a:rPr>
              <a:t>우량 회사채의 신용 프리미엄은</a:t>
            </a:r>
            <a:endParaRPr lang="ko-KR" altLang="en-US" sz="3800" dirty="0"/>
          </a:p>
          <a:p>
            <a:pPr marL="0" indent="0">
              <a:buNone/>
            </a:pPr>
            <a:r>
              <a:rPr lang="ko-KR" altLang="en-US" sz="3800" b="1" dirty="0">
                <a:solidFill>
                  <a:srgbClr val="FFFFFF"/>
                </a:solidFill>
                <a:latin typeface="맑은 고딕" panose="020B0503020000020004" pitchFamily="50" charset="-127"/>
                <a:ea typeface="맑은 고딕" panose="020B0503020000020004" pitchFamily="50" charset="-127"/>
                <a:cs typeface="맑은 고딕" pitchFamily="34" charset="-120"/>
              </a:rPr>
              <a:t>어떻게 움직였나</a:t>
            </a:r>
            <a:endParaRPr lang="ko-KR" altLang="en-US" sz="3800" dirty="0"/>
          </a:p>
        </p:txBody>
      </p:sp>
      <p:sp>
        <p:nvSpPr>
          <p:cNvPr id="4" name="Text 2"/>
          <p:cNvSpPr txBox="1"/>
          <p:nvPr/>
        </p:nvSpPr>
        <p:spPr>
          <a:xfrm>
            <a:off x="548640" y="4160520"/>
            <a:ext cx="6949440" cy="457200"/>
          </a:xfrm>
          <a:prstGeom prst="rect">
            <a:avLst/>
          </a:prstGeom>
          <a:noFill/>
          <a:ln/>
        </p:spPr>
        <p:txBody>
          <a:bodyPr wrap="square" lIns="0" tIns="0" rIns="0" bIns="0" rtlCol="0" anchor="t"/>
          <a:lstStyle/>
          <a:p>
            <a:pPr marL="0" indent="0">
              <a:buNone/>
            </a:pPr>
            <a:r>
              <a:rPr lang="ko-KR" altLang="en-US" sz="1800" dirty="0">
                <a:solidFill>
                  <a:srgbClr val="C9D8E6"/>
                </a:solidFill>
                <a:latin typeface="맑은 고딕" panose="020B0503020000020004" pitchFamily="50" charset="-127"/>
                <a:ea typeface="맑은 고딕" panose="020B0503020000020004" pitchFamily="50" charset="-127"/>
                <a:cs typeface="맑은 고딕" pitchFamily="34" charset="-120"/>
              </a:rPr>
              <a:t>신용스프레드와 단기자금시장 분석 + 스프레드 계기판 제안</a:t>
            </a:r>
            <a:endParaRPr lang="ko-KR" altLang="en-US" sz="1800" dirty="0"/>
          </a:p>
        </p:txBody>
      </p:sp>
      <p:sp>
        <p:nvSpPr>
          <p:cNvPr id="5" name="Text 3"/>
          <p:cNvSpPr txBox="1"/>
          <p:nvPr/>
        </p:nvSpPr>
        <p:spPr>
          <a:xfrm>
            <a:off x="548640" y="5806440"/>
            <a:ext cx="6400800" cy="365760"/>
          </a:xfrm>
          <a:prstGeom prst="rect">
            <a:avLst/>
          </a:prstGeom>
          <a:noFill/>
          <a:ln/>
        </p:spPr>
        <p:txBody>
          <a:bodyPr wrap="square" lIns="0" tIns="0" rIns="0" bIns="0" rtlCol="0" anchor="t"/>
          <a:lstStyle/>
          <a:p>
            <a:pPr marL="0" indent="0">
              <a:buNone/>
            </a:pPr>
            <a:r>
              <a:rPr lang="ko-KR" altLang="en-US" sz="1400" dirty="0">
                <a:solidFill>
                  <a:srgbClr val="C9D8E6"/>
                </a:solidFill>
                <a:latin typeface="맑은 고딕" panose="020B0503020000020004" pitchFamily="50" charset="-127"/>
                <a:ea typeface="맑은 고딕" panose="020B0503020000020004" pitchFamily="50" charset="-127"/>
                <a:cs typeface="맑은 고딕" pitchFamily="34" charset="-120"/>
              </a:rPr>
              <a:t>Money Catcher  |  발표 최수인 · 조윤호  |  2026.09</a:t>
            </a:r>
            <a:endParaRPr lang="ko-KR" altLang="en-US" sz="1400" dirty="0"/>
          </a:p>
        </p:txBody>
      </p:sp>
      <p:sp>
        <p:nvSpPr>
          <p:cNvPr id="6" name="Shape 4"/>
          <p:cNvSpPr/>
          <p:nvPr/>
        </p:nvSpPr>
        <p:spPr>
          <a:xfrm>
            <a:off x="7452360" y="2194560"/>
            <a:ext cx="4023360" cy="4023360"/>
          </a:xfrm>
          <a:prstGeom prst="blockArc">
            <a:avLst>
              <a:gd name="adj1" fmla="val 10860000"/>
              <a:gd name="adj2" fmla="val 15060000"/>
              <a:gd name="adj3" fmla="val 14000"/>
            </a:avLst>
          </a:prstGeom>
          <a:solidFill>
            <a:srgbClr val="2E9E57"/>
          </a:solidFill>
          <a:ln w="12700">
            <a:solidFill>
              <a:srgbClr val="2E9E57">
                <a:alpha val="0"/>
              </a:srgbClr>
            </a:solidFill>
            <a:prstDash val="solid"/>
          </a:ln>
        </p:spPr>
        <p:txBody>
          <a:bodyPr/>
          <a:p/>
        </p:txBody>
      </p:sp>
      <p:sp>
        <p:nvSpPr>
          <p:cNvPr id="7" name="Shape 5"/>
          <p:cNvSpPr/>
          <p:nvPr/>
        </p:nvSpPr>
        <p:spPr>
          <a:xfrm>
            <a:off x="7452360" y="2194560"/>
            <a:ext cx="4023360" cy="4023360"/>
          </a:xfrm>
          <a:prstGeom prst="blockArc">
            <a:avLst>
              <a:gd name="adj1" fmla="val 15180000"/>
              <a:gd name="adj2" fmla="val 18300000"/>
              <a:gd name="adj3" fmla="val 14000"/>
            </a:avLst>
          </a:prstGeom>
          <a:solidFill>
            <a:srgbClr val="E0A020"/>
          </a:solidFill>
          <a:ln w="12700">
            <a:solidFill>
              <a:srgbClr val="E0A020">
                <a:alpha val="0"/>
              </a:srgbClr>
            </a:solidFill>
            <a:prstDash val="solid"/>
          </a:ln>
        </p:spPr>
        <p:txBody>
          <a:bodyPr/>
          <a:p/>
        </p:txBody>
      </p:sp>
      <p:sp>
        <p:nvSpPr>
          <p:cNvPr id="8" name="Shape 6"/>
          <p:cNvSpPr/>
          <p:nvPr/>
        </p:nvSpPr>
        <p:spPr>
          <a:xfrm>
            <a:off x="7452360" y="2194560"/>
            <a:ext cx="4023360" cy="4023360"/>
          </a:xfrm>
          <a:prstGeom prst="blockArc">
            <a:avLst>
              <a:gd name="adj1" fmla="val 18420000"/>
              <a:gd name="adj2" fmla="val 21540000"/>
              <a:gd name="adj3" fmla="val 14000"/>
            </a:avLst>
          </a:prstGeom>
          <a:solidFill>
            <a:srgbClr val="C8412E"/>
          </a:solidFill>
          <a:ln w="12700">
            <a:solidFill>
              <a:srgbClr val="C8412E">
                <a:alpha val="0"/>
              </a:srgbClr>
            </a:solidFill>
            <a:prstDash val="solid"/>
          </a:ln>
        </p:spPr>
        <p:txBody>
          <a:bodyPr/>
          <a:p/>
        </p:txBody>
      </p:sp>
      <p:sp>
        <p:nvSpPr>
          <p:cNvPr id="9" name="Shape 7"/>
          <p:cNvSpPr/>
          <p:nvPr/>
        </p:nvSpPr>
        <p:spPr>
          <a:xfrm flipV="1">
            <a:off x="9464040" y="2788920"/>
            <a:ext cx="1051560" cy="1417320"/>
          </a:xfrm>
          <a:prstGeom prst="line">
            <a:avLst/>
          </a:prstGeom>
          <a:noFill/>
          <a:ln w="63500">
            <a:solidFill>
              <a:srgbClr val="FFFFFF"/>
            </a:solidFill>
            <a:prstDash val="solid"/>
          </a:ln>
        </p:spPr>
        <p:txBody>
          <a:bodyPr/>
          <a:p/>
        </p:txBody>
      </p:sp>
      <p:sp>
        <p:nvSpPr>
          <p:cNvPr id="10" name="Shape 8"/>
          <p:cNvSpPr/>
          <p:nvPr/>
        </p:nvSpPr>
        <p:spPr>
          <a:xfrm>
            <a:off x="9299448" y="4041648"/>
            <a:ext cx="329184" cy="329184"/>
          </a:xfrm>
          <a:prstGeom prst="ellipse">
            <a:avLst/>
          </a:prstGeom>
          <a:solidFill>
            <a:srgbClr val="FFFFFF"/>
          </a:solidFill>
          <a:ln w="12700">
            <a:solidFill>
              <a:srgbClr val="FFFFFF"/>
            </a:solidFill>
            <a:prstDash val="solid"/>
          </a:ln>
        </p:spPr>
        <p:txBody>
          <a:bodyPr/>
          <a:p/>
        </p:txBody>
      </p:sp>
      <p:sp>
        <p:nvSpPr>
          <p:cNvPr id="11" name="Text 9"/>
          <p:cNvSpPr txBox="1"/>
          <p:nvPr/>
        </p:nvSpPr>
        <p:spPr>
          <a:xfrm>
            <a:off x="8275320" y="4526280"/>
            <a:ext cx="2377440" cy="640080"/>
          </a:xfrm>
          <a:prstGeom prst="rect">
            <a:avLst/>
          </a:prstGeom>
          <a:noFill/>
          <a:ln/>
        </p:spPr>
        <p:txBody>
          <a:bodyPr wrap="square" lIns="0" tIns="0" rIns="0" bIns="0" rtlCol="0" anchor="t"/>
          <a:lstStyle/>
          <a:p>
            <a:pPr marL="0" indent="0" algn="ctr">
              <a:buNone/>
            </a:pPr>
            <a:r>
              <a:rPr lang="ko-KR" altLang="en-US" sz="3200" b="1" dirty="0">
                <a:solidFill>
                  <a:srgbClr val="FFFFFF"/>
                </a:solidFill>
                <a:latin typeface="맑은 고딕" panose="020B0503020000020004" pitchFamily="50" charset="-127"/>
                <a:ea typeface="맑은 고딕" panose="020B0503020000020004" pitchFamily="50" charset="-127"/>
                <a:cs typeface="맑은 고딕" pitchFamily="34" charset="-120"/>
              </a:rPr>
              <a:t>167bp</a:t>
            </a:r>
            <a:endParaRPr lang="ko-KR" altLang="en-US" sz="3200" dirty="0"/>
          </a:p>
        </p:txBody>
      </p:sp>
      <p:sp>
        <p:nvSpPr>
          <p:cNvPr id="12" name="Text 10"/>
          <p:cNvSpPr txBox="1"/>
          <p:nvPr/>
        </p:nvSpPr>
        <p:spPr>
          <a:xfrm>
            <a:off x="8001000" y="5120640"/>
            <a:ext cx="2926080" cy="320040"/>
          </a:xfrm>
          <a:prstGeom prst="rect">
            <a:avLst/>
          </a:prstGeom>
          <a:noFill/>
          <a:ln/>
        </p:spPr>
        <p:txBody>
          <a:bodyPr wrap="square" lIns="0" tIns="0" rIns="0" bIns="0" rtlCol="0" anchor="t"/>
          <a:lstStyle/>
          <a:p>
            <a:pPr marL="0" indent="0" algn="ctr">
              <a:buNone/>
            </a:pPr>
            <a:r>
              <a:rPr lang="ko-KR" altLang="en-US" sz="1200" dirty="0">
                <a:solidFill>
                  <a:srgbClr val="C9D8E6"/>
                </a:solidFill>
                <a:latin typeface="맑은 고딕" panose="020B0503020000020004" pitchFamily="50" charset="-127"/>
                <a:ea typeface="맑은 고딕" panose="020B0503020000020004" pitchFamily="50" charset="-127"/>
                <a:cs typeface="맑은 고딕" pitchFamily="34" charset="-120"/>
              </a:rPr>
              <a:t>2022.12 AA− 신용스프레드 정점</a:t>
            </a:r>
            <a:endParaRPr lang="ko-KR" alt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한눈에 보는 결과</a:t>
            </a:r>
            <a:endParaRPr lang="ko-KR" altLang="en-US" sz="2800" dirty="0"/>
          </a:p>
        </p:txBody>
      </p:sp>
      <p:sp>
        <p:nvSpPr>
          <p:cNvPr id="3" name="Shape 1"/>
          <p:cNvSpPr/>
          <p:nvPr/>
        </p:nvSpPr>
        <p:spPr>
          <a:xfrm>
            <a:off x="548640" y="1417320"/>
            <a:ext cx="2567864" cy="3566160"/>
          </a:xfrm>
          <a:prstGeom prst="roundRect">
            <a:avLst>
              <a:gd name="adj" fmla="val 2849"/>
            </a:avLst>
          </a:prstGeom>
          <a:solidFill>
            <a:srgbClr val="F6F8FA"/>
          </a:solidFill>
          <a:ln w="9525">
            <a:solidFill>
              <a:srgbClr val="D5DEE7"/>
            </a:solidFill>
            <a:prstDash val="solid"/>
          </a:ln>
        </p:spPr>
      </p:sp>
      <p:sp>
        <p:nvSpPr>
          <p:cNvPr id="4" name="Shape 2"/>
          <p:cNvSpPr/>
          <p:nvPr/>
        </p:nvSpPr>
        <p:spPr>
          <a:xfrm>
            <a:off x="868680" y="1783080"/>
            <a:ext cx="310896" cy="310896"/>
          </a:xfrm>
          <a:prstGeom prst="ellipse">
            <a:avLst/>
          </a:prstGeom>
          <a:solidFill>
            <a:srgbClr val="C8412E"/>
          </a:solidFill>
          <a:ln w="12700">
            <a:solidFill>
              <a:srgbClr val="C8412E"/>
            </a:solidFill>
            <a:prstDash val="solid"/>
          </a:ln>
        </p:spPr>
      </p:sp>
      <p:sp>
        <p:nvSpPr>
          <p:cNvPr id="5" name="Text 3"/>
          <p:cNvSpPr txBox="1"/>
          <p:nvPr/>
        </p:nvSpPr>
        <p:spPr>
          <a:xfrm>
            <a:off x="822960" y="2286000"/>
            <a:ext cx="2110664" cy="822960"/>
          </a:xfrm>
          <a:prstGeom prst="rect">
            <a:avLst/>
          </a:prstGeom>
          <a:noFill/>
          <a:ln/>
        </p:spPr>
        <p:txBody>
          <a:bodyPr wrap="square" lIns="0" tIns="0" rIns="0" bIns="0" rtlCol="0" anchor="t">
            <a:normAutofit/>
          </a:bodyPr>
          <a:lstStyle/>
          <a:p>
            <a:pPr marL="0" indent="0">
              <a:buNone/>
            </a:pPr>
            <a:r>
              <a:rPr lang="ko-KR" altLang="en-US" sz="3400" b="1" dirty="0">
                <a:solidFill>
                  <a:srgbClr val="14304A"/>
                </a:solidFill>
                <a:latin typeface="맑은 고딕" panose="020B0503020000020004" pitchFamily="50" charset="-127"/>
                <a:ea typeface="맑은 고딕" panose="020B0503020000020004" pitchFamily="50" charset="-127"/>
                <a:cs typeface="맑은 고딕" pitchFamily="34" charset="-120"/>
              </a:rPr>
              <a:t>+53bp</a:t>
            </a:r>
            <a:endParaRPr lang="ko-KR" altLang="en-US" sz="3400" dirty="0"/>
          </a:p>
        </p:txBody>
      </p:sp>
      <p:sp>
        <p:nvSpPr>
          <p:cNvPr id="6" name="Text 4"/>
          <p:cNvSpPr txBox="1"/>
          <p:nvPr/>
        </p:nvSpPr>
        <p:spPr>
          <a:xfrm>
            <a:off x="822960" y="3246120"/>
            <a:ext cx="2110664" cy="731520"/>
          </a:xfrm>
          <a:prstGeom prst="rect">
            <a:avLst/>
          </a:prstGeom>
          <a:noFill/>
          <a:ln/>
        </p:spPr>
        <p:txBody>
          <a:bodyPr wrap="square" lIns="0" tIns="0" rIns="0" bIns="0" rtlCol="0" anchor="t"/>
          <a:lstStyle/>
          <a:p>
            <a:pPr marL="0" indent="0">
              <a:buNone/>
            </a:pPr>
            <a:r>
              <a:rPr lang="ko-KR" altLang="en-US" sz="1700" b="1" dirty="0">
                <a:solidFill>
                  <a:srgbClr val="1F2A36"/>
                </a:solidFill>
                <a:latin typeface="맑은 고딕" panose="020B0503020000020004" pitchFamily="50" charset="-127"/>
                <a:ea typeface="맑은 고딕" panose="020B0503020000020004" pitchFamily="50" charset="-127"/>
                <a:cs typeface="맑은 고딕" pitchFamily="34" charset="-120"/>
              </a:rPr>
              <a:t>신용스프레드 확대</a:t>
            </a:r>
            <a:endParaRPr lang="ko-KR" altLang="en-US" sz="1700" dirty="0"/>
          </a:p>
        </p:txBody>
      </p:sp>
      <p:sp>
        <p:nvSpPr>
          <p:cNvPr id="7" name="Text 5"/>
          <p:cNvSpPr txBox="1"/>
          <p:nvPr/>
        </p:nvSpPr>
        <p:spPr>
          <a:xfrm>
            <a:off x="822960" y="4023360"/>
            <a:ext cx="2019224" cy="82296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사건 전 96bp → 경색기 149bp (+55%)</a:t>
            </a:r>
            <a:endParaRPr lang="ko-KR" altLang="en-US" sz="1250" dirty="0"/>
          </a:p>
        </p:txBody>
      </p:sp>
      <p:sp>
        <p:nvSpPr>
          <p:cNvPr id="8" name="Shape 6"/>
          <p:cNvSpPr/>
          <p:nvPr/>
        </p:nvSpPr>
        <p:spPr>
          <a:xfrm>
            <a:off x="3390824" y="1417320"/>
            <a:ext cx="2567864" cy="3566160"/>
          </a:xfrm>
          <a:prstGeom prst="roundRect">
            <a:avLst>
              <a:gd name="adj" fmla="val 2849"/>
            </a:avLst>
          </a:prstGeom>
          <a:solidFill>
            <a:srgbClr val="F6F8FA"/>
          </a:solidFill>
          <a:ln w="9525">
            <a:solidFill>
              <a:srgbClr val="D5DEE7"/>
            </a:solidFill>
            <a:prstDash val="solid"/>
          </a:ln>
        </p:spPr>
      </p:sp>
      <p:sp>
        <p:nvSpPr>
          <p:cNvPr id="9" name="Shape 7"/>
          <p:cNvSpPr/>
          <p:nvPr/>
        </p:nvSpPr>
        <p:spPr>
          <a:xfrm>
            <a:off x="3710864" y="1783080"/>
            <a:ext cx="310896" cy="310896"/>
          </a:xfrm>
          <a:prstGeom prst="ellipse">
            <a:avLst/>
          </a:prstGeom>
          <a:solidFill>
            <a:srgbClr val="14304A"/>
          </a:solidFill>
          <a:ln w="12700">
            <a:solidFill>
              <a:srgbClr val="14304A"/>
            </a:solidFill>
            <a:prstDash val="solid"/>
          </a:ln>
        </p:spPr>
      </p:sp>
      <p:sp>
        <p:nvSpPr>
          <p:cNvPr id="10" name="Text 8"/>
          <p:cNvSpPr txBox="1"/>
          <p:nvPr/>
        </p:nvSpPr>
        <p:spPr>
          <a:xfrm>
            <a:off x="3665144" y="2286000"/>
            <a:ext cx="2110664" cy="822960"/>
          </a:xfrm>
          <a:prstGeom prst="rect">
            <a:avLst/>
          </a:prstGeom>
          <a:noFill/>
          <a:ln/>
        </p:spPr>
        <p:txBody>
          <a:bodyPr wrap="square" lIns="0" tIns="0" rIns="0" bIns="0" rtlCol="0" anchor="t">
            <a:normAutofit/>
          </a:bodyPr>
          <a:lstStyle/>
          <a:p>
            <a:pPr marL="0" indent="0">
              <a:buNone/>
            </a:pPr>
            <a:r>
              <a:rPr lang="ko-KR" altLang="en-US" sz="3400" b="1" dirty="0">
                <a:solidFill>
                  <a:srgbClr val="14304A"/>
                </a:solidFill>
                <a:latin typeface="맑은 고딕" panose="020B0503020000020004" pitchFamily="50" charset="-127"/>
                <a:ea typeface="맑은 고딕" panose="020B0503020000020004" pitchFamily="50" charset="-127"/>
                <a:cs typeface="맑은 고딕" pitchFamily="34" charset="-120"/>
              </a:rPr>
              <a:t>2.2배</a:t>
            </a:r>
            <a:endParaRPr lang="ko-KR" altLang="en-US" sz="3400" dirty="0"/>
          </a:p>
        </p:txBody>
      </p:sp>
      <p:sp>
        <p:nvSpPr>
          <p:cNvPr id="11" name="Text 9"/>
          <p:cNvSpPr txBox="1"/>
          <p:nvPr/>
        </p:nvSpPr>
        <p:spPr>
          <a:xfrm>
            <a:off x="3665144" y="3246120"/>
            <a:ext cx="2110664" cy="731520"/>
          </a:xfrm>
          <a:prstGeom prst="rect">
            <a:avLst/>
          </a:prstGeom>
          <a:noFill/>
          <a:ln/>
        </p:spPr>
        <p:txBody>
          <a:bodyPr wrap="square" lIns="0" tIns="0" rIns="0" bIns="0" rtlCol="0" anchor="t"/>
          <a:lstStyle/>
          <a:p>
            <a:pPr marL="0" indent="0">
              <a:buNone/>
            </a:pPr>
            <a:r>
              <a:rPr lang="ko-KR" altLang="en-US" sz="1700" b="1" dirty="0">
                <a:solidFill>
                  <a:srgbClr val="1F2A36"/>
                </a:solidFill>
                <a:latin typeface="맑은 고딕" panose="020B0503020000020004" pitchFamily="50" charset="-127"/>
                <a:ea typeface="맑은 고딕" panose="020B0503020000020004" pitchFamily="50" charset="-127"/>
                <a:cs typeface="맑은 고딕" pitchFamily="34" charset="-120"/>
              </a:rPr>
              <a:t>코로나 충격보다 컸다</a:t>
            </a:r>
            <a:endParaRPr lang="ko-KR" altLang="en-US" sz="1700" dirty="0"/>
          </a:p>
        </p:txBody>
      </p:sp>
      <p:sp>
        <p:nvSpPr>
          <p:cNvPr id="12" name="Text 10"/>
          <p:cNvSpPr txBox="1"/>
          <p:nvPr/>
        </p:nvSpPr>
        <p:spPr>
          <a:xfrm>
            <a:off x="3665144" y="4023360"/>
            <a:ext cx="2019224" cy="82296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정점 167bp vs 코로나 정점 76bp</a:t>
            </a:r>
            <a:endParaRPr lang="ko-KR" altLang="en-US" sz="1250" dirty="0"/>
          </a:p>
        </p:txBody>
      </p:sp>
      <p:sp>
        <p:nvSpPr>
          <p:cNvPr id="13" name="Shape 11"/>
          <p:cNvSpPr/>
          <p:nvPr/>
        </p:nvSpPr>
        <p:spPr>
          <a:xfrm>
            <a:off x="6233008" y="1417320"/>
            <a:ext cx="2567864" cy="3566160"/>
          </a:xfrm>
          <a:prstGeom prst="roundRect">
            <a:avLst>
              <a:gd name="adj" fmla="val 2849"/>
            </a:avLst>
          </a:prstGeom>
          <a:solidFill>
            <a:srgbClr val="F6F8FA"/>
          </a:solidFill>
          <a:ln w="9525">
            <a:solidFill>
              <a:srgbClr val="D5DEE7"/>
            </a:solidFill>
            <a:prstDash val="solid"/>
          </a:ln>
        </p:spPr>
      </p:sp>
      <p:sp>
        <p:nvSpPr>
          <p:cNvPr id="14" name="Shape 12"/>
          <p:cNvSpPr/>
          <p:nvPr/>
        </p:nvSpPr>
        <p:spPr>
          <a:xfrm>
            <a:off x="6553048" y="1783080"/>
            <a:ext cx="310896" cy="310896"/>
          </a:xfrm>
          <a:prstGeom prst="ellipse">
            <a:avLst/>
          </a:prstGeom>
          <a:solidFill>
            <a:srgbClr val="E0A020"/>
          </a:solidFill>
          <a:ln w="12700">
            <a:solidFill>
              <a:srgbClr val="E0A020"/>
            </a:solidFill>
            <a:prstDash val="solid"/>
          </a:ln>
        </p:spPr>
      </p:sp>
      <p:sp>
        <p:nvSpPr>
          <p:cNvPr id="15" name="Text 13"/>
          <p:cNvSpPr txBox="1"/>
          <p:nvPr/>
        </p:nvSpPr>
        <p:spPr>
          <a:xfrm>
            <a:off x="6507328" y="2286000"/>
            <a:ext cx="2110664" cy="822960"/>
          </a:xfrm>
          <a:prstGeom prst="rect">
            <a:avLst/>
          </a:prstGeom>
          <a:noFill/>
          <a:ln/>
        </p:spPr>
        <p:txBody>
          <a:bodyPr wrap="square" lIns="0" tIns="0" rIns="0" bIns="0" rtlCol="0" anchor="t">
            <a:normAutofit/>
          </a:bodyPr>
          <a:lstStyle/>
          <a:p>
            <a:pPr marL="0" indent="0">
              <a:buNone/>
            </a:pPr>
            <a:r>
              <a:rPr lang="ko-KR" altLang="en-US" sz="3400" b="1" dirty="0">
                <a:solidFill>
                  <a:srgbClr val="14304A"/>
                </a:solidFill>
                <a:latin typeface="맑은 고딕" panose="020B0503020000020004" pitchFamily="50" charset="-127"/>
                <a:ea typeface="맑은 고딕" panose="020B0503020000020004" pitchFamily="50" charset="-127"/>
                <a:cs typeface="맑은 고딕" pitchFamily="34" charset="-120"/>
              </a:rPr>
              <a:t>+47bp</a:t>
            </a:r>
            <a:endParaRPr lang="ko-KR" altLang="en-US" sz="3400" dirty="0"/>
          </a:p>
        </p:txBody>
      </p:sp>
      <p:sp>
        <p:nvSpPr>
          <p:cNvPr id="16" name="Text 14"/>
          <p:cNvSpPr txBox="1"/>
          <p:nvPr/>
        </p:nvSpPr>
        <p:spPr>
          <a:xfrm>
            <a:off x="6507328" y="3246120"/>
            <a:ext cx="2110664" cy="731520"/>
          </a:xfrm>
          <a:prstGeom prst="rect">
            <a:avLst/>
          </a:prstGeom>
          <a:noFill/>
          <a:ln/>
        </p:spPr>
        <p:txBody>
          <a:bodyPr wrap="square" lIns="0" tIns="0" rIns="0" bIns="0" rtlCol="0" anchor="t"/>
          <a:lstStyle/>
          <a:p>
            <a:pPr marL="0" indent="0">
              <a:buNone/>
            </a:pPr>
            <a:r>
              <a:rPr lang="ko-KR" altLang="en-US" sz="1700" b="1" dirty="0">
                <a:solidFill>
                  <a:srgbClr val="1F2A36"/>
                </a:solidFill>
                <a:latin typeface="맑은 고딕" panose="020B0503020000020004" pitchFamily="50" charset="-127"/>
                <a:ea typeface="맑은 고딕" panose="020B0503020000020004" pitchFamily="50" charset="-127"/>
                <a:cs typeface="맑은 고딕" pitchFamily="34" charset="-120"/>
              </a:rPr>
              <a:t>금리가 내려도 벌어졌다</a:t>
            </a:r>
            <a:endParaRPr lang="ko-KR" altLang="en-US" sz="1700" dirty="0"/>
          </a:p>
        </p:txBody>
      </p:sp>
      <p:sp>
        <p:nvSpPr>
          <p:cNvPr id="17" name="Text 15"/>
          <p:cNvSpPr txBox="1"/>
          <p:nvPr/>
        </p:nvSpPr>
        <p:spPr>
          <a:xfrm>
            <a:off x="6507328" y="4023360"/>
            <a:ext cx="2019224" cy="82296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22.10→12월 회사채 -14bp, 국고채 -61bp</a:t>
            </a:r>
            <a:endParaRPr lang="ko-KR" altLang="en-US" sz="1250" dirty="0"/>
          </a:p>
        </p:txBody>
      </p:sp>
      <p:sp>
        <p:nvSpPr>
          <p:cNvPr id="18" name="Shape 16"/>
          <p:cNvSpPr/>
          <p:nvPr/>
        </p:nvSpPr>
        <p:spPr>
          <a:xfrm>
            <a:off x="9075191" y="1417320"/>
            <a:ext cx="2567864" cy="3566160"/>
          </a:xfrm>
          <a:prstGeom prst="roundRect">
            <a:avLst>
              <a:gd name="adj" fmla="val 2849"/>
            </a:avLst>
          </a:prstGeom>
          <a:solidFill>
            <a:srgbClr val="F6F8FA"/>
          </a:solidFill>
          <a:ln w="9525">
            <a:solidFill>
              <a:srgbClr val="D5DEE7"/>
            </a:solidFill>
            <a:prstDash val="solid"/>
          </a:ln>
        </p:spPr>
      </p:sp>
      <p:sp>
        <p:nvSpPr>
          <p:cNvPr id="19" name="Shape 17"/>
          <p:cNvSpPr/>
          <p:nvPr/>
        </p:nvSpPr>
        <p:spPr>
          <a:xfrm>
            <a:off x="9395231" y="1783080"/>
            <a:ext cx="310896" cy="310896"/>
          </a:xfrm>
          <a:prstGeom prst="ellipse">
            <a:avLst/>
          </a:prstGeom>
          <a:solidFill>
            <a:srgbClr val="2E9E57"/>
          </a:solidFill>
          <a:ln w="12700">
            <a:solidFill>
              <a:srgbClr val="2E9E57"/>
            </a:solidFill>
            <a:prstDash val="solid"/>
          </a:ln>
        </p:spPr>
      </p:sp>
      <p:sp>
        <p:nvSpPr>
          <p:cNvPr id="20" name="Text 18"/>
          <p:cNvSpPr txBox="1"/>
          <p:nvPr/>
        </p:nvSpPr>
        <p:spPr>
          <a:xfrm>
            <a:off x="9349511" y="2286000"/>
            <a:ext cx="2110664" cy="822960"/>
          </a:xfrm>
          <a:prstGeom prst="rect">
            <a:avLst/>
          </a:prstGeom>
          <a:noFill/>
          <a:ln/>
        </p:spPr>
        <p:txBody>
          <a:bodyPr wrap="square" lIns="0" tIns="0" rIns="0" bIns="0" rtlCol="0" anchor="t">
            <a:normAutofit/>
          </a:bodyPr>
          <a:lstStyle/>
          <a:p>
            <a:pPr marL="0" indent="0">
              <a:buNone/>
            </a:pPr>
            <a:r>
              <a:rPr lang="ko-KR" altLang="en-US" sz="3400" b="1" dirty="0">
                <a:solidFill>
                  <a:srgbClr val="14304A"/>
                </a:solidFill>
                <a:latin typeface="맑은 고딕" panose="020B0503020000020004" pitchFamily="50" charset="-127"/>
                <a:ea typeface="맑은 고딕" panose="020B0503020000020004" pitchFamily="50" charset="-127"/>
                <a:cs typeface="맑은 고딕" pitchFamily="34" charset="-120"/>
              </a:rPr>
              <a:t>+221bp</a:t>
            </a:r>
            <a:endParaRPr lang="ko-KR" altLang="en-US" sz="3400" dirty="0"/>
          </a:p>
        </p:txBody>
      </p:sp>
      <p:sp>
        <p:nvSpPr>
          <p:cNvPr id="21" name="Text 19"/>
          <p:cNvSpPr txBox="1"/>
          <p:nvPr/>
        </p:nvSpPr>
        <p:spPr>
          <a:xfrm>
            <a:off x="9349511" y="3246120"/>
            <a:ext cx="2110664" cy="731520"/>
          </a:xfrm>
          <a:prstGeom prst="rect">
            <a:avLst/>
          </a:prstGeom>
          <a:noFill/>
          <a:ln/>
        </p:spPr>
        <p:txBody>
          <a:bodyPr wrap="square" lIns="0" tIns="0" rIns="0" bIns="0" rtlCol="0" anchor="t"/>
          <a:lstStyle/>
          <a:p>
            <a:pPr marL="0" indent="0">
              <a:buNone/>
            </a:pPr>
            <a:r>
              <a:rPr lang="ko-KR" altLang="en-US" sz="1700" b="1" dirty="0">
                <a:solidFill>
                  <a:srgbClr val="1F2A36"/>
                </a:solidFill>
                <a:latin typeface="맑은 고딕" panose="020B0503020000020004" pitchFamily="50" charset="-127"/>
                <a:ea typeface="맑은 고딕" panose="020B0503020000020004" pitchFamily="50" charset="-127"/>
                <a:cs typeface="맑은 고딕" pitchFamily="34" charset="-120"/>
              </a:rPr>
              <a:t>경색 때 샀다면</a:t>
            </a:r>
            <a:endParaRPr lang="ko-KR" altLang="en-US" sz="1700" dirty="0"/>
          </a:p>
        </p:txBody>
      </p:sp>
      <p:sp>
        <p:nvSpPr>
          <p:cNvPr id="22" name="Text 20"/>
          <p:cNvSpPr txBox="1"/>
          <p:nvPr/>
        </p:nvSpPr>
        <p:spPr>
          <a:xfrm>
            <a:off x="9349511" y="4023360"/>
            <a:ext cx="2019224" cy="82296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6개월 보유 시 국고채 대비 초과수익, 평온 매수는 -58bp</a:t>
            </a:r>
            <a:endParaRPr lang="ko-KR" altLang="en-US" sz="1250" dirty="0"/>
          </a:p>
        </p:txBody>
      </p:sp>
      <p:sp>
        <p:nvSpPr>
          <p:cNvPr id="23" name="Text 21"/>
          <p:cNvSpPr txBox="1"/>
          <p:nvPr/>
        </p:nvSpPr>
        <p:spPr>
          <a:xfrm>
            <a:off x="548640" y="5303520"/>
            <a:ext cx="11094415" cy="365760"/>
          </a:xfrm>
          <a:prstGeom prst="rect">
            <a:avLst/>
          </a:prstGeom>
          <a:noFill/>
          <a:ln/>
        </p:spPr>
        <p:txBody>
          <a:bodyPr wrap="square" lIns="0" tIns="0" rIns="0" bIns="0" rtlCol="0" anchor="t"/>
          <a:lstStyle/>
          <a:p>
            <a:pPr marL="0" indent="0">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신용스프레드 = 회사채 AA− 3년 금리 − 국고채 3년 금리.  기업이 신용위험 때문에 더 내는 이자이며 1bp = 0.01%p.</a:t>
            </a:r>
            <a:endParaRPr lang="ko-KR" altLang="en-US" sz="1300" dirty="0"/>
          </a:p>
        </p:txBody>
      </p:sp>
      <p:sp>
        <p:nvSpPr>
          <p:cNvPr id="24" name="Text 22"/>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출처: e-나라지표 시장금리 추이(1073) 월평균, 한국은행 ECOS Open API 일별 금리. 분석 코드 source/legoland_analysis.py</a:t>
            </a:r>
            <a:endParaRPr lang="ko-KR" altLang="en-US" sz="900" dirty="0"/>
          </a:p>
        </p:txBody>
      </p:sp>
      <p:sp>
        <p:nvSpPr>
          <p:cNvPr id="25" name="Text 23"/>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2</a:t>
            </a:r>
            <a:endParaRPr lang="ko-KR" alt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프로젝트 핵심 질문과 답</a:t>
            </a:r>
            <a:endParaRPr lang="ko-KR" altLang="en-US" sz="2800" dirty="0"/>
          </a:p>
        </p:txBody>
      </p:sp>
      <p:sp>
        <p:nvSpPr>
          <p:cNvPr id="3" name="Shape 1"/>
          <p:cNvSpPr/>
          <p:nvPr/>
        </p:nvSpPr>
        <p:spPr>
          <a:xfrm>
            <a:off x="548640" y="1435608"/>
            <a:ext cx="502920" cy="502920"/>
          </a:xfrm>
          <a:prstGeom prst="ellipse">
            <a:avLst/>
          </a:prstGeom>
          <a:solidFill>
            <a:srgbClr val="14304A"/>
          </a:solidFill>
          <a:ln w="12700">
            <a:solidFill>
              <a:srgbClr val="14304A"/>
            </a:solidFill>
            <a:prstDash val="solid"/>
          </a:ln>
        </p:spPr>
      </p:sp>
      <p:sp>
        <p:nvSpPr>
          <p:cNvPr id="4" name="Text 2"/>
          <p:cNvSpPr txBox="1"/>
          <p:nvPr/>
        </p:nvSpPr>
        <p:spPr>
          <a:xfrm>
            <a:off x="548640" y="1435608"/>
            <a:ext cx="502920" cy="50292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1</a:t>
            </a:r>
            <a:endParaRPr lang="ko-KR" altLang="en-US" sz="1300" dirty="0"/>
          </a:p>
        </p:txBody>
      </p:sp>
      <p:sp>
        <p:nvSpPr>
          <p:cNvPr id="5" name="Text 3"/>
          <p:cNvSpPr txBox="1"/>
          <p:nvPr/>
        </p:nvSpPr>
        <p:spPr>
          <a:xfrm>
            <a:off x="1280160" y="1325880"/>
            <a:ext cx="2743200" cy="731520"/>
          </a:xfrm>
          <a:prstGeom prst="rect">
            <a:avLst/>
          </a:prstGeom>
          <a:noFill/>
          <a:ln/>
        </p:spPr>
        <p:txBody>
          <a:bodyPr wrap="square" lIns="0" tIns="0" rIns="0" bIns="0" rtlCol="0" anchor="ctr"/>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어떤 금융 데이터를</a:t>
            </a:r>
            <a:endParaRPr lang="ko-KR" altLang="en-US" sz="1600" dirty="0"/>
          </a:p>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수집했나?</a:t>
            </a:r>
            <a:endParaRPr lang="ko-KR" altLang="en-US" sz="1600" dirty="0"/>
          </a:p>
        </p:txBody>
      </p:sp>
      <p:sp>
        <p:nvSpPr>
          <p:cNvPr id="6" name="Shape 4"/>
          <p:cNvSpPr/>
          <p:nvPr/>
        </p:nvSpPr>
        <p:spPr>
          <a:xfrm>
            <a:off x="4114800" y="1325880"/>
            <a:ext cx="7528255" cy="731520"/>
          </a:xfrm>
          <a:prstGeom prst="roundRect">
            <a:avLst>
              <a:gd name="adj" fmla="val 10000"/>
            </a:avLst>
          </a:prstGeom>
          <a:solidFill>
            <a:srgbClr val="F6F8FA"/>
          </a:solidFill>
          <a:ln w="9525">
            <a:solidFill>
              <a:srgbClr val="D5DEE7"/>
            </a:solidFill>
            <a:prstDash val="solid"/>
          </a:ln>
        </p:spPr>
      </p:sp>
      <p:sp>
        <p:nvSpPr>
          <p:cNvPr id="7" name="Text 5"/>
          <p:cNvSpPr txBox="1"/>
          <p:nvPr/>
        </p:nvSpPr>
        <p:spPr>
          <a:xfrm>
            <a:off x="4297680" y="1325880"/>
            <a:ext cx="7162495" cy="731520"/>
          </a:xfrm>
          <a:prstGeom prst="rect">
            <a:avLst/>
          </a:prstGeom>
          <a:noFill/>
          <a:ln/>
        </p:spPr>
        <p:txBody>
          <a:bodyPr wrap="square" lIns="0" tIns="0" rIns="0" bIns="0" rtlCol="0" anchor="ctr"/>
          <a:lstStyle/>
          <a:p>
            <a:pPr marL="0" indent="0">
              <a:buNone/>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e-나라지표 웹페이지를 크롤링해 국고채·회사채(AA−)·CD 월별 금리 60개월, 한국은행 ECOS API로 CP·BBB−·기준금리를 포함한 일별 금리 370영업일</a:t>
            </a:r>
            <a:endParaRPr lang="ko-KR" altLang="en-US" sz="1400" dirty="0"/>
          </a:p>
        </p:txBody>
      </p:sp>
      <p:sp>
        <p:nvSpPr>
          <p:cNvPr id="8" name="Shape 6"/>
          <p:cNvSpPr/>
          <p:nvPr/>
        </p:nvSpPr>
        <p:spPr>
          <a:xfrm>
            <a:off x="548640" y="2350008"/>
            <a:ext cx="502920" cy="502920"/>
          </a:xfrm>
          <a:prstGeom prst="ellipse">
            <a:avLst/>
          </a:prstGeom>
          <a:solidFill>
            <a:srgbClr val="14304A"/>
          </a:solidFill>
          <a:ln w="12700">
            <a:solidFill>
              <a:srgbClr val="14304A"/>
            </a:solidFill>
            <a:prstDash val="solid"/>
          </a:ln>
        </p:spPr>
      </p:sp>
      <p:sp>
        <p:nvSpPr>
          <p:cNvPr id="9" name="Text 7"/>
          <p:cNvSpPr txBox="1"/>
          <p:nvPr/>
        </p:nvSpPr>
        <p:spPr>
          <a:xfrm>
            <a:off x="548640" y="2350008"/>
            <a:ext cx="502920" cy="50292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2</a:t>
            </a:r>
            <a:endParaRPr lang="ko-KR" altLang="en-US" sz="1300" dirty="0"/>
          </a:p>
        </p:txBody>
      </p:sp>
      <p:sp>
        <p:nvSpPr>
          <p:cNvPr id="10" name="Text 8"/>
          <p:cNvSpPr txBox="1"/>
          <p:nvPr/>
        </p:nvSpPr>
        <p:spPr>
          <a:xfrm>
            <a:off x="1280160" y="2240280"/>
            <a:ext cx="2743200" cy="731520"/>
          </a:xfrm>
          <a:prstGeom prst="rect">
            <a:avLst/>
          </a:prstGeom>
          <a:noFill/>
          <a:ln/>
        </p:spPr>
        <p:txBody>
          <a:bodyPr wrap="square" lIns="0" tIns="0" rIns="0" bIns="0" rtlCol="0" anchor="ctr"/>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왜 이 데이터인가?</a:t>
            </a:r>
            <a:endParaRPr lang="ko-KR" altLang="en-US" sz="1600" dirty="0"/>
          </a:p>
        </p:txBody>
      </p:sp>
      <p:sp>
        <p:nvSpPr>
          <p:cNvPr id="11" name="Shape 9"/>
          <p:cNvSpPr/>
          <p:nvPr/>
        </p:nvSpPr>
        <p:spPr>
          <a:xfrm>
            <a:off x="4114800" y="2240280"/>
            <a:ext cx="7528255" cy="731520"/>
          </a:xfrm>
          <a:prstGeom prst="roundRect">
            <a:avLst>
              <a:gd name="adj" fmla="val 10000"/>
            </a:avLst>
          </a:prstGeom>
          <a:solidFill>
            <a:srgbClr val="F6F8FA"/>
          </a:solidFill>
          <a:ln w="9525">
            <a:solidFill>
              <a:srgbClr val="D5DEE7"/>
            </a:solidFill>
            <a:prstDash val="solid"/>
          </a:ln>
        </p:spPr>
      </p:sp>
      <p:sp>
        <p:nvSpPr>
          <p:cNvPr id="12" name="Text 10"/>
          <p:cNvSpPr txBox="1"/>
          <p:nvPr/>
        </p:nvSpPr>
        <p:spPr>
          <a:xfrm>
            <a:off x="4297680" y="2240280"/>
            <a:ext cx="7162495" cy="731520"/>
          </a:xfrm>
          <a:prstGeom prst="rect">
            <a:avLst/>
          </a:prstGeom>
          <a:noFill/>
          <a:ln/>
        </p:spPr>
        <p:txBody>
          <a:bodyPr wrap="square" lIns="0" tIns="0" rIns="0" bIns="0" rtlCol="0" anchor="ctr"/>
          <a:lstStyle/>
          <a:p>
            <a:pPr marL="0" indent="0">
              <a:buNone/>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지자체 보증 채무 하나가 우량 기업의 자금 조달까지 막은 사건. 신용위험이 번지는 과정을 금리 차이(스프레드)로 볼 수 있다</a:t>
            </a:r>
            <a:endParaRPr lang="ko-KR" altLang="en-US" sz="1400" dirty="0"/>
          </a:p>
        </p:txBody>
      </p:sp>
      <p:sp>
        <p:nvSpPr>
          <p:cNvPr id="13" name="Shape 11"/>
          <p:cNvSpPr/>
          <p:nvPr/>
        </p:nvSpPr>
        <p:spPr>
          <a:xfrm>
            <a:off x="548640" y="3264408"/>
            <a:ext cx="502920" cy="502920"/>
          </a:xfrm>
          <a:prstGeom prst="ellipse">
            <a:avLst/>
          </a:prstGeom>
          <a:solidFill>
            <a:srgbClr val="14304A"/>
          </a:solidFill>
          <a:ln w="12700">
            <a:solidFill>
              <a:srgbClr val="14304A"/>
            </a:solidFill>
            <a:prstDash val="solid"/>
          </a:ln>
        </p:spPr>
      </p:sp>
      <p:sp>
        <p:nvSpPr>
          <p:cNvPr id="14" name="Text 12"/>
          <p:cNvSpPr txBox="1"/>
          <p:nvPr/>
        </p:nvSpPr>
        <p:spPr>
          <a:xfrm>
            <a:off x="548640" y="3264408"/>
            <a:ext cx="502920" cy="50292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3</a:t>
            </a:r>
            <a:endParaRPr lang="ko-KR" altLang="en-US" sz="1300" dirty="0"/>
          </a:p>
        </p:txBody>
      </p:sp>
      <p:sp>
        <p:nvSpPr>
          <p:cNvPr id="15" name="Text 13"/>
          <p:cNvSpPr txBox="1"/>
          <p:nvPr/>
        </p:nvSpPr>
        <p:spPr>
          <a:xfrm>
            <a:off x="1280160" y="3154680"/>
            <a:ext cx="2743200" cy="731520"/>
          </a:xfrm>
          <a:prstGeom prst="rect">
            <a:avLst/>
          </a:prstGeom>
          <a:noFill/>
          <a:ln/>
        </p:spPr>
        <p:txBody>
          <a:bodyPr wrap="square" lIns="0" tIns="0" rIns="0" bIns="0" rtlCol="0" anchor="ctr"/>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어떤 항목을 봤나?</a:t>
            </a:r>
            <a:endParaRPr lang="ko-KR" altLang="en-US" sz="1600" dirty="0"/>
          </a:p>
        </p:txBody>
      </p:sp>
      <p:sp>
        <p:nvSpPr>
          <p:cNvPr id="16" name="Shape 14"/>
          <p:cNvSpPr/>
          <p:nvPr/>
        </p:nvSpPr>
        <p:spPr>
          <a:xfrm>
            <a:off x="4114800" y="3154680"/>
            <a:ext cx="7528255" cy="731520"/>
          </a:xfrm>
          <a:prstGeom prst="roundRect">
            <a:avLst>
              <a:gd name="adj" fmla="val 10000"/>
            </a:avLst>
          </a:prstGeom>
          <a:solidFill>
            <a:srgbClr val="F6F8FA"/>
          </a:solidFill>
          <a:ln w="9525">
            <a:solidFill>
              <a:srgbClr val="D5DEE7"/>
            </a:solidFill>
            <a:prstDash val="solid"/>
          </a:ln>
        </p:spPr>
      </p:sp>
      <p:sp>
        <p:nvSpPr>
          <p:cNvPr id="17" name="Text 15"/>
          <p:cNvSpPr txBox="1"/>
          <p:nvPr/>
        </p:nvSpPr>
        <p:spPr>
          <a:xfrm>
            <a:off x="4297680" y="3154680"/>
            <a:ext cx="7162495" cy="731520"/>
          </a:xfrm>
          <a:prstGeom prst="rect">
            <a:avLst/>
          </a:prstGeom>
          <a:noFill/>
          <a:ln/>
        </p:spPr>
        <p:txBody>
          <a:bodyPr wrap="square" lIns="0" tIns="0" rIns="0" bIns="0" rtlCol="0" anchor="ctr"/>
          <a:lstStyle/>
          <a:p>
            <a:pPr marL="0" indent="0">
              <a:buNone/>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만기를 맞춘 금리 차이: 회사채 AA− − 국고채(3년), CP − CD(91일), 등급별 BBB− 스프레드</a:t>
            </a:r>
            <a:endParaRPr lang="ko-KR" altLang="en-US" sz="1400" dirty="0"/>
          </a:p>
        </p:txBody>
      </p:sp>
      <p:sp>
        <p:nvSpPr>
          <p:cNvPr id="18" name="Shape 16"/>
          <p:cNvSpPr/>
          <p:nvPr/>
        </p:nvSpPr>
        <p:spPr>
          <a:xfrm>
            <a:off x="548640" y="4178808"/>
            <a:ext cx="502920" cy="502920"/>
          </a:xfrm>
          <a:prstGeom prst="ellipse">
            <a:avLst/>
          </a:prstGeom>
          <a:solidFill>
            <a:srgbClr val="14304A"/>
          </a:solidFill>
          <a:ln w="12700">
            <a:solidFill>
              <a:srgbClr val="14304A"/>
            </a:solidFill>
            <a:prstDash val="solid"/>
          </a:ln>
        </p:spPr>
      </p:sp>
      <p:sp>
        <p:nvSpPr>
          <p:cNvPr id="19" name="Text 17"/>
          <p:cNvSpPr txBox="1"/>
          <p:nvPr/>
        </p:nvSpPr>
        <p:spPr>
          <a:xfrm>
            <a:off x="548640" y="4178808"/>
            <a:ext cx="502920" cy="50292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4</a:t>
            </a:r>
            <a:endParaRPr lang="ko-KR" altLang="en-US" sz="1300" dirty="0"/>
          </a:p>
        </p:txBody>
      </p:sp>
      <p:sp>
        <p:nvSpPr>
          <p:cNvPr id="20" name="Text 18"/>
          <p:cNvSpPr txBox="1"/>
          <p:nvPr/>
        </p:nvSpPr>
        <p:spPr>
          <a:xfrm>
            <a:off x="1280160" y="4069080"/>
            <a:ext cx="2743200" cy="731520"/>
          </a:xfrm>
          <a:prstGeom prst="rect">
            <a:avLst/>
          </a:prstGeom>
          <a:noFill/>
          <a:ln/>
        </p:spPr>
        <p:txBody>
          <a:bodyPr wrap="square" lIns="0" tIns="0" rIns="0" bIns="0" rtlCol="0" anchor="ctr"/>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어떤 특징을 찾았나?</a:t>
            </a:r>
            <a:endParaRPr lang="ko-KR" altLang="en-US" sz="1600" dirty="0"/>
          </a:p>
        </p:txBody>
      </p:sp>
      <p:sp>
        <p:nvSpPr>
          <p:cNvPr id="21" name="Shape 19"/>
          <p:cNvSpPr/>
          <p:nvPr/>
        </p:nvSpPr>
        <p:spPr>
          <a:xfrm>
            <a:off x="4114800" y="4069080"/>
            <a:ext cx="7528255" cy="731520"/>
          </a:xfrm>
          <a:prstGeom prst="roundRect">
            <a:avLst>
              <a:gd name="adj" fmla="val 10000"/>
            </a:avLst>
          </a:prstGeom>
          <a:solidFill>
            <a:srgbClr val="F6F8FA"/>
          </a:solidFill>
          <a:ln w="9525">
            <a:solidFill>
              <a:srgbClr val="D5DEE7"/>
            </a:solidFill>
            <a:prstDash val="solid"/>
          </a:ln>
        </p:spPr>
      </p:sp>
      <p:sp>
        <p:nvSpPr>
          <p:cNvPr id="22" name="Text 20"/>
          <p:cNvSpPr txBox="1"/>
          <p:nvPr/>
        </p:nvSpPr>
        <p:spPr>
          <a:xfrm>
            <a:off x="4297680" y="4069080"/>
            <a:ext cx="7162495" cy="731520"/>
          </a:xfrm>
          <a:prstGeom prst="rect">
            <a:avLst/>
          </a:prstGeom>
          <a:noFill/>
          <a:ln/>
        </p:spPr>
        <p:txBody>
          <a:bodyPr wrap="square" lIns="0" tIns="0" rIns="0" bIns="0" rtlCol="0" anchor="ctr"/>
          <a:lstStyle/>
          <a:p>
            <a:pPr marL="0" indent="0">
              <a:buNone/>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발표 다음 날 급변(하루 +7.1bp), 금리 하락 중 스프레드 확대, 단기자금시장은 늦게·크게·오래</a:t>
            </a:r>
            <a:endParaRPr lang="ko-KR" altLang="en-US" sz="1400" dirty="0"/>
          </a:p>
        </p:txBody>
      </p:sp>
      <p:sp>
        <p:nvSpPr>
          <p:cNvPr id="23" name="Shape 21"/>
          <p:cNvSpPr/>
          <p:nvPr/>
        </p:nvSpPr>
        <p:spPr>
          <a:xfrm>
            <a:off x="548640" y="5093208"/>
            <a:ext cx="502920" cy="502920"/>
          </a:xfrm>
          <a:prstGeom prst="ellipse">
            <a:avLst/>
          </a:prstGeom>
          <a:solidFill>
            <a:srgbClr val="C8412E"/>
          </a:solidFill>
          <a:ln w="12700">
            <a:solidFill>
              <a:srgbClr val="C8412E"/>
            </a:solidFill>
            <a:prstDash val="solid"/>
          </a:ln>
        </p:spPr>
      </p:sp>
      <p:sp>
        <p:nvSpPr>
          <p:cNvPr id="24" name="Text 22"/>
          <p:cNvSpPr txBox="1"/>
          <p:nvPr/>
        </p:nvSpPr>
        <p:spPr>
          <a:xfrm>
            <a:off x="548640" y="5093208"/>
            <a:ext cx="502920" cy="50292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5</a:t>
            </a:r>
            <a:endParaRPr lang="ko-KR" altLang="en-US" sz="1300" dirty="0"/>
          </a:p>
        </p:txBody>
      </p:sp>
      <p:sp>
        <p:nvSpPr>
          <p:cNvPr id="25" name="Text 23"/>
          <p:cNvSpPr txBox="1"/>
          <p:nvPr/>
        </p:nvSpPr>
        <p:spPr>
          <a:xfrm>
            <a:off x="1280160" y="4983480"/>
            <a:ext cx="2743200" cy="731520"/>
          </a:xfrm>
          <a:prstGeom prst="rect">
            <a:avLst/>
          </a:prstGeom>
          <a:noFill/>
          <a:ln/>
        </p:spPr>
        <p:txBody>
          <a:bodyPr wrap="square" lIns="0" tIns="0" rIns="0" bIns="0" rtlCol="0" anchor="ctr"/>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어떤 인사이트를 얻었나?</a:t>
            </a:r>
            <a:endParaRPr lang="ko-KR" altLang="en-US" sz="1600" dirty="0"/>
          </a:p>
        </p:txBody>
      </p:sp>
      <p:sp>
        <p:nvSpPr>
          <p:cNvPr id="26" name="Shape 24"/>
          <p:cNvSpPr/>
          <p:nvPr/>
        </p:nvSpPr>
        <p:spPr>
          <a:xfrm>
            <a:off x="4114800" y="4983480"/>
            <a:ext cx="7528255" cy="731520"/>
          </a:xfrm>
          <a:prstGeom prst="roundRect">
            <a:avLst>
              <a:gd name="adj" fmla="val 10000"/>
            </a:avLst>
          </a:prstGeom>
          <a:solidFill>
            <a:srgbClr val="F6F8FA"/>
          </a:solidFill>
          <a:ln w="9525">
            <a:solidFill>
              <a:srgbClr val="D5DEE7"/>
            </a:solidFill>
            <a:prstDash val="solid"/>
          </a:ln>
        </p:spPr>
      </p:sp>
      <p:sp>
        <p:nvSpPr>
          <p:cNvPr id="27" name="Text 25"/>
          <p:cNvSpPr txBox="1"/>
          <p:nvPr/>
        </p:nvSpPr>
        <p:spPr>
          <a:xfrm>
            <a:off x="4297680" y="4983480"/>
            <a:ext cx="7162495" cy="731520"/>
          </a:xfrm>
          <a:prstGeom prst="rect">
            <a:avLst/>
          </a:prstGeom>
          <a:noFill/>
          <a:ln/>
        </p:spPr>
        <p:txBody>
          <a:bodyPr wrap="square" lIns="0" tIns="0" rIns="0" bIns="0" rtlCol="0" anchor="ctr"/>
          <a:lstStyle/>
          <a:p>
            <a:pPr marL="0" indent="0">
              <a:buNone/>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경색기엔 조달 비용이 오르고, 사후적으로 우량채 초과수익이 컸다 → 스프레드 계기판을 보조지표로 제안</a:t>
            </a:r>
            <a:endParaRPr lang="ko-KR" altLang="en-US" sz="1400" dirty="0"/>
          </a:p>
        </p:txBody>
      </p:sp>
      <p:sp>
        <p:nvSpPr>
          <p:cNvPr id="28" name="Text 26"/>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분석 질문 Q1~Q4는 다음 장부터 결과와 함께 제시</a:t>
            </a:r>
            <a:endParaRPr lang="ko-KR" altLang="en-US" sz="900" dirty="0"/>
          </a:p>
        </p:txBody>
      </p:sp>
      <p:sp>
        <p:nvSpPr>
          <p:cNvPr id="29" name="Text 27"/>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3</a:t>
            </a:r>
            <a:endParaRPr lang="ko-KR" alt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수집부터 시각화까지 한 번에 재현되는 파이프라인</a:t>
            </a:r>
            <a:endParaRPr lang="ko-KR" altLang="en-US" sz="2800" dirty="0"/>
          </a:p>
        </p:txBody>
      </p:sp>
      <p:sp>
        <p:nvSpPr>
          <p:cNvPr id="3" name="Shape 1"/>
          <p:cNvSpPr/>
          <p:nvPr/>
        </p:nvSpPr>
        <p:spPr>
          <a:xfrm>
            <a:off x="548640" y="1371600"/>
            <a:ext cx="1325880" cy="1051560"/>
          </a:xfrm>
          <a:prstGeom prst="roundRect">
            <a:avLst>
              <a:gd name="adj" fmla="val 8696"/>
            </a:avLst>
          </a:prstGeom>
          <a:solidFill>
            <a:srgbClr val="EEF2F6"/>
          </a:solidFill>
          <a:ln w="12700">
            <a:solidFill>
              <a:srgbClr val="D5DEE7"/>
            </a:solidFill>
            <a:prstDash val="solid"/>
          </a:ln>
        </p:spPr>
      </p:sp>
      <p:sp>
        <p:nvSpPr>
          <p:cNvPr id="4" name="Text 2"/>
          <p:cNvSpPr txBox="1"/>
          <p:nvPr/>
        </p:nvSpPr>
        <p:spPr>
          <a:xfrm>
            <a:off x="548640" y="1371600"/>
            <a:ext cx="1325880" cy="1051560"/>
          </a:xfrm>
          <a:prstGeom prst="rect">
            <a:avLst/>
          </a:prstGeom>
          <a:noFill/>
          <a:ln/>
        </p:spPr>
        <p:txBody>
          <a:bodyPr wrap="square" lIns="0" tIns="0" rIns="0" bIns="0" rtlCol="0" anchor="ctr"/>
          <a:lstStyle/>
          <a:p>
            <a:pPr marL="0" indent="0" algn="ctr">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웹페이지</a:t>
            </a:r>
            <a:endParaRPr lang="ko-KR" altLang="en-US" sz="1400" dirty="0"/>
          </a:p>
          <a:p>
            <a:pPr marL="0" indent="0" algn="ctr">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요청</a:t>
            </a:r>
            <a:endParaRPr lang="ko-KR" altLang="en-US" sz="1400" dirty="0"/>
          </a:p>
        </p:txBody>
      </p:sp>
      <p:sp>
        <p:nvSpPr>
          <p:cNvPr id="5" name="Shape 3"/>
          <p:cNvSpPr/>
          <p:nvPr/>
        </p:nvSpPr>
        <p:spPr>
          <a:xfrm>
            <a:off x="1929384" y="1783080"/>
            <a:ext cx="192481" cy="228600"/>
          </a:xfrm>
          <a:prstGeom prst="rightArrow">
            <a:avLst/>
          </a:prstGeom>
          <a:solidFill>
            <a:srgbClr val="5B6B7A"/>
          </a:solidFill>
          <a:ln w="12700">
            <a:solidFill>
              <a:srgbClr val="5B6B7A"/>
            </a:solidFill>
            <a:prstDash val="solid"/>
          </a:ln>
        </p:spPr>
      </p:sp>
      <p:sp>
        <p:nvSpPr>
          <p:cNvPr id="6" name="Shape 4"/>
          <p:cNvSpPr/>
          <p:nvPr/>
        </p:nvSpPr>
        <p:spPr>
          <a:xfrm>
            <a:off x="2176729" y="1371600"/>
            <a:ext cx="1325880" cy="1051560"/>
          </a:xfrm>
          <a:prstGeom prst="roundRect">
            <a:avLst>
              <a:gd name="adj" fmla="val 8696"/>
            </a:avLst>
          </a:prstGeom>
          <a:solidFill>
            <a:srgbClr val="14304A"/>
          </a:solidFill>
          <a:ln w="12700">
            <a:solidFill>
              <a:srgbClr val="14304A"/>
            </a:solidFill>
            <a:prstDash val="solid"/>
          </a:ln>
        </p:spPr>
      </p:sp>
      <p:sp>
        <p:nvSpPr>
          <p:cNvPr id="7" name="Text 5"/>
          <p:cNvSpPr txBox="1"/>
          <p:nvPr/>
        </p:nvSpPr>
        <p:spPr>
          <a:xfrm>
            <a:off x="2176729" y="1371600"/>
            <a:ext cx="1325880" cy="1051560"/>
          </a:xfrm>
          <a:prstGeom prst="rect">
            <a:avLst/>
          </a:prstGeom>
          <a:noFill/>
          <a:ln/>
        </p:spPr>
        <p:txBody>
          <a:bodyPr wrap="square" lIns="0" tIns="0" rIns="0" bIns="0" rtlCol="0" anchor="ctr"/>
          <a:lstStyle/>
          <a:p>
            <a:pPr marL="0" indent="0" algn="ctr">
              <a:buNone/>
            </a:pPr>
            <a:r>
              <a:rPr lang="ko-KR" altLang="en-US" sz="1400" b="1" dirty="0">
                <a:solidFill>
                  <a:srgbClr val="FFFFFF"/>
                </a:solidFill>
                <a:latin typeface="맑은 고딕" panose="020B0503020000020004" pitchFamily="50" charset="-127"/>
                <a:ea typeface="맑은 고딕" panose="020B0503020000020004" pitchFamily="50" charset="-127"/>
                <a:cs typeface="맑은 고딕" pitchFamily="34" charset="-120"/>
              </a:rPr>
              <a:t>HTML</a:t>
            </a:r>
            <a:endParaRPr lang="ko-KR" altLang="en-US" sz="1400" dirty="0"/>
          </a:p>
          <a:p>
            <a:pPr marL="0" indent="0" algn="ctr">
              <a:buNone/>
            </a:pPr>
            <a:r>
              <a:rPr lang="ko-KR" altLang="en-US" sz="1400" b="1" dirty="0">
                <a:solidFill>
                  <a:srgbClr val="FFFFFF"/>
                </a:solidFill>
                <a:latin typeface="맑은 고딕" panose="020B0503020000020004" pitchFamily="50" charset="-127"/>
                <a:ea typeface="맑은 고딕" panose="020B0503020000020004" pitchFamily="50" charset="-127"/>
                <a:cs typeface="맑은 고딕" pitchFamily="34" charset="-120"/>
              </a:rPr>
              <a:t>구조 분석</a:t>
            </a:r>
            <a:endParaRPr lang="ko-KR" altLang="en-US" sz="1400" dirty="0"/>
          </a:p>
        </p:txBody>
      </p:sp>
      <p:sp>
        <p:nvSpPr>
          <p:cNvPr id="8" name="Shape 6"/>
          <p:cNvSpPr/>
          <p:nvPr/>
        </p:nvSpPr>
        <p:spPr>
          <a:xfrm>
            <a:off x="3557473" y="1783080"/>
            <a:ext cx="192481" cy="228600"/>
          </a:xfrm>
          <a:prstGeom prst="rightArrow">
            <a:avLst/>
          </a:prstGeom>
          <a:solidFill>
            <a:srgbClr val="5B6B7A"/>
          </a:solidFill>
          <a:ln w="12700">
            <a:solidFill>
              <a:srgbClr val="5B6B7A"/>
            </a:solidFill>
            <a:prstDash val="solid"/>
          </a:ln>
        </p:spPr>
      </p:sp>
      <p:sp>
        <p:nvSpPr>
          <p:cNvPr id="9" name="Shape 7"/>
          <p:cNvSpPr/>
          <p:nvPr/>
        </p:nvSpPr>
        <p:spPr>
          <a:xfrm>
            <a:off x="3804818" y="1371600"/>
            <a:ext cx="1325880" cy="1051560"/>
          </a:xfrm>
          <a:prstGeom prst="roundRect">
            <a:avLst>
              <a:gd name="adj" fmla="val 8696"/>
            </a:avLst>
          </a:prstGeom>
          <a:solidFill>
            <a:srgbClr val="14304A"/>
          </a:solidFill>
          <a:ln w="12700">
            <a:solidFill>
              <a:srgbClr val="14304A"/>
            </a:solidFill>
            <a:prstDash val="solid"/>
          </a:ln>
        </p:spPr>
      </p:sp>
      <p:sp>
        <p:nvSpPr>
          <p:cNvPr id="10" name="Text 8"/>
          <p:cNvSpPr txBox="1"/>
          <p:nvPr/>
        </p:nvSpPr>
        <p:spPr>
          <a:xfrm>
            <a:off x="3804818" y="1371600"/>
            <a:ext cx="1325880" cy="1051560"/>
          </a:xfrm>
          <a:prstGeom prst="rect">
            <a:avLst/>
          </a:prstGeom>
          <a:noFill/>
          <a:ln/>
        </p:spPr>
        <p:txBody>
          <a:bodyPr wrap="square" lIns="0" tIns="0" rIns="0" bIns="0" rtlCol="0" anchor="ctr"/>
          <a:lstStyle/>
          <a:p>
            <a:pPr marL="0" indent="0" algn="ctr">
              <a:buNone/>
            </a:pPr>
            <a:r>
              <a:rPr lang="ko-KR" altLang="en-US" sz="1400" b="1" dirty="0">
                <a:solidFill>
                  <a:srgbClr val="FFFFFF"/>
                </a:solidFill>
                <a:latin typeface="맑은 고딕" panose="020B0503020000020004" pitchFamily="50" charset="-127"/>
                <a:ea typeface="맑은 고딕" panose="020B0503020000020004" pitchFamily="50" charset="-127"/>
                <a:cs typeface="맑은 고딕" pitchFamily="34" charset="-120"/>
              </a:rPr>
              <a:t>Beautiful</a:t>
            </a:r>
            <a:endParaRPr lang="ko-KR" altLang="en-US" sz="1400" dirty="0"/>
          </a:p>
          <a:p>
            <a:pPr marL="0" indent="0" algn="ctr">
              <a:buNone/>
            </a:pPr>
            <a:r>
              <a:rPr lang="ko-KR" altLang="en-US" sz="1400" b="1" dirty="0">
                <a:solidFill>
                  <a:srgbClr val="FFFFFF"/>
                </a:solidFill>
                <a:latin typeface="맑은 고딕" panose="020B0503020000020004" pitchFamily="50" charset="-127"/>
                <a:ea typeface="맑은 고딕" panose="020B0503020000020004" pitchFamily="50" charset="-127"/>
                <a:cs typeface="맑은 고딕" pitchFamily="34" charset="-120"/>
              </a:rPr>
              <a:t>Soup 추출</a:t>
            </a:r>
            <a:endParaRPr lang="ko-KR" altLang="en-US" sz="1400" dirty="0"/>
          </a:p>
        </p:txBody>
      </p:sp>
      <p:sp>
        <p:nvSpPr>
          <p:cNvPr id="11" name="Shape 9"/>
          <p:cNvSpPr/>
          <p:nvPr/>
        </p:nvSpPr>
        <p:spPr>
          <a:xfrm>
            <a:off x="5185562" y="1783080"/>
            <a:ext cx="192481" cy="228600"/>
          </a:xfrm>
          <a:prstGeom prst="rightArrow">
            <a:avLst/>
          </a:prstGeom>
          <a:solidFill>
            <a:srgbClr val="5B6B7A"/>
          </a:solidFill>
          <a:ln w="12700">
            <a:solidFill>
              <a:srgbClr val="5B6B7A"/>
            </a:solidFill>
            <a:prstDash val="solid"/>
          </a:ln>
        </p:spPr>
      </p:sp>
      <p:sp>
        <p:nvSpPr>
          <p:cNvPr id="12" name="Shape 10"/>
          <p:cNvSpPr/>
          <p:nvPr/>
        </p:nvSpPr>
        <p:spPr>
          <a:xfrm>
            <a:off x="5432908" y="1371600"/>
            <a:ext cx="1325880" cy="1051560"/>
          </a:xfrm>
          <a:prstGeom prst="roundRect">
            <a:avLst>
              <a:gd name="adj" fmla="val 8696"/>
            </a:avLst>
          </a:prstGeom>
          <a:solidFill>
            <a:srgbClr val="EEF2F6"/>
          </a:solidFill>
          <a:ln w="12700">
            <a:solidFill>
              <a:srgbClr val="D5DEE7"/>
            </a:solidFill>
            <a:prstDash val="solid"/>
          </a:ln>
        </p:spPr>
      </p:sp>
      <p:sp>
        <p:nvSpPr>
          <p:cNvPr id="13" name="Text 11"/>
          <p:cNvSpPr txBox="1"/>
          <p:nvPr/>
        </p:nvSpPr>
        <p:spPr>
          <a:xfrm>
            <a:off x="5432908" y="1371600"/>
            <a:ext cx="1325880" cy="1051560"/>
          </a:xfrm>
          <a:prstGeom prst="rect">
            <a:avLst/>
          </a:prstGeom>
          <a:noFill/>
          <a:ln/>
        </p:spPr>
        <p:txBody>
          <a:bodyPr wrap="square" lIns="0" tIns="0" rIns="0" bIns="0" rtlCol="0" anchor="ctr"/>
          <a:lstStyle/>
          <a:p>
            <a:pPr marL="0" indent="0" algn="ctr">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Pandas</a:t>
            </a:r>
            <a:endParaRPr lang="ko-KR" altLang="en-US" sz="1400" dirty="0"/>
          </a:p>
          <a:p>
            <a:pPr marL="0" indent="0" algn="ctr">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전처리</a:t>
            </a:r>
            <a:endParaRPr lang="ko-KR" altLang="en-US" sz="1400" dirty="0"/>
          </a:p>
        </p:txBody>
      </p:sp>
      <p:sp>
        <p:nvSpPr>
          <p:cNvPr id="14" name="Shape 12"/>
          <p:cNvSpPr/>
          <p:nvPr/>
        </p:nvSpPr>
        <p:spPr>
          <a:xfrm>
            <a:off x="6813652" y="1783080"/>
            <a:ext cx="192481" cy="228600"/>
          </a:xfrm>
          <a:prstGeom prst="rightArrow">
            <a:avLst/>
          </a:prstGeom>
          <a:solidFill>
            <a:srgbClr val="5B6B7A"/>
          </a:solidFill>
          <a:ln w="12700">
            <a:solidFill>
              <a:srgbClr val="5B6B7A"/>
            </a:solidFill>
            <a:prstDash val="solid"/>
          </a:ln>
        </p:spPr>
      </p:sp>
      <p:sp>
        <p:nvSpPr>
          <p:cNvPr id="15" name="Shape 13"/>
          <p:cNvSpPr/>
          <p:nvPr/>
        </p:nvSpPr>
        <p:spPr>
          <a:xfrm>
            <a:off x="7060997" y="1371600"/>
            <a:ext cx="1325880" cy="1051560"/>
          </a:xfrm>
          <a:prstGeom prst="roundRect">
            <a:avLst>
              <a:gd name="adj" fmla="val 8696"/>
            </a:avLst>
          </a:prstGeom>
          <a:solidFill>
            <a:srgbClr val="EEF2F6"/>
          </a:solidFill>
          <a:ln w="12700">
            <a:solidFill>
              <a:srgbClr val="D5DEE7"/>
            </a:solidFill>
            <a:prstDash val="solid"/>
          </a:ln>
        </p:spPr>
      </p:sp>
      <p:sp>
        <p:nvSpPr>
          <p:cNvPr id="16" name="Text 14"/>
          <p:cNvSpPr txBox="1"/>
          <p:nvPr/>
        </p:nvSpPr>
        <p:spPr>
          <a:xfrm>
            <a:off x="7060997" y="1371600"/>
            <a:ext cx="1325880" cy="1051560"/>
          </a:xfrm>
          <a:prstGeom prst="rect">
            <a:avLst/>
          </a:prstGeom>
          <a:noFill/>
          <a:ln/>
        </p:spPr>
        <p:txBody>
          <a:bodyPr wrap="square" lIns="0" tIns="0" rIns="0" bIns="0" rtlCol="0" anchor="ctr"/>
          <a:lstStyle/>
          <a:p>
            <a:pPr marL="0" indent="0" algn="ctr">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CSV·SQLite</a:t>
            </a:r>
            <a:endParaRPr lang="ko-KR" altLang="en-US" sz="1400" dirty="0"/>
          </a:p>
          <a:p>
            <a:pPr marL="0" indent="0" algn="ctr">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저장</a:t>
            </a:r>
            <a:endParaRPr lang="ko-KR" altLang="en-US" sz="1400" dirty="0"/>
          </a:p>
        </p:txBody>
      </p:sp>
      <p:sp>
        <p:nvSpPr>
          <p:cNvPr id="17" name="Shape 15"/>
          <p:cNvSpPr/>
          <p:nvPr/>
        </p:nvSpPr>
        <p:spPr>
          <a:xfrm>
            <a:off x="8441741" y="1783080"/>
            <a:ext cx="192481" cy="228600"/>
          </a:xfrm>
          <a:prstGeom prst="rightArrow">
            <a:avLst/>
          </a:prstGeom>
          <a:solidFill>
            <a:srgbClr val="5B6B7A"/>
          </a:solidFill>
          <a:ln w="12700">
            <a:solidFill>
              <a:srgbClr val="5B6B7A"/>
            </a:solidFill>
            <a:prstDash val="solid"/>
          </a:ln>
        </p:spPr>
      </p:sp>
      <p:sp>
        <p:nvSpPr>
          <p:cNvPr id="18" name="Shape 16"/>
          <p:cNvSpPr/>
          <p:nvPr/>
        </p:nvSpPr>
        <p:spPr>
          <a:xfrm>
            <a:off x="8689086" y="1371600"/>
            <a:ext cx="1325880" cy="1051560"/>
          </a:xfrm>
          <a:prstGeom prst="roundRect">
            <a:avLst>
              <a:gd name="adj" fmla="val 8696"/>
            </a:avLst>
          </a:prstGeom>
          <a:solidFill>
            <a:srgbClr val="EEF2F6"/>
          </a:solidFill>
          <a:ln w="12700">
            <a:solidFill>
              <a:srgbClr val="D5DEE7"/>
            </a:solidFill>
            <a:prstDash val="solid"/>
          </a:ln>
        </p:spPr>
      </p:sp>
      <p:sp>
        <p:nvSpPr>
          <p:cNvPr id="19" name="Text 17"/>
          <p:cNvSpPr txBox="1"/>
          <p:nvPr/>
        </p:nvSpPr>
        <p:spPr>
          <a:xfrm>
            <a:off x="8689086" y="1371600"/>
            <a:ext cx="1325880" cy="1051560"/>
          </a:xfrm>
          <a:prstGeom prst="rect">
            <a:avLst/>
          </a:prstGeom>
          <a:noFill/>
          <a:ln/>
        </p:spPr>
        <p:txBody>
          <a:bodyPr wrap="square" lIns="0" tIns="0" rIns="0" bIns="0" rtlCol="0" anchor="ctr"/>
          <a:lstStyle/>
          <a:p>
            <a:pPr marL="0" indent="0" algn="ctr">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분석</a:t>
            </a:r>
            <a:endParaRPr lang="ko-KR" altLang="en-US" sz="1400" dirty="0"/>
          </a:p>
        </p:txBody>
      </p:sp>
      <p:sp>
        <p:nvSpPr>
          <p:cNvPr id="20" name="Shape 18"/>
          <p:cNvSpPr/>
          <p:nvPr/>
        </p:nvSpPr>
        <p:spPr>
          <a:xfrm>
            <a:off x="10069830" y="1783080"/>
            <a:ext cx="192481" cy="228600"/>
          </a:xfrm>
          <a:prstGeom prst="rightArrow">
            <a:avLst/>
          </a:prstGeom>
          <a:solidFill>
            <a:srgbClr val="5B6B7A"/>
          </a:solidFill>
          <a:ln w="12700">
            <a:solidFill>
              <a:srgbClr val="5B6B7A"/>
            </a:solidFill>
            <a:prstDash val="solid"/>
          </a:ln>
        </p:spPr>
      </p:sp>
      <p:sp>
        <p:nvSpPr>
          <p:cNvPr id="21" name="Shape 19"/>
          <p:cNvSpPr/>
          <p:nvPr/>
        </p:nvSpPr>
        <p:spPr>
          <a:xfrm>
            <a:off x="10317175" y="1371600"/>
            <a:ext cx="1325880" cy="1051560"/>
          </a:xfrm>
          <a:prstGeom prst="roundRect">
            <a:avLst>
              <a:gd name="adj" fmla="val 8696"/>
            </a:avLst>
          </a:prstGeom>
          <a:solidFill>
            <a:srgbClr val="EEF2F6"/>
          </a:solidFill>
          <a:ln w="12700">
            <a:solidFill>
              <a:srgbClr val="D5DEE7"/>
            </a:solidFill>
            <a:prstDash val="solid"/>
          </a:ln>
        </p:spPr>
      </p:sp>
      <p:sp>
        <p:nvSpPr>
          <p:cNvPr id="22" name="Text 20"/>
          <p:cNvSpPr txBox="1"/>
          <p:nvPr/>
        </p:nvSpPr>
        <p:spPr>
          <a:xfrm>
            <a:off x="10317175" y="1371600"/>
            <a:ext cx="1325880" cy="1051560"/>
          </a:xfrm>
          <a:prstGeom prst="rect">
            <a:avLst/>
          </a:prstGeom>
          <a:noFill/>
          <a:ln/>
        </p:spPr>
        <p:txBody>
          <a:bodyPr wrap="square" lIns="0" tIns="0" rIns="0" bIns="0" rtlCol="0" anchor="ctr"/>
          <a:lstStyle/>
          <a:p>
            <a:pPr marL="0" indent="0" algn="ctr">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시각화·</a:t>
            </a:r>
            <a:endParaRPr lang="ko-KR" altLang="en-US" sz="1400" dirty="0"/>
          </a:p>
          <a:p>
            <a:pPr marL="0" indent="0" algn="ctr">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보고서</a:t>
            </a:r>
            <a:endParaRPr lang="ko-KR" altLang="en-US" sz="1400" dirty="0"/>
          </a:p>
        </p:txBody>
      </p:sp>
      <p:sp>
        <p:nvSpPr>
          <p:cNvPr id="23" name="Shape 21"/>
          <p:cNvSpPr/>
          <p:nvPr/>
        </p:nvSpPr>
        <p:spPr>
          <a:xfrm>
            <a:off x="548640" y="2834640"/>
            <a:ext cx="5364328" cy="3108960"/>
          </a:xfrm>
          <a:prstGeom prst="roundRect">
            <a:avLst>
              <a:gd name="adj" fmla="val 2353"/>
            </a:avLst>
          </a:prstGeom>
          <a:solidFill>
            <a:srgbClr val="F6F8FA"/>
          </a:solidFill>
          <a:ln w="9525">
            <a:solidFill>
              <a:srgbClr val="D5DEE7"/>
            </a:solidFill>
            <a:prstDash val="solid"/>
          </a:ln>
        </p:spPr>
      </p:sp>
      <p:sp>
        <p:nvSpPr>
          <p:cNvPr id="24" name="Shape 22"/>
          <p:cNvSpPr/>
          <p:nvPr/>
        </p:nvSpPr>
        <p:spPr>
          <a:xfrm>
            <a:off x="822960" y="3108960"/>
            <a:ext cx="566928" cy="566928"/>
          </a:xfrm>
          <a:prstGeom prst="ellipse">
            <a:avLst/>
          </a:prstGeom>
          <a:solidFill>
            <a:srgbClr val="14304A"/>
          </a:solidFill>
          <a:ln w="12700">
            <a:solidFill>
              <a:srgbClr val="14304A"/>
            </a:solidFill>
            <a:prstDash val="solid"/>
          </a:ln>
        </p:spPr>
      </p:sp>
      <p:sp>
        <p:nvSpPr>
          <p:cNvPr id="25" name="Text 23"/>
          <p:cNvSpPr txBox="1"/>
          <p:nvPr/>
        </p:nvSpPr>
        <p:spPr>
          <a:xfrm>
            <a:off x="822960" y="3108960"/>
            <a:ext cx="566928" cy="566928"/>
          </a:xfrm>
          <a:prstGeom prst="rect">
            <a:avLst/>
          </a:prstGeom>
          <a:noFill/>
          <a:ln/>
        </p:spPr>
        <p:txBody>
          <a:bodyPr wrap="square" lIns="0" tIns="0" rIns="0" bIns="0" rtlCol="0" anchor="ctr"/>
          <a:lstStyle/>
          <a:p>
            <a:pPr marL="0" indent="0" algn="ctr">
              <a:buNone/>
            </a:pPr>
            <a:r>
              <a:rPr lang="ko-KR" altLang="en-US" sz="1600" b="1" dirty="0">
                <a:solidFill>
                  <a:srgbClr val="FFFFFF"/>
                </a:solidFill>
                <a:latin typeface="맑은 고딕" panose="020B0503020000020004" pitchFamily="50" charset="-127"/>
                <a:ea typeface="맑은 고딕" panose="020B0503020000020004" pitchFamily="50" charset="-127"/>
                <a:cs typeface="맑은 고딕" pitchFamily="34" charset="-120"/>
              </a:rPr>
              <a:t>WEB</a:t>
            </a:r>
            <a:endParaRPr lang="ko-KR" altLang="en-US" sz="1600" dirty="0"/>
          </a:p>
        </p:txBody>
      </p:sp>
      <p:sp>
        <p:nvSpPr>
          <p:cNvPr id="26" name="Text 24"/>
          <p:cNvSpPr txBox="1"/>
          <p:nvPr/>
        </p:nvSpPr>
        <p:spPr>
          <a:xfrm>
            <a:off x="1554480" y="3108960"/>
            <a:ext cx="4175608" cy="566928"/>
          </a:xfrm>
          <a:prstGeom prst="rect">
            <a:avLst/>
          </a:prstGeom>
          <a:noFill/>
          <a:ln/>
        </p:spPr>
        <p:txBody>
          <a:bodyPr wrap="square" lIns="0" tIns="0" rIns="0" bIns="0" rtlCol="0" anchor="ctr"/>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웹 크롤링 · requests + BeautifulSoup</a:t>
            </a:r>
            <a:endParaRPr lang="ko-KR" altLang="en-US" sz="1600" dirty="0"/>
          </a:p>
        </p:txBody>
      </p:sp>
      <p:sp>
        <p:nvSpPr>
          <p:cNvPr id="27" name="Text 25"/>
          <p:cNvSpPr txBox="1"/>
          <p:nvPr/>
        </p:nvSpPr>
        <p:spPr>
          <a:xfrm>
            <a:off x="868680" y="3886200"/>
            <a:ext cx="4724248" cy="1828800"/>
          </a:xfrm>
          <a:prstGeom prst="rect">
            <a:avLst/>
          </a:prstGeom>
          <a:noFill/>
          <a:ln/>
        </p:spPr>
        <p:txBody>
          <a:bodyPr wrap="square" lIns="0" tIns="0" rIns="0" bIns="0" rtlCol="0" anchor="t"/>
          <a:lstStyle/>
          <a:p>
            <a:pPr marL="342900" indent="-342900">
              <a:spcAft>
                <a:spcPts val="600"/>
              </a:spcAft>
              <a:buSzPct val="100000"/>
              <a:buChar char="•"/>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대상: e-나라지표 「시장금리 추이」(idx_cd=1073)</a:t>
            </a:r>
            <a:endParaRPr lang="ko-KR" altLang="en-US" sz="1400" dirty="0"/>
          </a:p>
          <a:p>
            <a:pPr marL="342900" indent="-342900">
              <a:spcAft>
                <a:spcPts val="600"/>
              </a:spcAft>
              <a:buSzPct val="100000"/>
              <a:buChar char="•"/>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국고채 3년 · 회사채 3년(AA−) · CD 91일</a:t>
            </a:r>
            <a:endParaRPr lang="ko-KR" altLang="en-US" sz="1400" dirty="0"/>
          </a:p>
          <a:p>
            <a:pPr marL="342900" indent="-342900">
              <a:spcAft>
                <a:spcPts val="600"/>
              </a:spcAft>
              <a:buSzPct val="100000"/>
              <a:buChar char="•"/>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월별(월평균) 2019.01–2023.12 → 180개 관측, 60개월</a:t>
            </a:r>
            <a:endParaRPr lang="ko-KR" altLang="en-US" sz="1400" dirty="0"/>
          </a:p>
          <a:p>
            <a:pPr marL="342900" indent="-342900">
              <a:spcAft>
                <a:spcPts val="600"/>
              </a:spcAft>
              <a:buSzPct val="100000"/>
              <a:buChar char="•"/>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원본 HTML과 SHA256 해시 저장 → 같은 결과 재현</a:t>
            </a:r>
            <a:endParaRPr lang="ko-KR" altLang="en-US" sz="1400" dirty="0"/>
          </a:p>
        </p:txBody>
      </p:sp>
      <p:sp>
        <p:nvSpPr>
          <p:cNvPr id="28" name="Shape 26"/>
          <p:cNvSpPr/>
          <p:nvPr/>
        </p:nvSpPr>
        <p:spPr>
          <a:xfrm>
            <a:off x="6278728" y="2834640"/>
            <a:ext cx="5364328" cy="3108960"/>
          </a:xfrm>
          <a:prstGeom prst="roundRect">
            <a:avLst>
              <a:gd name="adj" fmla="val 2353"/>
            </a:avLst>
          </a:prstGeom>
          <a:solidFill>
            <a:srgbClr val="F6F8FA"/>
          </a:solidFill>
          <a:ln w="9525">
            <a:solidFill>
              <a:srgbClr val="D5DEE7"/>
            </a:solidFill>
            <a:prstDash val="solid"/>
          </a:ln>
        </p:spPr>
      </p:sp>
      <p:sp>
        <p:nvSpPr>
          <p:cNvPr id="29" name="Shape 27"/>
          <p:cNvSpPr/>
          <p:nvPr/>
        </p:nvSpPr>
        <p:spPr>
          <a:xfrm>
            <a:off x="6553048" y="3108960"/>
            <a:ext cx="566928" cy="566928"/>
          </a:xfrm>
          <a:prstGeom prst="ellipse">
            <a:avLst/>
          </a:prstGeom>
          <a:solidFill>
            <a:srgbClr val="C8412E"/>
          </a:solidFill>
          <a:ln w="12700">
            <a:solidFill>
              <a:srgbClr val="C8412E"/>
            </a:solidFill>
            <a:prstDash val="solid"/>
          </a:ln>
        </p:spPr>
      </p:sp>
      <p:sp>
        <p:nvSpPr>
          <p:cNvPr id="30" name="Text 28"/>
          <p:cNvSpPr txBox="1"/>
          <p:nvPr/>
        </p:nvSpPr>
        <p:spPr>
          <a:xfrm>
            <a:off x="6553048" y="3108960"/>
            <a:ext cx="566928" cy="566928"/>
          </a:xfrm>
          <a:prstGeom prst="rect">
            <a:avLst/>
          </a:prstGeom>
          <a:noFill/>
          <a:ln/>
        </p:spPr>
        <p:txBody>
          <a:bodyPr wrap="square" lIns="0" tIns="0" rIns="0" bIns="0" rtlCol="0" anchor="ctr"/>
          <a:lstStyle/>
          <a:p>
            <a:pPr marL="0" indent="0" algn="ctr">
              <a:buNone/>
            </a:pPr>
            <a:r>
              <a:rPr lang="ko-KR" altLang="en-US" sz="1600" b="1" dirty="0">
                <a:solidFill>
                  <a:srgbClr val="FFFFFF"/>
                </a:solidFill>
                <a:latin typeface="맑은 고딕" panose="020B0503020000020004" pitchFamily="50" charset="-127"/>
                <a:ea typeface="맑은 고딕" panose="020B0503020000020004" pitchFamily="50" charset="-127"/>
                <a:cs typeface="맑은 고딕" pitchFamily="34" charset="-120"/>
              </a:rPr>
              <a:t>API</a:t>
            </a:r>
            <a:endParaRPr lang="ko-KR" altLang="en-US" sz="1600" dirty="0"/>
          </a:p>
        </p:txBody>
      </p:sp>
      <p:sp>
        <p:nvSpPr>
          <p:cNvPr id="31" name="Text 29"/>
          <p:cNvSpPr txBox="1"/>
          <p:nvPr/>
        </p:nvSpPr>
        <p:spPr>
          <a:xfrm>
            <a:off x="7284568" y="3108960"/>
            <a:ext cx="4175608" cy="566928"/>
          </a:xfrm>
          <a:prstGeom prst="rect">
            <a:avLst/>
          </a:prstGeom>
          <a:noFill/>
          <a:ln/>
        </p:spPr>
        <p:txBody>
          <a:bodyPr wrap="square" lIns="0" tIns="0" rIns="0" bIns="0" rtlCol="0" anchor="ctr"/>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Open API · requests → JSON</a:t>
            </a:r>
            <a:endParaRPr lang="ko-KR" altLang="en-US" sz="1600" dirty="0"/>
          </a:p>
        </p:txBody>
      </p:sp>
      <p:sp>
        <p:nvSpPr>
          <p:cNvPr id="32" name="Text 30"/>
          <p:cNvSpPr txBox="1"/>
          <p:nvPr/>
        </p:nvSpPr>
        <p:spPr>
          <a:xfrm>
            <a:off x="6598768" y="3886200"/>
            <a:ext cx="4724248" cy="1828800"/>
          </a:xfrm>
          <a:prstGeom prst="rect">
            <a:avLst/>
          </a:prstGeom>
          <a:noFill/>
          <a:ln/>
        </p:spPr>
        <p:txBody>
          <a:bodyPr wrap="square" lIns="0" tIns="0" rIns="0" bIns="0" rtlCol="0" anchor="t"/>
          <a:lstStyle/>
          <a:p>
            <a:pPr marL="342900" indent="-342900">
              <a:spcAft>
                <a:spcPts val="600"/>
              </a:spcAft>
              <a:buSzPct val="100000"/>
              <a:buChar char="•"/>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대상: 한국은행 ECOS StatisticSearch</a:t>
            </a:r>
            <a:endParaRPr lang="ko-KR" altLang="en-US" sz="1400" dirty="0"/>
          </a:p>
          <a:p>
            <a:pPr marL="342900" indent="-342900">
              <a:spcAft>
                <a:spcPts val="600"/>
              </a:spcAft>
              <a:buSzPct val="100000"/>
              <a:buChar char="•"/>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CP·CD 91일, 국고채·회사채 AA−/BBB− 3년, 기준금리</a:t>
            </a:r>
            <a:endParaRPr lang="ko-KR" altLang="en-US" sz="1400" dirty="0"/>
          </a:p>
          <a:p>
            <a:pPr marL="342900" indent="-342900">
              <a:spcAft>
                <a:spcPts val="600"/>
              </a:spcAft>
              <a:buSzPct val="100000"/>
              <a:buChar char="•"/>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일별 2022.01–2023.06 → 370영업일</a:t>
            </a:r>
            <a:endParaRPr lang="ko-KR" altLang="en-US" sz="1400" dirty="0"/>
          </a:p>
          <a:p>
            <a:pPr marL="342900" indent="-342900">
              <a:spcAft>
                <a:spcPts val="600"/>
              </a:spcAft>
              <a:buSzPct val="100000"/>
              <a:buChar char="•"/>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인증키는 코드·파일에 저장하지 않음</a:t>
            </a:r>
            <a:endParaRPr lang="ko-KR" altLang="en-US" sz="1400" dirty="0"/>
          </a:p>
        </p:txBody>
      </p:sp>
      <p:sp>
        <p:nvSpPr>
          <p:cNvPr id="33" name="Text 31"/>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python source/legoland_analysis.py --offline  → 저장 원본으로 전체 결과 재생성</a:t>
            </a:r>
            <a:endParaRPr lang="ko-KR" altLang="en-US" sz="900" dirty="0"/>
          </a:p>
        </p:txBody>
      </p:sp>
      <p:sp>
        <p:nvSpPr>
          <p:cNvPr id="34" name="Text 32"/>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4</a:t>
            </a:r>
            <a:endParaRPr lang="ko-KR" alt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웹페이지 구조 분석: 수치는 표가 아니라 본문 텍스트에 있었다</a:t>
            </a:r>
            <a:endParaRPr lang="ko-KR" altLang="en-US" sz="2800" dirty="0"/>
          </a:p>
        </p:txBody>
      </p:sp>
      <p:sp>
        <p:nvSpPr>
          <p:cNvPr id="3" name="Text 1"/>
          <p:cNvSpPr txBox="1"/>
          <p:nvPr/>
        </p:nvSpPr>
        <p:spPr>
          <a:xfrm>
            <a:off x="548640" y="1234440"/>
            <a:ext cx="5760720" cy="914400"/>
          </a:xfrm>
          <a:prstGeom prst="rect">
            <a:avLst/>
          </a:prstGeom>
          <a:noFill/>
          <a:ln/>
        </p:spPr>
        <p:txBody>
          <a:bodyPr wrap="square" lIns="0" tIns="0" rIns="0" bIns="0" rtlCol="0" anchor="t"/>
          <a:lstStyle/>
          <a:p>
            <a:pPr marL="0" indent="0">
              <a:buNone/>
            </a:pPr>
            <a:r>
              <a:rPr lang="ko-KR" altLang="en-US" sz="1400" dirty="0">
                <a:solidFill>
                  <a:srgbClr val="1F2A36"/>
                </a:solidFill>
                <a:latin typeface="맑은 고딕" panose="020B0503020000020004" pitchFamily="50" charset="-127"/>
                <a:ea typeface="맑은 고딕" panose="020B0503020000020004" pitchFamily="50" charset="-127"/>
                <a:cs typeface="맑은 고딕" pitchFamily="34" charset="-120"/>
              </a:rPr>
              <a:t>페이지의 table 3개에는 금리 수치가 없고, 「지표해석」 본문 span 안에 연도별 텍스트로 들어 있었다. 그래서 요소를 정확히 찾은 뒤 텍스트에서 월·금리 쌍을 추출했다.</a:t>
            </a:r>
            <a:endParaRPr lang="ko-KR" altLang="en-US" sz="1400" dirty="0"/>
          </a:p>
        </p:txBody>
      </p:sp>
      <p:sp>
        <p:nvSpPr>
          <p:cNvPr id="4" name="Shape 2"/>
          <p:cNvSpPr/>
          <p:nvPr/>
        </p:nvSpPr>
        <p:spPr>
          <a:xfrm>
            <a:off x="548640" y="2286000"/>
            <a:ext cx="5760720" cy="2743200"/>
          </a:xfrm>
          <a:prstGeom prst="roundRect">
            <a:avLst>
              <a:gd name="adj" fmla="val 2667"/>
            </a:avLst>
          </a:prstGeom>
          <a:solidFill>
            <a:srgbClr val="1B2633"/>
          </a:solidFill>
          <a:ln w="12700">
            <a:solidFill>
              <a:srgbClr val="1B2633"/>
            </a:solidFill>
            <a:prstDash val="solid"/>
          </a:ln>
        </p:spPr>
      </p:sp>
      <p:sp>
        <p:nvSpPr>
          <p:cNvPr id="5" name="Text 3"/>
          <p:cNvSpPr txBox="1"/>
          <p:nvPr/>
        </p:nvSpPr>
        <p:spPr>
          <a:xfrm>
            <a:off x="822960" y="2514600"/>
            <a:ext cx="5303520" cy="2743200"/>
          </a:xfrm>
          <a:prstGeom prst="rect">
            <a:avLst/>
          </a:prstGeom>
          <a:noFill/>
          <a:ln/>
        </p:spPr>
        <p:txBody>
          <a:bodyPr wrap="square" lIns="0" tIns="0" rIns="0" bIns="0" rtlCol="0" anchor="t"/>
          <a:lstStyle/>
          <a:p>
            <a:pPr marL="0" indent="0">
              <a:spcAft>
                <a:spcPts val="500"/>
              </a:spcAft>
              <a:buNone/>
            </a:pPr>
            <a:r>
              <a:rPr lang="ko-KR" altLang="en-US" sz="1150" dirty="0">
                <a:solidFill>
                  <a:srgbClr val="8FA3B8"/>
                </a:solidFill>
                <a:latin typeface="Courier New" pitchFamily="34" charset="0"/>
                <a:ea typeface="맑은 고딕" panose="020B0503020000020004" pitchFamily="50" charset="-127"/>
                <a:cs typeface="Courier New" pitchFamily="34" charset="-120"/>
              </a:rPr>
              <a:t># 1) 요소 찾기 + 정확히 1개인지 검증</a:t>
            </a:r>
            <a:endParaRPr lang="ko-KR" altLang="en-US" sz="1150" dirty="0"/>
          </a:p>
          <a:p>
            <a:pPr marL="0" indent="0">
              <a:spcAft>
                <a:spcPts val="500"/>
              </a:spcAft>
              <a:buNone/>
            </a:pPr>
            <a:r>
              <a:rPr lang="ko-KR" altLang="en-US" sz="1150" dirty="0">
                <a:solidFill>
                  <a:srgbClr val="E8EEF4"/>
                </a:solidFill>
                <a:latin typeface="Courier New" pitchFamily="34" charset="0"/>
                <a:ea typeface="맑은 고딕" panose="020B0503020000020004" pitchFamily="50" charset="-127"/>
                <a:cs typeface="Courier New" pitchFamily="34" charset="-120"/>
              </a:rPr>
              <a:t>nodes = soup.select('div.conBody span.img_box')</a:t>
            </a:r>
            <a:endParaRPr lang="ko-KR" altLang="en-US" sz="1150" dirty="0"/>
          </a:p>
          <a:p>
            <a:pPr marL="0" indent="0">
              <a:spcAft>
                <a:spcPts val="500"/>
              </a:spcAft>
              <a:buNone/>
            </a:pPr>
            <a:r>
              <a:rPr lang="ko-KR" altLang="en-US" sz="1150" dirty="0">
                <a:solidFill>
                  <a:srgbClr val="E8EEF4"/>
                </a:solidFill>
                <a:latin typeface="Courier New" pitchFamily="34" charset="0"/>
                <a:ea typeface="맑은 고딕" panose="020B0503020000020004" pitchFamily="50" charset="-127"/>
                <a:cs typeface="Courier New" pitchFamily="34" charset="-120"/>
              </a:rPr>
              <a:t>cand = [n for n in nodes if 국고채·회사채·CD 제목 모두 포함]</a:t>
            </a:r>
            <a:endParaRPr lang="ko-KR" altLang="en-US" sz="1150" dirty="0"/>
          </a:p>
          <a:p>
            <a:pPr marL="0" indent="0">
              <a:spcAft>
                <a:spcPts val="500"/>
              </a:spcAft>
              <a:buNone/>
            </a:pPr>
            <a:r>
              <a:rPr lang="ko-KR" altLang="en-US" sz="1150" dirty="0">
                <a:solidFill>
                  <a:srgbClr val="E8EEF4"/>
                </a:solidFill>
                <a:latin typeface="Courier New" pitchFamily="34" charset="0"/>
                <a:ea typeface="맑은 고딕" panose="020B0503020000020004" pitchFamily="50" charset="-127"/>
                <a:cs typeface="Courier New" pitchFamily="34" charset="-120"/>
              </a:rPr>
              <a:t>if len(cand) != 1: raise ValueError(...)  # 중단</a:t>
            </a:r>
            <a:endParaRPr lang="ko-KR" altLang="en-US" sz="1150" dirty="0"/>
          </a:p>
          <a:p>
            <a:pPr marL="0" indent="0">
              <a:spcAft>
                <a:spcPts val="500"/>
              </a:spcAft>
              <a:buNone/>
            </a:pPr>
            <a:r>
              <a:rPr lang="ko-KR" altLang="en-US" sz="1150" dirty="0">
                <a:solidFill>
                  <a:srgbClr val="E8EEF4"/>
                </a:solidFill>
                <a:latin typeface="Courier New" pitchFamily="34" charset="0"/>
                <a:ea typeface="맑은 고딕" panose="020B0503020000020004" pitchFamily="50" charset="-127"/>
                <a:cs typeface="Courier New" pitchFamily="34" charset="-120"/>
              </a:rPr>
              <a:t> </a:t>
            </a:r>
            <a:endParaRPr lang="ko-KR" altLang="en-US" sz="1150" dirty="0"/>
          </a:p>
          <a:p>
            <a:pPr marL="0" indent="0">
              <a:spcAft>
                <a:spcPts val="500"/>
              </a:spcAft>
              <a:buNone/>
            </a:pPr>
            <a:r>
              <a:rPr lang="ko-KR" altLang="en-US" sz="1150" dirty="0">
                <a:solidFill>
                  <a:srgbClr val="8FA3B8"/>
                </a:solidFill>
                <a:latin typeface="Courier New" pitchFamily="34" charset="0"/>
                <a:ea typeface="맑은 고딕" panose="020B0503020000020004" pitchFamily="50" charset="-127"/>
                <a:cs typeface="Courier New" pitchFamily="34" charset="-120"/>
              </a:rPr>
              <a:t># 2) 텍스트에서 월·금리 토큰 추출</a:t>
            </a:r>
            <a:endParaRPr lang="ko-KR" altLang="en-US" sz="1150" dirty="0"/>
          </a:p>
          <a:p>
            <a:pPr marL="0" indent="0">
              <a:spcAft>
                <a:spcPts val="500"/>
              </a:spcAft>
              <a:buNone/>
            </a:pPr>
            <a:r>
              <a:rPr lang="ko-KR" altLang="en-US" sz="1150" dirty="0">
                <a:solidFill>
                  <a:srgbClr val="E8EEF4"/>
                </a:solidFill>
                <a:latin typeface="Courier New" pitchFamily="34" charset="0"/>
                <a:ea typeface="맑은 고딕" panose="020B0503020000020004" pitchFamily="50" charset="-127"/>
                <a:cs typeface="Courier New" pitchFamily="34" charset="-120"/>
              </a:rPr>
              <a:t>pattern = r"\(['’]?(\d{2})\.(\d{1,2})월\)\s*([0-9.]+)"</a:t>
            </a:r>
            <a:endParaRPr lang="ko-KR" altLang="en-US" sz="1150" dirty="0"/>
          </a:p>
          <a:p>
            <a:pPr marL="0" indent="0">
              <a:spcAft>
                <a:spcPts val="500"/>
              </a:spcAft>
              <a:buNone/>
            </a:pPr>
            <a:r>
              <a:rPr lang="ko-KR" altLang="en-US" sz="1150" dirty="0">
                <a:solidFill>
                  <a:srgbClr val="F2C14E"/>
                </a:solidFill>
                <a:latin typeface="Courier New" pitchFamily="34" charset="0"/>
                <a:ea typeface="맑은 고딕" panose="020B0503020000020004" pitchFamily="50" charset="-127"/>
                <a:cs typeface="Courier New" pitchFamily="34" charset="-120"/>
              </a:rPr>
              <a:t>('22.10월) 4.24   →   2022-10 , 4.24%</a:t>
            </a:r>
            <a:endParaRPr lang="ko-KR" altLang="en-US" sz="1150" dirty="0"/>
          </a:p>
        </p:txBody>
      </p:sp>
      <p:sp>
        <p:nvSpPr>
          <p:cNvPr id="6" name="Shape 4"/>
          <p:cNvSpPr/>
          <p:nvPr/>
        </p:nvSpPr>
        <p:spPr>
          <a:xfrm>
            <a:off x="6675120" y="1353312"/>
            <a:ext cx="457200" cy="457200"/>
          </a:xfrm>
          <a:prstGeom prst="ellipse">
            <a:avLst/>
          </a:prstGeom>
          <a:solidFill>
            <a:srgbClr val="14304A"/>
          </a:solidFill>
          <a:ln w="12700">
            <a:solidFill>
              <a:srgbClr val="14304A"/>
            </a:solidFill>
            <a:prstDash val="solid"/>
          </a:ln>
        </p:spPr>
      </p:sp>
      <p:sp>
        <p:nvSpPr>
          <p:cNvPr id="7" name="Text 5"/>
          <p:cNvSpPr txBox="1"/>
          <p:nvPr/>
        </p:nvSpPr>
        <p:spPr>
          <a:xfrm>
            <a:off x="6675120" y="1353312"/>
            <a:ext cx="457200" cy="45720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1</a:t>
            </a:r>
            <a:endParaRPr lang="ko-KR" altLang="en-US" sz="1300" dirty="0"/>
          </a:p>
        </p:txBody>
      </p:sp>
      <p:sp>
        <p:nvSpPr>
          <p:cNvPr id="8" name="Text 6"/>
          <p:cNvSpPr txBox="1"/>
          <p:nvPr/>
        </p:nvSpPr>
        <p:spPr>
          <a:xfrm>
            <a:off x="7315200" y="1280160"/>
            <a:ext cx="4327855" cy="347472"/>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robots.txt 확인 기록</a:t>
            </a:r>
            <a:endParaRPr lang="ko-KR" altLang="en-US" sz="1500" dirty="0"/>
          </a:p>
        </p:txBody>
      </p:sp>
      <p:sp>
        <p:nvSpPr>
          <p:cNvPr id="9" name="Text 7"/>
          <p:cNvSpPr txBox="1"/>
          <p:nvPr/>
        </p:nvSpPr>
        <p:spPr>
          <a:xfrm>
            <a:off x="7315200" y="1645920"/>
            <a:ext cx="4327855" cy="73152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원본 수집(09.23) 후 별도 확인(09.27, 외부 조회): 404(파일 없음) → 금지 표시 없음, 판단 보류</a:t>
            </a:r>
            <a:endParaRPr lang="ko-KR" altLang="en-US" sz="1250" dirty="0"/>
          </a:p>
        </p:txBody>
      </p:sp>
      <p:sp>
        <p:nvSpPr>
          <p:cNvPr id="10" name="Shape 8"/>
          <p:cNvSpPr/>
          <p:nvPr/>
        </p:nvSpPr>
        <p:spPr>
          <a:xfrm>
            <a:off x="6675120" y="2523744"/>
            <a:ext cx="457200" cy="457200"/>
          </a:xfrm>
          <a:prstGeom prst="ellipse">
            <a:avLst/>
          </a:prstGeom>
          <a:solidFill>
            <a:srgbClr val="14304A"/>
          </a:solidFill>
          <a:ln w="12700">
            <a:solidFill>
              <a:srgbClr val="14304A"/>
            </a:solidFill>
            <a:prstDash val="solid"/>
          </a:ln>
        </p:spPr>
      </p:sp>
      <p:sp>
        <p:nvSpPr>
          <p:cNvPr id="11" name="Text 9"/>
          <p:cNvSpPr txBox="1"/>
          <p:nvPr/>
        </p:nvSpPr>
        <p:spPr>
          <a:xfrm>
            <a:off x="6675120" y="2523744"/>
            <a:ext cx="457200" cy="45720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2</a:t>
            </a:r>
            <a:endParaRPr lang="ko-KR" altLang="en-US" sz="1300" dirty="0"/>
          </a:p>
        </p:txBody>
      </p:sp>
      <p:sp>
        <p:nvSpPr>
          <p:cNvPr id="12" name="Text 10"/>
          <p:cNvSpPr txBox="1"/>
          <p:nvPr/>
        </p:nvSpPr>
        <p:spPr>
          <a:xfrm>
            <a:off x="7315200" y="2450592"/>
            <a:ext cx="4327855" cy="347472"/>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한 번만 요청</a:t>
            </a:r>
            <a:endParaRPr lang="ko-KR" altLang="en-US" sz="1500" dirty="0"/>
          </a:p>
        </p:txBody>
      </p:sp>
      <p:sp>
        <p:nvSpPr>
          <p:cNvPr id="13" name="Text 11"/>
          <p:cNvSpPr txBox="1"/>
          <p:nvPr/>
        </p:nvSpPr>
        <p:spPr>
          <a:xfrm>
            <a:off x="7315200" y="2816352"/>
            <a:ext cx="4327855" cy="73152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대상 페이지 1회 요청 후 원본 저장, 이후는 --offline으로 재사용</a:t>
            </a:r>
            <a:endParaRPr lang="ko-KR" altLang="en-US" sz="1250" dirty="0"/>
          </a:p>
        </p:txBody>
      </p:sp>
      <p:sp>
        <p:nvSpPr>
          <p:cNvPr id="14" name="Shape 12"/>
          <p:cNvSpPr/>
          <p:nvPr/>
        </p:nvSpPr>
        <p:spPr>
          <a:xfrm>
            <a:off x="6675120" y="3694176"/>
            <a:ext cx="457200" cy="457200"/>
          </a:xfrm>
          <a:prstGeom prst="ellipse">
            <a:avLst/>
          </a:prstGeom>
          <a:solidFill>
            <a:srgbClr val="14304A"/>
          </a:solidFill>
          <a:ln w="12700">
            <a:solidFill>
              <a:srgbClr val="14304A"/>
            </a:solidFill>
            <a:prstDash val="solid"/>
          </a:ln>
        </p:spPr>
      </p:sp>
      <p:sp>
        <p:nvSpPr>
          <p:cNvPr id="15" name="Text 13"/>
          <p:cNvSpPr txBox="1"/>
          <p:nvPr/>
        </p:nvSpPr>
        <p:spPr>
          <a:xfrm>
            <a:off x="6675120" y="3694176"/>
            <a:ext cx="457200" cy="45720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3</a:t>
            </a:r>
            <a:endParaRPr lang="ko-KR" altLang="en-US" sz="1300" dirty="0"/>
          </a:p>
        </p:txBody>
      </p:sp>
      <p:sp>
        <p:nvSpPr>
          <p:cNvPr id="16" name="Text 14"/>
          <p:cNvSpPr txBox="1"/>
          <p:nvPr/>
        </p:nvSpPr>
        <p:spPr>
          <a:xfrm>
            <a:off x="7315200" y="3621024"/>
            <a:ext cx="4327855" cy="347472"/>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실패하면 멈춘다</a:t>
            </a:r>
            <a:endParaRPr lang="ko-KR" altLang="en-US" sz="1500" dirty="0"/>
          </a:p>
        </p:txBody>
      </p:sp>
      <p:sp>
        <p:nvSpPr>
          <p:cNvPr id="17" name="Text 15"/>
          <p:cNvSpPr txBox="1"/>
          <p:nvPr/>
        </p:nvSpPr>
        <p:spPr>
          <a:xfrm>
            <a:off x="7315200" y="3986784"/>
            <a:ext cx="4327855" cy="73152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timeout · HTTP 오류 · Content-Type · 월 누락 시 임의 값 없이 중단</a:t>
            </a:r>
            <a:endParaRPr lang="ko-KR" altLang="en-US" sz="1250" dirty="0"/>
          </a:p>
        </p:txBody>
      </p:sp>
      <p:sp>
        <p:nvSpPr>
          <p:cNvPr id="18" name="Shape 16"/>
          <p:cNvSpPr/>
          <p:nvPr/>
        </p:nvSpPr>
        <p:spPr>
          <a:xfrm>
            <a:off x="6675120" y="4864608"/>
            <a:ext cx="457200" cy="457200"/>
          </a:xfrm>
          <a:prstGeom prst="ellipse">
            <a:avLst/>
          </a:prstGeom>
          <a:solidFill>
            <a:srgbClr val="14304A"/>
          </a:solidFill>
          <a:ln w="12700">
            <a:solidFill>
              <a:srgbClr val="14304A"/>
            </a:solidFill>
            <a:prstDash val="solid"/>
          </a:ln>
        </p:spPr>
      </p:sp>
      <p:sp>
        <p:nvSpPr>
          <p:cNvPr id="19" name="Text 17"/>
          <p:cNvSpPr txBox="1"/>
          <p:nvPr/>
        </p:nvSpPr>
        <p:spPr>
          <a:xfrm>
            <a:off x="6675120" y="4864608"/>
            <a:ext cx="457200" cy="45720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4</a:t>
            </a:r>
            <a:endParaRPr lang="ko-KR" altLang="en-US" sz="1300" dirty="0"/>
          </a:p>
        </p:txBody>
      </p:sp>
      <p:sp>
        <p:nvSpPr>
          <p:cNvPr id="20" name="Text 18"/>
          <p:cNvSpPr txBox="1"/>
          <p:nvPr/>
        </p:nvSpPr>
        <p:spPr>
          <a:xfrm>
            <a:off x="7315200" y="4791456"/>
            <a:ext cx="4327855" cy="347472"/>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출처 표시 · 교육 목적</a:t>
            </a:r>
            <a:endParaRPr lang="ko-KR" altLang="en-US" sz="1500" dirty="0"/>
          </a:p>
        </p:txBody>
      </p:sp>
      <p:sp>
        <p:nvSpPr>
          <p:cNvPr id="21" name="Text 19"/>
          <p:cNvSpPr txBox="1"/>
          <p:nvPr/>
        </p:nvSpPr>
        <p:spPr>
          <a:xfrm>
            <a:off x="7315200" y="5157216"/>
            <a:ext cx="4327855" cy="73152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이용 조건 문구를 코드로 검색(표시 없음) → 비상업 교육용으로만 사용</a:t>
            </a:r>
            <a:endParaRPr lang="ko-KR" altLang="en-US" sz="1250" dirty="0"/>
          </a:p>
        </p:txBody>
      </p:sp>
      <p:sp>
        <p:nvSpPr>
          <p:cNvPr id="22" name="Text 20"/>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구조 분석 기록: output/page_structure.json  |  수집 허용 판정: data/raw/robots_check.json</a:t>
            </a:r>
            <a:endParaRPr lang="ko-KR" altLang="en-US" sz="900" dirty="0"/>
          </a:p>
        </p:txBody>
      </p:sp>
      <p:sp>
        <p:nvSpPr>
          <p:cNvPr id="23" name="Text 21"/>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5</a:t>
            </a:r>
            <a:endParaRPr lang="ko-KR" alt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전처리와 저장: 고치지 않고, 확인하고, 멈춘다</a:t>
            </a:r>
            <a:endParaRPr lang="ko-KR" altLang="en-US" sz="2800" dirty="0"/>
          </a:p>
        </p:txBody>
      </p:sp>
      <p:sp>
        <p:nvSpPr>
          <p:cNvPr id="3" name="Shape 1"/>
          <p:cNvSpPr/>
          <p:nvPr/>
        </p:nvSpPr>
        <p:spPr>
          <a:xfrm>
            <a:off x="548640" y="1325880"/>
            <a:ext cx="2567864" cy="2011680"/>
          </a:xfrm>
          <a:prstGeom prst="roundRect">
            <a:avLst>
              <a:gd name="adj" fmla="val 3636"/>
            </a:avLst>
          </a:prstGeom>
          <a:solidFill>
            <a:srgbClr val="F6F8FA"/>
          </a:solidFill>
          <a:ln w="9525">
            <a:solidFill>
              <a:srgbClr val="D5DEE7"/>
            </a:solidFill>
            <a:prstDash val="solid"/>
          </a:ln>
        </p:spPr>
      </p:sp>
      <p:sp>
        <p:nvSpPr>
          <p:cNvPr id="4" name="Text 2"/>
          <p:cNvSpPr txBox="1"/>
          <p:nvPr/>
        </p:nvSpPr>
        <p:spPr>
          <a:xfrm>
            <a:off x="822960" y="1508760"/>
            <a:ext cx="2019224" cy="685800"/>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180 → 60</a:t>
            </a:r>
            <a:endParaRPr lang="ko-KR" altLang="en-US" sz="3000" dirty="0"/>
          </a:p>
        </p:txBody>
      </p:sp>
      <p:sp>
        <p:nvSpPr>
          <p:cNvPr id="5" name="Text 3"/>
          <p:cNvSpPr txBox="1"/>
          <p:nvPr/>
        </p:nvSpPr>
        <p:spPr>
          <a:xfrm>
            <a:off x="822960" y="2194560"/>
            <a:ext cx="2019224" cy="365760"/>
          </a:xfrm>
          <a:prstGeom prst="rect">
            <a:avLst/>
          </a:prstGeom>
          <a:noFill/>
          <a:ln/>
        </p:spPr>
        <p:txBody>
          <a:bodyPr wrap="square" lIns="0" tIns="0" rIns="0" bIns="0" rtlCol="0" anchor="t"/>
          <a:lstStyle/>
          <a:p>
            <a:pPr marL="0" indent="0">
              <a:buNone/>
            </a:pPr>
            <a:r>
              <a:rPr lang="ko-KR" altLang="en-US" sz="1400" b="1" dirty="0">
                <a:solidFill>
                  <a:srgbClr val="1F2A36"/>
                </a:solidFill>
                <a:latin typeface="맑은 고딕" panose="020B0503020000020004" pitchFamily="50" charset="-127"/>
                <a:ea typeface="맑은 고딕" panose="020B0503020000020004" pitchFamily="50" charset="-127"/>
                <a:cs typeface="맑은 고딕" pitchFamily="34" charset="-120"/>
              </a:rPr>
              <a:t>관측 → 월</a:t>
            </a:r>
            <a:endParaRPr lang="ko-KR" altLang="en-US" sz="1400" dirty="0"/>
          </a:p>
        </p:txBody>
      </p:sp>
      <p:sp>
        <p:nvSpPr>
          <p:cNvPr id="6" name="Text 4"/>
          <p:cNvSpPr txBox="1"/>
          <p:nvPr/>
        </p:nvSpPr>
        <p:spPr>
          <a:xfrm>
            <a:off x="822960" y="2578608"/>
            <a:ext cx="2019224" cy="640080"/>
          </a:xfrm>
          <a:prstGeom prst="rect">
            <a:avLst/>
          </a:prstGeom>
          <a:noFill/>
          <a:ln/>
        </p:spPr>
        <p:txBody>
          <a:bodyPr wrap="square" lIns="0" tIns="0" rIns="0" bIns="0" rtlCol="0" anchor="t"/>
          <a:lstStyle/>
          <a:p>
            <a:pPr marL="0" indent="0">
              <a:buNone/>
            </a:pPr>
            <a:r>
              <a:rPr lang="ko-KR" altLang="en-US" sz="1200" dirty="0">
                <a:solidFill>
                  <a:srgbClr val="5B6B7A"/>
                </a:solidFill>
                <a:latin typeface="맑은 고딕" panose="020B0503020000020004" pitchFamily="50" charset="-127"/>
                <a:ea typeface="맑은 고딕" panose="020B0503020000020004" pitchFamily="50" charset="-127"/>
                <a:cs typeface="맑은 고딕" pitchFamily="34" charset="-120"/>
              </a:rPr>
              <a:t>3개 지표 × 60개월을 월 단위로 결합</a:t>
            </a:r>
            <a:endParaRPr lang="ko-KR" altLang="en-US" sz="1200" dirty="0"/>
          </a:p>
        </p:txBody>
      </p:sp>
      <p:sp>
        <p:nvSpPr>
          <p:cNvPr id="7" name="Shape 5"/>
          <p:cNvSpPr/>
          <p:nvPr/>
        </p:nvSpPr>
        <p:spPr>
          <a:xfrm>
            <a:off x="3390824" y="1325880"/>
            <a:ext cx="2567864" cy="2011680"/>
          </a:xfrm>
          <a:prstGeom prst="roundRect">
            <a:avLst>
              <a:gd name="adj" fmla="val 3636"/>
            </a:avLst>
          </a:prstGeom>
          <a:solidFill>
            <a:srgbClr val="F6F8FA"/>
          </a:solidFill>
          <a:ln w="9525">
            <a:solidFill>
              <a:srgbClr val="D5DEE7"/>
            </a:solidFill>
            <a:prstDash val="solid"/>
          </a:ln>
        </p:spPr>
      </p:sp>
      <p:sp>
        <p:nvSpPr>
          <p:cNvPr id="8" name="Text 6"/>
          <p:cNvSpPr txBox="1"/>
          <p:nvPr/>
        </p:nvSpPr>
        <p:spPr>
          <a:xfrm>
            <a:off x="3665144" y="1508760"/>
            <a:ext cx="2019224" cy="685800"/>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0 / 0 / 0</a:t>
            </a:r>
            <a:endParaRPr lang="ko-KR" altLang="en-US" sz="3000" dirty="0"/>
          </a:p>
        </p:txBody>
      </p:sp>
      <p:sp>
        <p:nvSpPr>
          <p:cNvPr id="9" name="Text 7"/>
          <p:cNvSpPr txBox="1"/>
          <p:nvPr/>
        </p:nvSpPr>
        <p:spPr>
          <a:xfrm>
            <a:off x="3665144" y="2194560"/>
            <a:ext cx="2019224" cy="365760"/>
          </a:xfrm>
          <a:prstGeom prst="rect">
            <a:avLst/>
          </a:prstGeom>
          <a:noFill/>
          <a:ln/>
        </p:spPr>
        <p:txBody>
          <a:bodyPr wrap="square" lIns="0" tIns="0" rIns="0" bIns="0" rtlCol="0" anchor="t"/>
          <a:lstStyle/>
          <a:p>
            <a:pPr marL="0" indent="0">
              <a:buNone/>
            </a:pPr>
            <a:r>
              <a:rPr lang="ko-KR" altLang="en-US" sz="1400" b="1" dirty="0">
                <a:solidFill>
                  <a:srgbClr val="1F2A36"/>
                </a:solidFill>
                <a:latin typeface="맑은 고딕" panose="020B0503020000020004" pitchFamily="50" charset="-127"/>
                <a:ea typeface="맑은 고딕" panose="020B0503020000020004" pitchFamily="50" charset="-127"/>
                <a:cs typeface="맑은 고딕" pitchFamily="34" charset="-120"/>
              </a:rPr>
              <a:t>중복 / 결측 / 누락 월</a:t>
            </a:r>
            <a:endParaRPr lang="ko-KR" altLang="en-US" sz="1400" dirty="0"/>
          </a:p>
        </p:txBody>
      </p:sp>
      <p:sp>
        <p:nvSpPr>
          <p:cNvPr id="10" name="Text 8"/>
          <p:cNvSpPr txBox="1"/>
          <p:nvPr/>
        </p:nvSpPr>
        <p:spPr>
          <a:xfrm>
            <a:off x="3665144" y="2578608"/>
            <a:ext cx="2019224" cy="640080"/>
          </a:xfrm>
          <a:prstGeom prst="rect">
            <a:avLst/>
          </a:prstGeom>
          <a:noFill/>
          <a:ln/>
        </p:spPr>
        <p:txBody>
          <a:bodyPr wrap="square" lIns="0" tIns="0" rIns="0" bIns="0" rtlCol="0" anchor="t"/>
          <a:lstStyle/>
          <a:p>
            <a:pPr marL="0" indent="0">
              <a:buNone/>
            </a:pPr>
            <a:r>
              <a:rPr lang="ko-KR" altLang="en-US" sz="1200" dirty="0">
                <a:solidFill>
                  <a:srgbClr val="5B6B7A"/>
                </a:solidFill>
                <a:latin typeface="맑은 고딕" panose="020B0503020000020004" pitchFamily="50" charset="-127"/>
                <a:ea typeface="맑은 고딕" panose="020B0503020000020004" pitchFamily="50" charset="-127"/>
                <a:cs typeface="맑은 고딕" pitchFamily="34" charset="-120"/>
              </a:rPr>
              <a:t>문제가 있으면 임의 값 없이 멈춤</a:t>
            </a:r>
            <a:endParaRPr lang="ko-KR" altLang="en-US" sz="1200" dirty="0"/>
          </a:p>
        </p:txBody>
      </p:sp>
      <p:sp>
        <p:nvSpPr>
          <p:cNvPr id="11" name="Shape 9"/>
          <p:cNvSpPr/>
          <p:nvPr/>
        </p:nvSpPr>
        <p:spPr>
          <a:xfrm>
            <a:off x="6233008" y="1325880"/>
            <a:ext cx="2567864" cy="2011680"/>
          </a:xfrm>
          <a:prstGeom prst="roundRect">
            <a:avLst>
              <a:gd name="adj" fmla="val 3636"/>
            </a:avLst>
          </a:prstGeom>
          <a:solidFill>
            <a:srgbClr val="F6F8FA"/>
          </a:solidFill>
          <a:ln w="9525">
            <a:solidFill>
              <a:srgbClr val="D5DEE7"/>
            </a:solidFill>
            <a:prstDash val="solid"/>
          </a:ln>
        </p:spPr>
      </p:sp>
      <p:sp>
        <p:nvSpPr>
          <p:cNvPr id="12" name="Text 10"/>
          <p:cNvSpPr txBox="1"/>
          <p:nvPr/>
        </p:nvSpPr>
        <p:spPr>
          <a:xfrm>
            <a:off x="6507328" y="1508760"/>
            <a:ext cx="2019224" cy="685800"/>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0.01%p</a:t>
            </a:r>
            <a:endParaRPr lang="ko-KR" altLang="en-US" sz="3000" dirty="0"/>
          </a:p>
        </p:txBody>
      </p:sp>
      <p:sp>
        <p:nvSpPr>
          <p:cNvPr id="13" name="Text 11"/>
          <p:cNvSpPr txBox="1"/>
          <p:nvPr/>
        </p:nvSpPr>
        <p:spPr>
          <a:xfrm>
            <a:off x="6507328" y="2194560"/>
            <a:ext cx="2019224" cy="365760"/>
          </a:xfrm>
          <a:prstGeom prst="rect">
            <a:avLst/>
          </a:prstGeom>
          <a:noFill/>
          <a:ln/>
        </p:spPr>
        <p:txBody>
          <a:bodyPr wrap="square" lIns="0" tIns="0" rIns="0" bIns="0" rtlCol="0" anchor="t"/>
          <a:lstStyle/>
          <a:p>
            <a:pPr marL="0" indent="0">
              <a:buNone/>
            </a:pPr>
            <a:r>
              <a:rPr lang="ko-KR" altLang="en-US" sz="1400" b="1" dirty="0">
                <a:solidFill>
                  <a:srgbClr val="1F2A36"/>
                </a:solidFill>
                <a:latin typeface="맑은 고딕" panose="020B0503020000020004" pitchFamily="50" charset="-127"/>
                <a:ea typeface="맑은 고딕" panose="020B0503020000020004" pitchFamily="50" charset="-127"/>
                <a:cs typeface="맑은 고딕" pitchFamily="34" charset="-120"/>
              </a:rPr>
              <a:t>월평균과의 차이</a:t>
            </a:r>
            <a:endParaRPr lang="ko-KR" altLang="en-US" sz="1400" dirty="0"/>
          </a:p>
        </p:txBody>
      </p:sp>
      <p:sp>
        <p:nvSpPr>
          <p:cNvPr id="14" name="Text 12"/>
          <p:cNvSpPr txBox="1"/>
          <p:nvPr/>
        </p:nvSpPr>
        <p:spPr>
          <a:xfrm>
            <a:off x="6507328" y="2578608"/>
            <a:ext cx="2019224" cy="640080"/>
          </a:xfrm>
          <a:prstGeom prst="rect">
            <a:avLst/>
          </a:prstGeom>
          <a:noFill/>
          <a:ln/>
        </p:spPr>
        <p:txBody>
          <a:bodyPr wrap="square" lIns="0" tIns="0" rIns="0" bIns="0" rtlCol="0" anchor="t"/>
          <a:lstStyle/>
          <a:p>
            <a:pPr marL="0" indent="0">
              <a:buNone/>
            </a:pPr>
            <a:r>
              <a:rPr lang="ko-KR" altLang="en-US" sz="1200" dirty="0">
                <a:solidFill>
                  <a:srgbClr val="5B6B7A"/>
                </a:solidFill>
                <a:latin typeface="맑은 고딕" panose="020B0503020000020004" pitchFamily="50" charset="-127"/>
                <a:ea typeface="맑은 고딕" panose="020B0503020000020004" pitchFamily="50" charset="-127"/>
                <a:cs typeface="맑은 고딕" pitchFamily="34" charset="-120"/>
              </a:rPr>
              <a:t>월말값과는 0.44%p → 월별 값은 월평균</a:t>
            </a:r>
            <a:endParaRPr lang="ko-KR" altLang="en-US" sz="1200" dirty="0"/>
          </a:p>
        </p:txBody>
      </p:sp>
      <p:sp>
        <p:nvSpPr>
          <p:cNvPr id="15" name="Shape 13"/>
          <p:cNvSpPr/>
          <p:nvPr/>
        </p:nvSpPr>
        <p:spPr>
          <a:xfrm>
            <a:off x="9075191" y="1325880"/>
            <a:ext cx="2567864" cy="2011680"/>
          </a:xfrm>
          <a:prstGeom prst="roundRect">
            <a:avLst>
              <a:gd name="adj" fmla="val 3636"/>
            </a:avLst>
          </a:prstGeom>
          <a:solidFill>
            <a:srgbClr val="F6F8FA"/>
          </a:solidFill>
          <a:ln w="9525">
            <a:solidFill>
              <a:srgbClr val="D5DEE7"/>
            </a:solidFill>
            <a:prstDash val="solid"/>
          </a:ln>
        </p:spPr>
      </p:sp>
      <p:sp>
        <p:nvSpPr>
          <p:cNvPr id="16" name="Text 14"/>
          <p:cNvSpPr txBox="1"/>
          <p:nvPr/>
        </p:nvSpPr>
        <p:spPr>
          <a:xfrm>
            <a:off x="9349511" y="1508760"/>
            <a:ext cx="2019224" cy="685800"/>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12개 표</a:t>
            </a:r>
            <a:endParaRPr lang="ko-KR" altLang="en-US" sz="3000" dirty="0"/>
          </a:p>
        </p:txBody>
      </p:sp>
      <p:sp>
        <p:nvSpPr>
          <p:cNvPr id="17" name="Text 15"/>
          <p:cNvSpPr txBox="1"/>
          <p:nvPr/>
        </p:nvSpPr>
        <p:spPr>
          <a:xfrm>
            <a:off x="9349511" y="2194560"/>
            <a:ext cx="2019224" cy="365760"/>
          </a:xfrm>
          <a:prstGeom prst="rect">
            <a:avLst/>
          </a:prstGeom>
          <a:noFill/>
          <a:ln/>
        </p:spPr>
        <p:txBody>
          <a:bodyPr wrap="square" lIns="0" tIns="0" rIns="0" bIns="0" rtlCol="0" anchor="t"/>
          <a:lstStyle/>
          <a:p>
            <a:pPr marL="0" indent="0">
              <a:buNone/>
            </a:pPr>
            <a:r>
              <a:rPr lang="ko-KR" altLang="en-US" sz="1400" b="1" dirty="0">
                <a:solidFill>
                  <a:srgbClr val="1F2A36"/>
                </a:solidFill>
                <a:latin typeface="맑은 고딕" panose="020B0503020000020004" pitchFamily="50" charset="-127"/>
                <a:ea typeface="맑은 고딕" panose="020B0503020000020004" pitchFamily="50" charset="-127"/>
                <a:cs typeface="맑은 고딕" pitchFamily="34" charset="-120"/>
              </a:rPr>
              <a:t>SQLite DB</a:t>
            </a:r>
            <a:endParaRPr lang="ko-KR" altLang="en-US" sz="1400" dirty="0"/>
          </a:p>
        </p:txBody>
      </p:sp>
      <p:sp>
        <p:nvSpPr>
          <p:cNvPr id="18" name="Text 16"/>
          <p:cNvSpPr txBox="1"/>
          <p:nvPr/>
        </p:nvSpPr>
        <p:spPr>
          <a:xfrm>
            <a:off x="9349511" y="2578608"/>
            <a:ext cx="2019224" cy="640080"/>
          </a:xfrm>
          <a:prstGeom prst="rect">
            <a:avLst/>
          </a:prstGeom>
          <a:noFill/>
          <a:ln/>
        </p:spPr>
        <p:txBody>
          <a:bodyPr wrap="square" lIns="0" tIns="0" rIns="0" bIns="0" rtlCol="0" anchor="t"/>
          <a:lstStyle/>
          <a:p>
            <a:pPr marL="0" indent="0">
              <a:buNone/>
            </a:pPr>
            <a:r>
              <a:rPr lang="ko-KR" altLang="en-US" sz="1200" dirty="0">
                <a:solidFill>
                  <a:srgbClr val="5B6B7A"/>
                </a:solidFill>
                <a:latin typeface="맑은 고딕" panose="020B0503020000020004" pitchFamily="50" charset="-127"/>
                <a:ea typeface="맑은 고딕" panose="020B0503020000020004" pitchFamily="50" charset="-127"/>
                <a:cs typeface="맑은 고딕" pitchFamily="34" charset="-120"/>
              </a:rPr>
              <a:t>CSV와 같은 값, integrity_check 통과</a:t>
            </a:r>
            <a:endParaRPr lang="ko-KR" altLang="en-US" sz="1200" dirty="0"/>
          </a:p>
        </p:txBody>
      </p:sp>
      <p:sp>
        <p:nvSpPr>
          <p:cNvPr id="19" name="Shape 17"/>
          <p:cNvSpPr/>
          <p:nvPr/>
        </p:nvSpPr>
        <p:spPr>
          <a:xfrm>
            <a:off x="548640" y="3776472"/>
            <a:ext cx="237744" cy="237744"/>
          </a:xfrm>
          <a:prstGeom prst="ellipse">
            <a:avLst/>
          </a:prstGeom>
          <a:solidFill>
            <a:srgbClr val="C8412E"/>
          </a:solidFill>
          <a:ln w="12700">
            <a:solidFill>
              <a:srgbClr val="C8412E"/>
            </a:solidFill>
            <a:prstDash val="solid"/>
          </a:ln>
        </p:spPr>
      </p:sp>
      <p:sp>
        <p:nvSpPr>
          <p:cNvPr id="20" name="Text 18"/>
          <p:cNvSpPr txBox="1"/>
          <p:nvPr/>
        </p:nvSpPr>
        <p:spPr>
          <a:xfrm>
            <a:off x="960120" y="3703320"/>
            <a:ext cx="3566160" cy="731520"/>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보간·이상값 제거를 하지 않은 이유</a:t>
            </a:r>
            <a:endParaRPr lang="ko-KR" altLang="en-US" sz="1500" dirty="0"/>
          </a:p>
        </p:txBody>
      </p:sp>
      <p:sp>
        <p:nvSpPr>
          <p:cNvPr id="21" name="Text 19"/>
          <p:cNvSpPr txBox="1"/>
          <p:nvPr/>
        </p:nvSpPr>
        <p:spPr>
          <a:xfrm>
            <a:off x="4572000" y="3703320"/>
            <a:ext cx="7071055" cy="731520"/>
          </a:xfrm>
          <a:prstGeom prst="rect">
            <a:avLst/>
          </a:prstGeom>
          <a:noFill/>
          <a:ln/>
        </p:spPr>
        <p:txBody>
          <a:bodyPr wrap="square" lIns="0" tIns="0" rIns="0" bIns="0" rtlCol="0" anchor="t"/>
          <a:lstStyle/>
          <a:p>
            <a:pPr marL="0" indent="0">
              <a:buNone/>
            </a:pPr>
            <a:r>
              <a:rPr lang="ko-KR" altLang="en-US" sz="1350" dirty="0">
                <a:solidFill>
                  <a:srgbClr val="1F2A36"/>
                </a:solidFill>
                <a:latin typeface="맑은 고딕" panose="020B0503020000020004" pitchFamily="50" charset="-127"/>
                <a:ea typeface="맑은 고딕" panose="020B0503020000020004" pitchFamily="50" charset="-127"/>
                <a:cs typeface="맑은 고딕" pitchFamily="34" charset="-120"/>
              </a:rPr>
              <a:t>위기의 급등 자체가 분석 대상이다. 튀는 값을 지우면 사건을 지우게 된다.</a:t>
            </a:r>
            <a:endParaRPr lang="ko-KR" altLang="en-US" sz="1350" dirty="0"/>
          </a:p>
        </p:txBody>
      </p:sp>
      <p:sp>
        <p:nvSpPr>
          <p:cNvPr id="22" name="Shape 20"/>
          <p:cNvSpPr/>
          <p:nvPr/>
        </p:nvSpPr>
        <p:spPr>
          <a:xfrm>
            <a:off x="548640" y="4645152"/>
            <a:ext cx="237744" cy="237744"/>
          </a:xfrm>
          <a:prstGeom prst="ellipse">
            <a:avLst/>
          </a:prstGeom>
          <a:solidFill>
            <a:srgbClr val="C8412E"/>
          </a:solidFill>
          <a:ln w="12700">
            <a:solidFill>
              <a:srgbClr val="C8412E"/>
            </a:solidFill>
            <a:prstDash val="solid"/>
          </a:ln>
        </p:spPr>
      </p:sp>
      <p:sp>
        <p:nvSpPr>
          <p:cNvPr id="23" name="Text 21"/>
          <p:cNvSpPr txBox="1"/>
          <p:nvPr/>
        </p:nvSpPr>
        <p:spPr>
          <a:xfrm>
            <a:off x="960120" y="4572000"/>
            <a:ext cx="3566160" cy="731520"/>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날짜 판단은 일별 자료로</a:t>
            </a:r>
            <a:endParaRPr lang="ko-KR" altLang="en-US" sz="1500" dirty="0"/>
          </a:p>
        </p:txBody>
      </p:sp>
      <p:sp>
        <p:nvSpPr>
          <p:cNvPr id="24" name="Text 22"/>
          <p:cNvSpPr txBox="1"/>
          <p:nvPr/>
        </p:nvSpPr>
        <p:spPr>
          <a:xfrm>
            <a:off x="4572000" y="4572000"/>
            <a:ext cx="7071055" cy="731520"/>
          </a:xfrm>
          <a:prstGeom prst="rect">
            <a:avLst/>
          </a:prstGeom>
          <a:noFill/>
          <a:ln/>
        </p:spPr>
        <p:txBody>
          <a:bodyPr wrap="square" lIns="0" tIns="0" rIns="0" bIns="0" rtlCol="0" anchor="t"/>
          <a:lstStyle/>
          <a:p>
            <a:pPr marL="0" indent="0">
              <a:buNone/>
            </a:pPr>
            <a:r>
              <a:rPr lang="ko-KR" altLang="en-US" sz="1350" dirty="0">
                <a:solidFill>
                  <a:srgbClr val="1F2A36"/>
                </a:solidFill>
                <a:latin typeface="맑은 고딕" panose="020B0503020000020004" pitchFamily="50" charset="-127"/>
                <a:ea typeface="맑은 고딕" panose="020B0503020000020004" pitchFamily="50" charset="-127"/>
                <a:cs typeface="맑은 고딕" pitchFamily="34" charset="-120"/>
              </a:rPr>
              <a:t>월평균은 급등락을 평평하게 만든다(월별 정점 167bp &lt; 일별 177bp). 이탈일·복귀일은 ECOS 일별로 판단했다.</a:t>
            </a:r>
            <a:endParaRPr lang="ko-KR" altLang="en-US" sz="1350" dirty="0"/>
          </a:p>
        </p:txBody>
      </p:sp>
      <p:sp>
        <p:nvSpPr>
          <p:cNvPr id="25" name="Shape 23"/>
          <p:cNvSpPr/>
          <p:nvPr/>
        </p:nvSpPr>
        <p:spPr>
          <a:xfrm>
            <a:off x="548640" y="5513832"/>
            <a:ext cx="237744" cy="237744"/>
          </a:xfrm>
          <a:prstGeom prst="ellipse">
            <a:avLst/>
          </a:prstGeom>
          <a:solidFill>
            <a:srgbClr val="C8412E"/>
          </a:solidFill>
          <a:ln w="12700">
            <a:solidFill>
              <a:srgbClr val="C8412E"/>
            </a:solidFill>
            <a:prstDash val="solid"/>
          </a:ln>
        </p:spPr>
      </p:sp>
      <p:sp>
        <p:nvSpPr>
          <p:cNvPr id="26" name="Text 24"/>
          <p:cNvSpPr txBox="1"/>
          <p:nvPr/>
        </p:nvSpPr>
        <p:spPr>
          <a:xfrm>
            <a:off x="960120" y="5440680"/>
            <a:ext cx="3566160" cy="731520"/>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원자료도 다시 읽을 수 있게</a:t>
            </a:r>
            <a:endParaRPr lang="ko-KR" altLang="en-US" sz="1500" dirty="0"/>
          </a:p>
        </p:txBody>
      </p:sp>
      <p:sp>
        <p:nvSpPr>
          <p:cNvPr id="27" name="Text 25"/>
          <p:cNvSpPr txBox="1"/>
          <p:nvPr/>
        </p:nvSpPr>
        <p:spPr>
          <a:xfrm>
            <a:off x="4572000" y="5440680"/>
            <a:ext cx="7071055" cy="731520"/>
          </a:xfrm>
          <a:prstGeom prst="rect">
            <a:avLst/>
          </a:prstGeom>
          <a:noFill/>
          <a:ln/>
        </p:spPr>
        <p:txBody>
          <a:bodyPr wrap="square" lIns="0" tIns="0" rIns="0" bIns="0" rtlCol="0" anchor="t"/>
          <a:lstStyle/>
          <a:p>
            <a:pPr marL="0" indent="0">
              <a:buNone/>
            </a:pPr>
            <a:r>
              <a:rPr lang="ko-KR" altLang="en-US" sz="1350" dirty="0">
                <a:solidFill>
                  <a:srgbClr val="1F2A36"/>
                </a:solidFill>
                <a:latin typeface="맑은 고딕" panose="020B0503020000020004" pitchFamily="50" charset="-127"/>
                <a:ea typeface="맑은 고딕" panose="020B0503020000020004" pitchFamily="50" charset="-127"/>
                <a:cs typeface="맑은 고딕" pitchFamily="34" charset="-120"/>
              </a:rPr>
              <a:t>raw_date를 '19.01'처럼 두 자리 월로 저장해 1월과 10월이 섞이지 않게 했다.</a:t>
            </a:r>
            <a:endParaRPr lang="ko-KR" altLang="en-US" sz="1350" dirty="0"/>
          </a:p>
        </p:txBody>
      </p:sp>
      <p:sp>
        <p:nvSpPr>
          <p:cNvPr id="28" name="Text 26"/>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prepare() · check_monthly_basis() · persist()  |  output/quality_checks.json</a:t>
            </a:r>
            <a:endParaRPr lang="ko-KR" altLang="en-US" sz="900" dirty="0"/>
          </a:p>
        </p:txBody>
      </p:sp>
      <p:sp>
        <p:nvSpPr>
          <p:cNvPr id="29" name="Text 27"/>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6</a:t>
            </a:r>
            <a:endParaRPr lang="ko-KR" alt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1672" cy="566928"/>
          </a:xfrm>
          <a:prstGeom prst="rect">
            <a:avLst/>
          </a:prstGeom>
          <a:noFill/>
        </p:spPr>
        <p:txBody>
          <a:bodyPr wrap="square" lIns="0" tIns="0" rIns="0" bIns="0" anchor="ctr">
            <a:spAutoFit/>
          </a:bodyPr>
          <a:lstStyle/>
          <a:p>
            <a:pPr algn="l"/>
            <a:r>
              <a:rPr sz="2800" b="1">
                <a:solidFill>
                  <a:srgbClr val="14304A"/>
                </a:solidFill>
                <a:latin typeface="맑은 고딕"/>
                <a:ea typeface="맑은 고딕"/>
                <a:cs typeface="맑은 고딕"/>
              </a:rPr>
              <a:t>DB 구조 ① 월별: 날짜 하나로 이어지는 표들</a:t>
            </a:r>
          </a:p>
        </p:txBody>
      </p:sp>
      <p:sp>
        <p:nvSpPr>
          <p:cNvPr id="3" name="Rounded Rectangle 2"/>
          <p:cNvSpPr/>
          <p:nvPr/>
        </p:nvSpPr>
        <p:spPr>
          <a:xfrm>
            <a:off x="548640" y="1417320"/>
            <a:ext cx="2606040" cy="2651760"/>
          </a:xfrm>
          <a:prstGeom prst="roundRect">
            <a:avLst>
              <a:gd name="adj" fmla="val 3000"/>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 Same Side Corner Rectangle 3"/>
          <p:cNvSpPr/>
          <p:nvPr/>
        </p:nvSpPr>
        <p:spPr>
          <a:xfrm>
            <a:off x="548640" y="1417320"/>
            <a:ext cx="2606040" cy="402336"/>
          </a:xfrm>
          <a:prstGeom prst="round2SameRect">
            <a:avLst>
              <a:gd name="adj1" fmla="val 25000"/>
              <a:gd name="adj2" fmla="val 0"/>
            </a:avLst>
          </a:prstGeom>
          <a:solidFill>
            <a:srgbClr val="14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444752"/>
            <a:ext cx="1874519" cy="219456"/>
          </a:xfrm>
          <a:prstGeom prst="rect">
            <a:avLst/>
          </a:prstGeom>
          <a:noFill/>
        </p:spPr>
        <p:txBody>
          <a:bodyPr wrap="square" lIns="0" tIns="0" rIns="0" bIns="0" anchor="ctr">
            <a:spAutoFit/>
          </a:bodyPr>
          <a:lstStyle/>
          <a:p>
            <a:pPr algn="l"/>
            <a:r>
              <a:rPr sz="1050" b="1">
                <a:solidFill>
                  <a:srgbClr val="FFFFFF"/>
                </a:solidFill>
                <a:latin typeface="Courier New"/>
                <a:ea typeface="맑은 고딕"/>
                <a:cs typeface="맑은 고딕"/>
              </a:rPr>
              <a:t>monthly_all</a:t>
            </a:r>
          </a:p>
        </p:txBody>
      </p:sp>
      <p:sp>
        <p:nvSpPr>
          <p:cNvPr id="6" name="TextBox 5"/>
          <p:cNvSpPr txBox="1"/>
          <p:nvPr/>
        </p:nvSpPr>
        <p:spPr>
          <a:xfrm>
            <a:off x="658368" y="1645920"/>
            <a:ext cx="2386584" cy="155448"/>
          </a:xfrm>
          <a:prstGeom prst="rect">
            <a:avLst/>
          </a:prstGeom>
          <a:noFill/>
        </p:spPr>
        <p:txBody>
          <a:bodyPr wrap="square" lIns="0" tIns="0" rIns="0" bIns="0" anchor="ctr">
            <a:spAutoFit/>
          </a:bodyPr>
          <a:lstStyle/>
          <a:p>
            <a:pPr algn="l"/>
            <a:r>
              <a:rPr sz="750" b="0">
                <a:solidFill>
                  <a:srgbClr val="E8EEF4"/>
                </a:solidFill>
                <a:latin typeface="맑은 고딕"/>
                <a:ea typeface="맑은 고딕"/>
                <a:cs typeface="맑은 고딕"/>
              </a:rPr>
              <a:t>월별 정제 데이터 · 2019.01–2023.12</a:t>
            </a:r>
          </a:p>
        </p:txBody>
      </p:sp>
      <p:sp>
        <p:nvSpPr>
          <p:cNvPr id="7" name="TextBox 6"/>
          <p:cNvSpPr txBox="1"/>
          <p:nvPr/>
        </p:nvSpPr>
        <p:spPr>
          <a:xfrm>
            <a:off x="2496312" y="1444752"/>
            <a:ext cx="548640" cy="219456"/>
          </a:xfrm>
          <a:prstGeom prst="rect">
            <a:avLst/>
          </a:prstGeom>
          <a:noFill/>
        </p:spPr>
        <p:txBody>
          <a:bodyPr wrap="square" lIns="0" tIns="0" rIns="0" bIns="0" anchor="ctr">
            <a:spAutoFit/>
          </a:bodyPr>
          <a:lstStyle/>
          <a:p>
            <a:pPr algn="r"/>
            <a:r>
              <a:rPr sz="950" b="1">
                <a:solidFill>
                  <a:srgbClr val="FFFFFF"/>
                </a:solidFill>
                <a:latin typeface="맑은 고딕"/>
                <a:ea typeface="맑은 고딕"/>
                <a:cs typeface="맑은 고딕"/>
              </a:rPr>
              <a:t>60행</a:t>
            </a:r>
          </a:p>
        </p:txBody>
      </p:sp>
      <p:sp>
        <p:nvSpPr>
          <p:cNvPr id="8" name="Rectangle 7"/>
          <p:cNvSpPr/>
          <p:nvPr/>
        </p:nvSpPr>
        <p:spPr>
          <a:xfrm>
            <a:off x="576072" y="1847088"/>
            <a:ext cx="2551176" cy="18288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847088"/>
            <a:ext cx="411480" cy="182880"/>
          </a:xfrm>
          <a:prstGeom prst="rect">
            <a:avLst/>
          </a:prstGeom>
          <a:noFill/>
        </p:spPr>
        <p:txBody>
          <a:bodyPr wrap="square" lIns="0" tIns="0" rIns="0" bIns="0" anchor="ctr">
            <a:spAutoFit/>
          </a:bodyPr>
          <a:lstStyle/>
          <a:p>
            <a:pPr algn="l"/>
            <a:r>
              <a:rPr sz="750" b="1">
                <a:solidFill>
                  <a:srgbClr val="14304A"/>
                </a:solidFill>
                <a:latin typeface="맑은 고딕"/>
                <a:ea typeface="맑은 고딕"/>
                <a:cs typeface="맑은 고딕"/>
              </a:rPr>
              <a:t>PK</a:t>
            </a:r>
          </a:p>
        </p:txBody>
      </p:sp>
      <p:sp>
        <p:nvSpPr>
          <p:cNvPr id="10" name="TextBox 9"/>
          <p:cNvSpPr txBox="1"/>
          <p:nvPr/>
        </p:nvSpPr>
        <p:spPr>
          <a:xfrm>
            <a:off x="1078992" y="1847088"/>
            <a:ext cx="1417320"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date</a:t>
            </a:r>
          </a:p>
        </p:txBody>
      </p:sp>
      <p:sp>
        <p:nvSpPr>
          <p:cNvPr id="11" name="TextBox 10"/>
          <p:cNvSpPr txBox="1"/>
          <p:nvPr/>
        </p:nvSpPr>
        <p:spPr>
          <a:xfrm>
            <a:off x="2496312" y="18470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2" name="TextBox 11"/>
          <p:cNvSpPr txBox="1"/>
          <p:nvPr/>
        </p:nvSpPr>
        <p:spPr>
          <a:xfrm>
            <a:off x="640080" y="2029968"/>
            <a:ext cx="411480" cy="182880"/>
          </a:xfrm>
          <a:prstGeom prst="rect">
            <a:avLst/>
          </a:prstGeom>
          <a:noFill/>
        </p:spPr>
        <p:txBody>
          <a:bodyPr wrap="square" lIns="0" tIns="0" rIns="0" bIns="0" anchor="ctr">
            <a:spAutoFit/>
          </a:bodyPr>
          <a:lstStyle/>
          <a:p>
            <a:pPr algn="l"/>
            <a:endParaRPr/>
          </a:p>
        </p:txBody>
      </p:sp>
      <p:sp>
        <p:nvSpPr>
          <p:cNvPr id="13" name="TextBox 12"/>
          <p:cNvSpPr txBox="1"/>
          <p:nvPr/>
        </p:nvSpPr>
        <p:spPr>
          <a:xfrm>
            <a:off x="1078992" y="202996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cd_91d_pct</a:t>
            </a:r>
          </a:p>
        </p:txBody>
      </p:sp>
      <p:sp>
        <p:nvSpPr>
          <p:cNvPr id="14" name="TextBox 13"/>
          <p:cNvSpPr txBox="1"/>
          <p:nvPr/>
        </p:nvSpPr>
        <p:spPr>
          <a:xfrm>
            <a:off x="2496312" y="20299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5" name="TextBox 14"/>
          <p:cNvSpPr txBox="1"/>
          <p:nvPr/>
        </p:nvSpPr>
        <p:spPr>
          <a:xfrm>
            <a:off x="640080" y="2212848"/>
            <a:ext cx="411480" cy="182880"/>
          </a:xfrm>
          <a:prstGeom prst="rect">
            <a:avLst/>
          </a:prstGeom>
          <a:noFill/>
        </p:spPr>
        <p:txBody>
          <a:bodyPr wrap="square" lIns="0" tIns="0" rIns="0" bIns="0" anchor="ctr">
            <a:spAutoFit/>
          </a:bodyPr>
          <a:lstStyle/>
          <a:p>
            <a:pPr algn="l"/>
            <a:endParaRPr/>
          </a:p>
        </p:txBody>
      </p:sp>
      <p:sp>
        <p:nvSpPr>
          <p:cNvPr id="16" name="TextBox 15"/>
          <p:cNvSpPr txBox="1"/>
          <p:nvPr/>
        </p:nvSpPr>
        <p:spPr>
          <a:xfrm>
            <a:off x="1078992" y="221284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corp_aa_minus_3y_pct</a:t>
            </a:r>
          </a:p>
        </p:txBody>
      </p:sp>
      <p:sp>
        <p:nvSpPr>
          <p:cNvPr id="17" name="TextBox 16"/>
          <p:cNvSpPr txBox="1"/>
          <p:nvPr/>
        </p:nvSpPr>
        <p:spPr>
          <a:xfrm>
            <a:off x="2496312" y="22128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8" name="TextBox 17"/>
          <p:cNvSpPr txBox="1"/>
          <p:nvPr/>
        </p:nvSpPr>
        <p:spPr>
          <a:xfrm>
            <a:off x="640080" y="2395728"/>
            <a:ext cx="411480" cy="182880"/>
          </a:xfrm>
          <a:prstGeom prst="rect">
            <a:avLst/>
          </a:prstGeom>
          <a:noFill/>
        </p:spPr>
        <p:txBody>
          <a:bodyPr wrap="square" lIns="0" tIns="0" rIns="0" bIns="0" anchor="ctr">
            <a:spAutoFit/>
          </a:bodyPr>
          <a:lstStyle/>
          <a:p>
            <a:pPr algn="l"/>
            <a:endParaRPr/>
          </a:p>
        </p:txBody>
      </p:sp>
      <p:sp>
        <p:nvSpPr>
          <p:cNvPr id="19" name="TextBox 18"/>
          <p:cNvSpPr txBox="1"/>
          <p:nvPr/>
        </p:nvSpPr>
        <p:spPr>
          <a:xfrm>
            <a:off x="1078992" y="239572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treasury_3y_pct</a:t>
            </a:r>
          </a:p>
        </p:txBody>
      </p:sp>
      <p:sp>
        <p:nvSpPr>
          <p:cNvPr id="20" name="TextBox 19"/>
          <p:cNvSpPr txBox="1"/>
          <p:nvPr/>
        </p:nvSpPr>
        <p:spPr>
          <a:xfrm>
            <a:off x="2496312" y="23957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21" name="TextBox 20"/>
          <p:cNvSpPr txBox="1"/>
          <p:nvPr/>
        </p:nvSpPr>
        <p:spPr>
          <a:xfrm>
            <a:off x="640080" y="2578608"/>
            <a:ext cx="411480" cy="182880"/>
          </a:xfrm>
          <a:prstGeom prst="rect">
            <a:avLst/>
          </a:prstGeom>
          <a:noFill/>
        </p:spPr>
        <p:txBody>
          <a:bodyPr wrap="square" lIns="0" tIns="0" rIns="0" bIns="0" anchor="ctr">
            <a:spAutoFit/>
          </a:bodyPr>
          <a:lstStyle/>
          <a:p>
            <a:pPr algn="l"/>
            <a:endParaRPr/>
          </a:p>
        </p:txBody>
      </p:sp>
      <p:sp>
        <p:nvSpPr>
          <p:cNvPr id="22" name="TextBox 21"/>
          <p:cNvSpPr txBox="1"/>
          <p:nvPr/>
        </p:nvSpPr>
        <p:spPr>
          <a:xfrm>
            <a:off x="1078992" y="257860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spread_bp</a:t>
            </a:r>
          </a:p>
        </p:txBody>
      </p:sp>
      <p:sp>
        <p:nvSpPr>
          <p:cNvPr id="23" name="TextBox 22"/>
          <p:cNvSpPr txBox="1"/>
          <p:nvPr/>
        </p:nvSpPr>
        <p:spPr>
          <a:xfrm>
            <a:off x="2496312" y="25786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24" name="TextBox 23"/>
          <p:cNvSpPr txBox="1"/>
          <p:nvPr/>
        </p:nvSpPr>
        <p:spPr>
          <a:xfrm>
            <a:off x="640080" y="2761488"/>
            <a:ext cx="411480" cy="182880"/>
          </a:xfrm>
          <a:prstGeom prst="rect">
            <a:avLst/>
          </a:prstGeom>
          <a:noFill/>
        </p:spPr>
        <p:txBody>
          <a:bodyPr wrap="square" lIns="0" tIns="0" rIns="0" bIns="0" anchor="ctr">
            <a:spAutoFit/>
          </a:bodyPr>
          <a:lstStyle/>
          <a:p>
            <a:pPr algn="l"/>
            <a:endParaRPr/>
          </a:p>
        </p:txBody>
      </p:sp>
      <p:sp>
        <p:nvSpPr>
          <p:cNvPr id="25" name="TextBox 24"/>
          <p:cNvSpPr txBox="1"/>
          <p:nvPr/>
        </p:nvSpPr>
        <p:spPr>
          <a:xfrm>
            <a:off x="1078992" y="276148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cd_minus_treasury_bp</a:t>
            </a:r>
          </a:p>
        </p:txBody>
      </p:sp>
      <p:sp>
        <p:nvSpPr>
          <p:cNvPr id="26" name="TextBox 25"/>
          <p:cNvSpPr txBox="1"/>
          <p:nvPr/>
        </p:nvSpPr>
        <p:spPr>
          <a:xfrm>
            <a:off x="2496312" y="27614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27" name="TextBox 26"/>
          <p:cNvSpPr txBox="1"/>
          <p:nvPr/>
        </p:nvSpPr>
        <p:spPr>
          <a:xfrm>
            <a:off x="640080" y="2944368"/>
            <a:ext cx="411480" cy="182880"/>
          </a:xfrm>
          <a:prstGeom prst="rect">
            <a:avLst/>
          </a:prstGeom>
          <a:noFill/>
        </p:spPr>
        <p:txBody>
          <a:bodyPr wrap="square" lIns="0" tIns="0" rIns="0" bIns="0" anchor="ctr">
            <a:spAutoFit/>
          </a:bodyPr>
          <a:lstStyle/>
          <a:p>
            <a:pPr algn="l"/>
            <a:endParaRPr/>
          </a:p>
        </p:txBody>
      </p:sp>
      <p:sp>
        <p:nvSpPr>
          <p:cNvPr id="28" name="TextBox 27"/>
          <p:cNvSpPr txBox="1"/>
          <p:nvPr/>
        </p:nvSpPr>
        <p:spPr>
          <a:xfrm>
            <a:off x="1078992" y="294436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cd_change_bp</a:t>
            </a:r>
          </a:p>
        </p:txBody>
      </p:sp>
      <p:sp>
        <p:nvSpPr>
          <p:cNvPr id="29" name="TextBox 28"/>
          <p:cNvSpPr txBox="1"/>
          <p:nvPr/>
        </p:nvSpPr>
        <p:spPr>
          <a:xfrm>
            <a:off x="2496312" y="29443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30" name="TextBox 29"/>
          <p:cNvSpPr txBox="1"/>
          <p:nvPr/>
        </p:nvSpPr>
        <p:spPr>
          <a:xfrm>
            <a:off x="640080" y="3127248"/>
            <a:ext cx="411480" cy="182880"/>
          </a:xfrm>
          <a:prstGeom prst="rect">
            <a:avLst/>
          </a:prstGeom>
          <a:noFill/>
        </p:spPr>
        <p:txBody>
          <a:bodyPr wrap="square" lIns="0" tIns="0" rIns="0" bIns="0" anchor="ctr">
            <a:spAutoFit/>
          </a:bodyPr>
          <a:lstStyle/>
          <a:p>
            <a:pPr algn="l"/>
            <a:endParaRPr/>
          </a:p>
        </p:txBody>
      </p:sp>
      <p:sp>
        <p:nvSpPr>
          <p:cNvPr id="31" name="TextBox 30"/>
          <p:cNvSpPr txBox="1"/>
          <p:nvPr/>
        </p:nvSpPr>
        <p:spPr>
          <a:xfrm>
            <a:off x="1078992" y="312724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corp_change_bp</a:t>
            </a:r>
          </a:p>
        </p:txBody>
      </p:sp>
      <p:sp>
        <p:nvSpPr>
          <p:cNvPr id="32" name="TextBox 31"/>
          <p:cNvSpPr txBox="1"/>
          <p:nvPr/>
        </p:nvSpPr>
        <p:spPr>
          <a:xfrm>
            <a:off x="2496312" y="31272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33" name="TextBox 32"/>
          <p:cNvSpPr txBox="1"/>
          <p:nvPr/>
        </p:nvSpPr>
        <p:spPr>
          <a:xfrm>
            <a:off x="640080" y="3310128"/>
            <a:ext cx="411480" cy="182880"/>
          </a:xfrm>
          <a:prstGeom prst="rect">
            <a:avLst/>
          </a:prstGeom>
          <a:noFill/>
        </p:spPr>
        <p:txBody>
          <a:bodyPr wrap="square" lIns="0" tIns="0" rIns="0" bIns="0" anchor="ctr">
            <a:spAutoFit/>
          </a:bodyPr>
          <a:lstStyle/>
          <a:p>
            <a:pPr algn="l"/>
            <a:endParaRPr/>
          </a:p>
        </p:txBody>
      </p:sp>
      <p:sp>
        <p:nvSpPr>
          <p:cNvPr id="34" name="TextBox 33"/>
          <p:cNvSpPr txBox="1"/>
          <p:nvPr/>
        </p:nvSpPr>
        <p:spPr>
          <a:xfrm>
            <a:off x="1078992" y="331012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treasury_change_bp</a:t>
            </a:r>
          </a:p>
        </p:txBody>
      </p:sp>
      <p:sp>
        <p:nvSpPr>
          <p:cNvPr id="35" name="TextBox 34"/>
          <p:cNvSpPr txBox="1"/>
          <p:nvPr/>
        </p:nvSpPr>
        <p:spPr>
          <a:xfrm>
            <a:off x="2496312" y="33101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36" name="TextBox 35"/>
          <p:cNvSpPr txBox="1"/>
          <p:nvPr/>
        </p:nvSpPr>
        <p:spPr>
          <a:xfrm>
            <a:off x="640080" y="3493008"/>
            <a:ext cx="411480" cy="182880"/>
          </a:xfrm>
          <a:prstGeom prst="rect">
            <a:avLst/>
          </a:prstGeom>
          <a:noFill/>
        </p:spPr>
        <p:txBody>
          <a:bodyPr wrap="square" lIns="0" tIns="0" rIns="0" bIns="0" anchor="ctr">
            <a:spAutoFit/>
          </a:bodyPr>
          <a:lstStyle/>
          <a:p>
            <a:pPr algn="l"/>
            <a:endParaRPr/>
          </a:p>
        </p:txBody>
      </p:sp>
      <p:sp>
        <p:nvSpPr>
          <p:cNvPr id="37" name="TextBox 36"/>
          <p:cNvSpPr txBox="1"/>
          <p:nvPr/>
        </p:nvSpPr>
        <p:spPr>
          <a:xfrm>
            <a:off x="1078992" y="349300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source_url</a:t>
            </a:r>
          </a:p>
        </p:txBody>
      </p:sp>
      <p:sp>
        <p:nvSpPr>
          <p:cNvPr id="38" name="TextBox 37"/>
          <p:cNvSpPr txBox="1"/>
          <p:nvPr/>
        </p:nvSpPr>
        <p:spPr>
          <a:xfrm>
            <a:off x="2496312" y="34930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39" name="TextBox 38"/>
          <p:cNvSpPr txBox="1"/>
          <p:nvPr/>
        </p:nvSpPr>
        <p:spPr>
          <a:xfrm>
            <a:off x="640080" y="3675887"/>
            <a:ext cx="411480" cy="182880"/>
          </a:xfrm>
          <a:prstGeom prst="rect">
            <a:avLst/>
          </a:prstGeom>
          <a:noFill/>
        </p:spPr>
        <p:txBody>
          <a:bodyPr wrap="square" lIns="0" tIns="0" rIns="0" bIns="0" anchor="ctr">
            <a:spAutoFit/>
          </a:bodyPr>
          <a:lstStyle/>
          <a:p>
            <a:pPr algn="l"/>
            <a:endParaRPr/>
          </a:p>
        </p:txBody>
      </p:sp>
      <p:sp>
        <p:nvSpPr>
          <p:cNvPr id="40" name="TextBox 39"/>
          <p:cNvSpPr txBox="1"/>
          <p:nvPr/>
        </p:nvSpPr>
        <p:spPr>
          <a:xfrm>
            <a:off x="1078992" y="3675887"/>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frequency</a:t>
            </a:r>
          </a:p>
        </p:txBody>
      </p:sp>
      <p:sp>
        <p:nvSpPr>
          <p:cNvPr id="41" name="TextBox 40"/>
          <p:cNvSpPr txBox="1"/>
          <p:nvPr/>
        </p:nvSpPr>
        <p:spPr>
          <a:xfrm>
            <a:off x="2496312" y="3675887"/>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42" name="TextBox 41"/>
          <p:cNvSpPr txBox="1"/>
          <p:nvPr/>
        </p:nvSpPr>
        <p:spPr>
          <a:xfrm>
            <a:off x="640080" y="3858768"/>
            <a:ext cx="411480" cy="182880"/>
          </a:xfrm>
          <a:prstGeom prst="rect">
            <a:avLst/>
          </a:prstGeom>
          <a:noFill/>
        </p:spPr>
        <p:txBody>
          <a:bodyPr wrap="square" lIns="0" tIns="0" rIns="0" bIns="0" anchor="ctr">
            <a:spAutoFit/>
          </a:bodyPr>
          <a:lstStyle/>
          <a:p>
            <a:pPr algn="l"/>
            <a:endParaRPr/>
          </a:p>
        </p:txBody>
      </p:sp>
      <p:sp>
        <p:nvSpPr>
          <p:cNvPr id="43" name="TextBox 42"/>
          <p:cNvSpPr txBox="1"/>
          <p:nvPr/>
        </p:nvSpPr>
        <p:spPr>
          <a:xfrm>
            <a:off x="1078992" y="385876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retrieved_at_utc</a:t>
            </a:r>
          </a:p>
        </p:txBody>
      </p:sp>
      <p:sp>
        <p:nvSpPr>
          <p:cNvPr id="44" name="TextBox 43"/>
          <p:cNvSpPr txBox="1"/>
          <p:nvPr/>
        </p:nvSpPr>
        <p:spPr>
          <a:xfrm>
            <a:off x="2496312" y="38587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45" name="Rounded Rectangle 44"/>
          <p:cNvSpPr/>
          <p:nvPr/>
        </p:nvSpPr>
        <p:spPr>
          <a:xfrm>
            <a:off x="3611880" y="1417320"/>
            <a:ext cx="2606040" cy="3017520"/>
          </a:xfrm>
          <a:prstGeom prst="roundRect">
            <a:avLst>
              <a:gd name="adj" fmla="val 3000"/>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 Same Side Corner Rectangle 45"/>
          <p:cNvSpPr/>
          <p:nvPr/>
        </p:nvSpPr>
        <p:spPr>
          <a:xfrm>
            <a:off x="3611880" y="1417320"/>
            <a:ext cx="2606040" cy="402336"/>
          </a:xfrm>
          <a:prstGeom prst="round2SameRect">
            <a:avLst>
              <a:gd name="adj1" fmla="val 25000"/>
              <a:gd name="adj2" fmla="val 0"/>
            </a:avLst>
          </a:prstGeom>
          <a:solidFill>
            <a:srgbClr val="14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721608" y="1444752"/>
            <a:ext cx="1874519" cy="219456"/>
          </a:xfrm>
          <a:prstGeom prst="rect">
            <a:avLst/>
          </a:prstGeom>
          <a:noFill/>
        </p:spPr>
        <p:txBody>
          <a:bodyPr wrap="square" lIns="0" tIns="0" rIns="0" bIns="0" anchor="ctr">
            <a:spAutoFit/>
          </a:bodyPr>
          <a:lstStyle/>
          <a:p>
            <a:pPr algn="l"/>
            <a:r>
              <a:rPr sz="1050" b="1">
                <a:solidFill>
                  <a:srgbClr val="FFFFFF"/>
                </a:solidFill>
                <a:latin typeface="Courier New"/>
                <a:ea typeface="맑은 고딕"/>
                <a:cs typeface="맑은 고딕"/>
              </a:rPr>
              <a:t>analysis_monthly</a:t>
            </a:r>
          </a:p>
        </p:txBody>
      </p:sp>
      <p:sp>
        <p:nvSpPr>
          <p:cNvPr id="48" name="TextBox 47"/>
          <p:cNvSpPr txBox="1"/>
          <p:nvPr/>
        </p:nvSpPr>
        <p:spPr>
          <a:xfrm>
            <a:off x="3721608" y="1645920"/>
            <a:ext cx="2386584" cy="155448"/>
          </a:xfrm>
          <a:prstGeom prst="rect">
            <a:avLst/>
          </a:prstGeom>
          <a:noFill/>
        </p:spPr>
        <p:txBody>
          <a:bodyPr wrap="square" lIns="0" tIns="0" rIns="0" bIns="0" anchor="ctr">
            <a:spAutoFit/>
          </a:bodyPr>
          <a:lstStyle/>
          <a:p>
            <a:pPr algn="l"/>
            <a:r>
              <a:rPr sz="750" b="0">
                <a:solidFill>
                  <a:srgbClr val="E8EEF4"/>
                </a:solidFill>
                <a:latin typeface="맑은 고딕"/>
                <a:ea typeface="맑은 고딕"/>
                <a:cs typeface="맑은 고딕"/>
              </a:rPr>
              <a:t>분석 구간 · 2022.01–2023.06</a:t>
            </a:r>
          </a:p>
        </p:txBody>
      </p:sp>
      <p:sp>
        <p:nvSpPr>
          <p:cNvPr id="49" name="TextBox 48"/>
          <p:cNvSpPr txBox="1"/>
          <p:nvPr/>
        </p:nvSpPr>
        <p:spPr>
          <a:xfrm>
            <a:off x="5559552" y="1444752"/>
            <a:ext cx="548640" cy="219456"/>
          </a:xfrm>
          <a:prstGeom prst="rect">
            <a:avLst/>
          </a:prstGeom>
          <a:noFill/>
        </p:spPr>
        <p:txBody>
          <a:bodyPr wrap="square" lIns="0" tIns="0" rIns="0" bIns="0" anchor="ctr">
            <a:spAutoFit/>
          </a:bodyPr>
          <a:lstStyle/>
          <a:p>
            <a:pPr algn="r"/>
            <a:r>
              <a:rPr sz="950" b="1">
                <a:solidFill>
                  <a:srgbClr val="FFFFFF"/>
                </a:solidFill>
                <a:latin typeface="맑은 고딕"/>
                <a:ea typeface="맑은 고딕"/>
                <a:cs typeface="맑은 고딕"/>
              </a:rPr>
              <a:t>18행</a:t>
            </a:r>
          </a:p>
        </p:txBody>
      </p:sp>
      <p:sp>
        <p:nvSpPr>
          <p:cNvPr id="50" name="Rectangle 49"/>
          <p:cNvSpPr/>
          <p:nvPr/>
        </p:nvSpPr>
        <p:spPr>
          <a:xfrm>
            <a:off x="3639312" y="1847088"/>
            <a:ext cx="2551176" cy="18288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703320" y="1847088"/>
            <a:ext cx="411480" cy="182880"/>
          </a:xfrm>
          <a:prstGeom prst="rect">
            <a:avLst/>
          </a:prstGeom>
          <a:noFill/>
        </p:spPr>
        <p:txBody>
          <a:bodyPr wrap="square" lIns="0" tIns="0" rIns="0" bIns="0" anchor="ctr">
            <a:spAutoFit/>
          </a:bodyPr>
          <a:lstStyle/>
          <a:p>
            <a:pPr algn="l"/>
            <a:r>
              <a:rPr sz="750" b="1">
                <a:solidFill>
                  <a:srgbClr val="C8412E"/>
                </a:solidFill>
                <a:latin typeface="맑은 고딕"/>
                <a:ea typeface="맑은 고딕"/>
                <a:cs typeface="맑은 고딕"/>
              </a:rPr>
              <a:t>PK·FK</a:t>
            </a:r>
          </a:p>
        </p:txBody>
      </p:sp>
      <p:sp>
        <p:nvSpPr>
          <p:cNvPr id="52" name="TextBox 51"/>
          <p:cNvSpPr txBox="1"/>
          <p:nvPr/>
        </p:nvSpPr>
        <p:spPr>
          <a:xfrm>
            <a:off x="4142232" y="1847088"/>
            <a:ext cx="1417320"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date</a:t>
            </a:r>
          </a:p>
        </p:txBody>
      </p:sp>
      <p:sp>
        <p:nvSpPr>
          <p:cNvPr id="53" name="TextBox 52"/>
          <p:cNvSpPr txBox="1"/>
          <p:nvPr/>
        </p:nvSpPr>
        <p:spPr>
          <a:xfrm>
            <a:off x="5559552" y="18470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54" name="TextBox 53"/>
          <p:cNvSpPr txBox="1"/>
          <p:nvPr/>
        </p:nvSpPr>
        <p:spPr>
          <a:xfrm>
            <a:off x="3703320" y="2029968"/>
            <a:ext cx="411480" cy="182880"/>
          </a:xfrm>
          <a:prstGeom prst="rect">
            <a:avLst/>
          </a:prstGeom>
          <a:noFill/>
        </p:spPr>
        <p:txBody>
          <a:bodyPr wrap="square" lIns="0" tIns="0" rIns="0" bIns="0" anchor="ctr">
            <a:spAutoFit/>
          </a:bodyPr>
          <a:lstStyle/>
          <a:p>
            <a:pPr algn="l"/>
            <a:endParaRPr/>
          </a:p>
        </p:txBody>
      </p:sp>
      <p:sp>
        <p:nvSpPr>
          <p:cNvPr id="55" name="TextBox 54"/>
          <p:cNvSpPr txBox="1"/>
          <p:nvPr/>
        </p:nvSpPr>
        <p:spPr>
          <a:xfrm>
            <a:off x="4142232" y="202996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cd_91d_pct</a:t>
            </a:r>
          </a:p>
        </p:txBody>
      </p:sp>
      <p:sp>
        <p:nvSpPr>
          <p:cNvPr id="56" name="TextBox 55"/>
          <p:cNvSpPr txBox="1"/>
          <p:nvPr/>
        </p:nvSpPr>
        <p:spPr>
          <a:xfrm>
            <a:off x="5559552" y="20299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57" name="TextBox 56"/>
          <p:cNvSpPr txBox="1"/>
          <p:nvPr/>
        </p:nvSpPr>
        <p:spPr>
          <a:xfrm>
            <a:off x="3703320" y="2212848"/>
            <a:ext cx="411480" cy="182880"/>
          </a:xfrm>
          <a:prstGeom prst="rect">
            <a:avLst/>
          </a:prstGeom>
          <a:noFill/>
        </p:spPr>
        <p:txBody>
          <a:bodyPr wrap="square" lIns="0" tIns="0" rIns="0" bIns="0" anchor="ctr">
            <a:spAutoFit/>
          </a:bodyPr>
          <a:lstStyle/>
          <a:p>
            <a:pPr algn="l"/>
            <a:endParaRPr/>
          </a:p>
        </p:txBody>
      </p:sp>
      <p:sp>
        <p:nvSpPr>
          <p:cNvPr id="58" name="TextBox 57"/>
          <p:cNvSpPr txBox="1"/>
          <p:nvPr/>
        </p:nvSpPr>
        <p:spPr>
          <a:xfrm>
            <a:off x="4142232" y="221284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corp_aa_minus_3y_pct</a:t>
            </a:r>
          </a:p>
        </p:txBody>
      </p:sp>
      <p:sp>
        <p:nvSpPr>
          <p:cNvPr id="59" name="TextBox 58"/>
          <p:cNvSpPr txBox="1"/>
          <p:nvPr/>
        </p:nvSpPr>
        <p:spPr>
          <a:xfrm>
            <a:off x="5559552" y="22128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60" name="TextBox 59"/>
          <p:cNvSpPr txBox="1"/>
          <p:nvPr/>
        </p:nvSpPr>
        <p:spPr>
          <a:xfrm>
            <a:off x="3703320" y="2395728"/>
            <a:ext cx="411480" cy="182880"/>
          </a:xfrm>
          <a:prstGeom prst="rect">
            <a:avLst/>
          </a:prstGeom>
          <a:noFill/>
        </p:spPr>
        <p:txBody>
          <a:bodyPr wrap="square" lIns="0" tIns="0" rIns="0" bIns="0" anchor="ctr">
            <a:spAutoFit/>
          </a:bodyPr>
          <a:lstStyle/>
          <a:p>
            <a:pPr algn="l"/>
            <a:endParaRPr/>
          </a:p>
        </p:txBody>
      </p:sp>
      <p:sp>
        <p:nvSpPr>
          <p:cNvPr id="61" name="TextBox 60"/>
          <p:cNvSpPr txBox="1"/>
          <p:nvPr/>
        </p:nvSpPr>
        <p:spPr>
          <a:xfrm>
            <a:off x="4142232" y="239572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treasury_3y_pct</a:t>
            </a:r>
          </a:p>
        </p:txBody>
      </p:sp>
      <p:sp>
        <p:nvSpPr>
          <p:cNvPr id="62" name="TextBox 61"/>
          <p:cNvSpPr txBox="1"/>
          <p:nvPr/>
        </p:nvSpPr>
        <p:spPr>
          <a:xfrm>
            <a:off x="5559552" y="23957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63" name="TextBox 62"/>
          <p:cNvSpPr txBox="1"/>
          <p:nvPr/>
        </p:nvSpPr>
        <p:spPr>
          <a:xfrm>
            <a:off x="3703320" y="2578608"/>
            <a:ext cx="411480" cy="182880"/>
          </a:xfrm>
          <a:prstGeom prst="rect">
            <a:avLst/>
          </a:prstGeom>
          <a:noFill/>
        </p:spPr>
        <p:txBody>
          <a:bodyPr wrap="square" lIns="0" tIns="0" rIns="0" bIns="0" anchor="ctr">
            <a:spAutoFit/>
          </a:bodyPr>
          <a:lstStyle/>
          <a:p>
            <a:pPr algn="l"/>
            <a:endParaRPr/>
          </a:p>
        </p:txBody>
      </p:sp>
      <p:sp>
        <p:nvSpPr>
          <p:cNvPr id="64" name="TextBox 63"/>
          <p:cNvSpPr txBox="1"/>
          <p:nvPr/>
        </p:nvSpPr>
        <p:spPr>
          <a:xfrm>
            <a:off x="4142232" y="257860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spread_bp</a:t>
            </a:r>
          </a:p>
        </p:txBody>
      </p:sp>
      <p:sp>
        <p:nvSpPr>
          <p:cNvPr id="65" name="TextBox 64"/>
          <p:cNvSpPr txBox="1"/>
          <p:nvPr/>
        </p:nvSpPr>
        <p:spPr>
          <a:xfrm>
            <a:off x="5559552" y="25786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66" name="TextBox 65"/>
          <p:cNvSpPr txBox="1"/>
          <p:nvPr/>
        </p:nvSpPr>
        <p:spPr>
          <a:xfrm>
            <a:off x="3703320" y="2761488"/>
            <a:ext cx="411480" cy="182880"/>
          </a:xfrm>
          <a:prstGeom prst="rect">
            <a:avLst/>
          </a:prstGeom>
          <a:noFill/>
        </p:spPr>
        <p:txBody>
          <a:bodyPr wrap="square" lIns="0" tIns="0" rIns="0" bIns="0" anchor="ctr">
            <a:spAutoFit/>
          </a:bodyPr>
          <a:lstStyle/>
          <a:p>
            <a:pPr algn="l"/>
            <a:endParaRPr/>
          </a:p>
        </p:txBody>
      </p:sp>
      <p:sp>
        <p:nvSpPr>
          <p:cNvPr id="67" name="TextBox 66"/>
          <p:cNvSpPr txBox="1"/>
          <p:nvPr/>
        </p:nvSpPr>
        <p:spPr>
          <a:xfrm>
            <a:off x="4142232" y="276148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cd_minus_treasury_bp</a:t>
            </a:r>
          </a:p>
        </p:txBody>
      </p:sp>
      <p:sp>
        <p:nvSpPr>
          <p:cNvPr id="68" name="TextBox 67"/>
          <p:cNvSpPr txBox="1"/>
          <p:nvPr/>
        </p:nvSpPr>
        <p:spPr>
          <a:xfrm>
            <a:off x="5559552" y="27614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69" name="TextBox 68"/>
          <p:cNvSpPr txBox="1"/>
          <p:nvPr/>
        </p:nvSpPr>
        <p:spPr>
          <a:xfrm>
            <a:off x="3703320" y="2944368"/>
            <a:ext cx="411480" cy="182880"/>
          </a:xfrm>
          <a:prstGeom prst="rect">
            <a:avLst/>
          </a:prstGeom>
          <a:noFill/>
        </p:spPr>
        <p:txBody>
          <a:bodyPr wrap="square" lIns="0" tIns="0" rIns="0" bIns="0" anchor="ctr">
            <a:spAutoFit/>
          </a:bodyPr>
          <a:lstStyle/>
          <a:p>
            <a:pPr algn="l"/>
            <a:endParaRPr/>
          </a:p>
        </p:txBody>
      </p:sp>
      <p:sp>
        <p:nvSpPr>
          <p:cNvPr id="70" name="TextBox 69"/>
          <p:cNvSpPr txBox="1"/>
          <p:nvPr/>
        </p:nvSpPr>
        <p:spPr>
          <a:xfrm>
            <a:off x="4142232" y="294436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cd_change_bp</a:t>
            </a:r>
          </a:p>
        </p:txBody>
      </p:sp>
      <p:sp>
        <p:nvSpPr>
          <p:cNvPr id="71" name="TextBox 70"/>
          <p:cNvSpPr txBox="1"/>
          <p:nvPr/>
        </p:nvSpPr>
        <p:spPr>
          <a:xfrm>
            <a:off x="5559552" y="29443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72" name="TextBox 71"/>
          <p:cNvSpPr txBox="1"/>
          <p:nvPr/>
        </p:nvSpPr>
        <p:spPr>
          <a:xfrm>
            <a:off x="3703320" y="3127248"/>
            <a:ext cx="411480" cy="182880"/>
          </a:xfrm>
          <a:prstGeom prst="rect">
            <a:avLst/>
          </a:prstGeom>
          <a:noFill/>
        </p:spPr>
        <p:txBody>
          <a:bodyPr wrap="square" lIns="0" tIns="0" rIns="0" bIns="0" anchor="ctr">
            <a:spAutoFit/>
          </a:bodyPr>
          <a:lstStyle/>
          <a:p>
            <a:pPr algn="l"/>
            <a:endParaRPr/>
          </a:p>
        </p:txBody>
      </p:sp>
      <p:sp>
        <p:nvSpPr>
          <p:cNvPr id="73" name="TextBox 72"/>
          <p:cNvSpPr txBox="1"/>
          <p:nvPr/>
        </p:nvSpPr>
        <p:spPr>
          <a:xfrm>
            <a:off x="4142232" y="312724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corp_change_bp</a:t>
            </a:r>
          </a:p>
        </p:txBody>
      </p:sp>
      <p:sp>
        <p:nvSpPr>
          <p:cNvPr id="74" name="TextBox 73"/>
          <p:cNvSpPr txBox="1"/>
          <p:nvPr/>
        </p:nvSpPr>
        <p:spPr>
          <a:xfrm>
            <a:off x="5559552" y="31272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75" name="TextBox 74"/>
          <p:cNvSpPr txBox="1"/>
          <p:nvPr/>
        </p:nvSpPr>
        <p:spPr>
          <a:xfrm>
            <a:off x="3703320" y="3310128"/>
            <a:ext cx="411480" cy="182880"/>
          </a:xfrm>
          <a:prstGeom prst="rect">
            <a:avLst/>
          </a:prstGeom>
          <a:noFill/>
        </p:spPr>
        <p:txBody>
          <a:bodyPr wrap="square" lIns="0" tIns="0" rIns="0" bIns="0" anchor="ctr">
            <a:spAutoFit/>
          </a:bodyPr>
          <a:lstStyle/>
          <a:p>
            <a:pPr algn="l"/>
            <a:endParaRPr/>
          </a:p>
        </p:txBody>
      </p:sp>
      <p:sp>
        <p:nvSpPr>
          <p:cNvPr id="76" name="TextBox 75"/>
          <p:cNvSpPr txBox="1"/>
          <p:nvPr/>
        </p:nvSpPr>
        <p:spPr>
          <a:xfrm>
            <a:off x="4142232" y="331012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treasury_change_bp</a:t>
            </a:r>
          </a:p>
        </p:txBody>
      </p:sp>
      <p:sp>
        <p:nvSpPr>
          <p:cNvPr id="77" name="TextBox 76"/>
          <p:cNvSpPr txBox="1"/>
          <p:nvPr/>
        </p:nvSpPr>
        <p:spPr>
          <a:xfrm>
            <a:off x="5559552" y="33101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78" name="TextBox 77"/>
          <p:cNvSpPr txBox="1"/>
          <p:nvPr/>
        </p:nvSpPr>
        <p:spPr>
          <a:xfrm>
            <a:off x="3703320" y="3493008"/>
            <a:ext cx="411480" cy="182880"/>
          </a:xfrm>
          <a:prstGeom prst="rect">
            <a:avLst/>
          </a:prstGeom>
          <a:noFill/>
        </p:spPr>
        <p:txBody>
          <a:bodyPr wrap="square" lIns="0" tIns="0" rIns="0" bIns="0" anchor="ctr">
            <a:spAutoFit/>
          </a:bodyPr>
          <a:lstStyle/>
          <a:p>
            <a:pPr algn="l"/>
            <a:endParaRPr/>
          </a:p>
        </p:txBody>
      </p:sp>
      <p:sp>
        <p:nvSpPr>
          <p:cNvPr id="79" name="TextBox 78"/>
          <p:cNvSpPr txBox="1"/>
          <p:nvPr/>
        </p:nvSpPr>
        <p:spPr>
          <a:xfrm>
            <a:off x="4142232" y="349300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source_url</a:t>
            </a:r>
          </a:p>
        </p:txBody>
      </p:sp>
      <p:sp>
        <p:nvSpPr>
          <p:cNvPr id="80" name="TextBox 79"/>
          <p:cNvSpPr txBox="1"/>
          <p:nvPr/>
        </p:nvSpPr>
        <p:spPr>
          <a:xfrm>
            <a:off x="5559552" y="34930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81" name="TextBox 80"/>
          <p:cNvSpPr txBox="1"/>
          <p:nvPr/>
        </p:nvSpPr>
        <p:spPr>
          <a:xfrm>
            <a:off x="3703320" y="3675887"/>
            <a:ext cx="411480" cy="182880"/>
          </a:xfrm>
          <a:prstGeom prst="rect">
            <a:avLst/>
          </a:prstGeom>
          <a:noFill/>
        </p:spPr>
        <p:txBody>
          <a:bodyPr wrap="square" lIns="0" tIns="0" rIns="0" bIns="0" anchor="ctr">
            <a:spAutoFit/>
          </a:bodyPr>
          <a:lstStyle/>
          <a:p>
            <a:pPr algn="l"/>
            <a:endParaRPr/>
          </a:p>
        </p:txBody>
      </p:sp>
      <p:sp>
        <p:nvSpPr>
          <p:cNvPr id="82" name="TextBox 81"/>
          <p:cNvSpPr txBox="1"/>
          <p:nvPr/>
        </p:nvSpPr>
        <p:spPr>
          <a:xfrm>
            <a:off x="4142232" y="3675887"/>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frequency</a:t>
            </a:r>
          </a:p>
        </p:txBody>
      </p:sp>
      <p:sp>
        <p:nvSpPr>
          <p:cNvPr id="83" name="TextBox 82"/>
          <p:cNvSpPr txBox="1"/>
          <p:nvPr/>
        </p:nvSpPr>
        <p:spPr>
          <a:xfrm>
            <a:off x="5559552" y="3675887"/>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84" name="TextBox 83"/>
          <p:cNvSpPr txBox="1"/>
          <p:nvPr/>
        </p:nvSpPr>
        <p:spPr>
          <a:xfrm>
            <a:off x="3703320" y="3858768"/>
            <a:ext cx="411480" cy="182880"/>
          </a:xfrm>
          <a:prstGeom prst="rect">
            <a:avLst/>
          </a:prstGeom>
          <a:noFill/>
        </p:spPr>
        <p:txBody>
          <a:bodyPr wrap="square" lIns="0" tIns="0" rIns="0" bIns="0" anchor="ctr">
            <a:spAutoFit/>
          </a:bodyPr>
          <a:lstStyle/>
          <a:p>
            <a:pPr algn="l"/>
            <a:endParaRPr/>
          </a:p>
        </p:txBody>
      </p:sp>
      <p:sp>
        <p:nvSpPr>
          <p:cNvPr id="85" name="TextBox 84"/>
          <p:cNvSpPr txBox="1"/>
          <p:nvPr/>
        </p:nvSpPr>
        <p:spPr>
          <a:xfrm>
            <a:off x="4142232" y="385876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retrieved_at_utc</a:t>
            </a:r>
          </a:p>
        </p:txBody>
      </p:sp>
      <p:sp>
        <p:nvSpPr>
          <p:cNvPr id="86" name="TextBox 85"/>
          <p:cNvSpPr txBox="1"/>
          <p:nvPr/>
        </p:nvSpPr>
        <p:spPr>
          <a:xfrm>
            <a:off x="5559552" y="38587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87" name="Rectangle 86"/>
          <p:cNvSpPr/>
          <p:nvPr/>
        </p:nvSpPr>
        <p:spPr>
          <a:xfrm>
            <a:off x="3639312" y="4041648"/>
            <a:ext cx="2551176" cy="18288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703320" y="4041648"/>
            <a:ext cx="411480" cy="182880"/>
          </a:xfrm>
          <a:prstGeom prst="rect">
            <a:avLst/>
          </a:prstGeom>
          <a:noFill/>
        </p:spPr>
        <p:txBody>
          <a:bodyPr wrap="square" lIns="0" tIns="0" rIns="0" bIns="0" anchor="ctr">
            <a:spAutoFit/>
          </a:bodyPr>
          <a:lstStyle/>
          <a:p>
            <a:pPr algn="l"/>
            <a:r>
              <a:rPr sz="750" b="1">
                <a:solidFill>
                  <a:srgbClr val="C8412E"/>
                </a:solidFill>
                <a:latin typeface="맑은 고딕"/>
                <a:ea typeface="맑은 고딕"/>
                <a:cs typeface="맑은 고딕"/>
              </a:rPr>
              <a:t>FK</a:t>
            </a:r>
          </a:p>
        </p:txBody>
      </p:sp>
      <p:sp>
        <p:nvSpPr>
          <p:cNvPr id="89" name="TextBox 88"/>
          <p:cNvSpPr txBox="1"/>
          <p:nvPr/>
        </p:nvSpPr>
        <p:spPr>
          <a:xfrm>
            <a:off x="4142232" y="4041648"/>
            <a:ext cx="1417320"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period</a:t>
            </a:r>
          </a:p>
        </p:txBody>
      </p:sp>
      <p:sp>
        <p:nvSpPr>
          <p:cNvPr id="90" name="TextBox 89"/>
          <p:cNvSpPr txBox="1"/>
          <p:nvPr/>
        </p:nvSpPr>
        <p:spPr>
          <a:xfrm>
            <a:off x="5559552" y="40416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91" name="TextBox 90"/>
          <p:cNvSpPr txBox="1"/>
          <p:nvPr/>
        </p:nvSpPr>
        <p:spPr>
          <a:xfrm>
            <a:off x="3703320" y="4224528"/>
            <a:ext cx="411480" cy="182880"/>
          </a:xfrm>
          <a:prstGeom prst="rect">
            <a:avLst/>
          </a:prstGeom>
          <a:noFill/>
        </p:spPr>
        <p:txBody>
          <a:bodyPr wrap="square" lIns="0" tIns="0" rIns="0" bIns="0" anchor="ctr">
            <a:spAutoFit/>
          </a:bodyPr>
          <a:lstStyle/>
          <a:p>
            <a:pPr algn="l"/>
            <a:endParaRPr/>
          </a:p>
        </p:txBody>
      </p:sp>
      <p:sp>
        <p:nvSpPr>
          <p:cNvPr id="92" name="TextBox 91"/>
          <p:cNvSpPr txBox="1"/>
          <p:nvPr/>
        </p:nvSpPr>
        <p:spPr>
          <a:xfrm>
            <a:off x="4142232" y="422452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spread_change_bp</a:t>
            </a:r>
          </a:p>
        </p:txBody>
      </p:sp>
      <p:sp>
        <p:nvSpPr>
          <p:cNvPr id="93" name="TextBox 92"/>
          <p:cNvSpPr txBox="1"/>
          <p:nvPr/>
        </p:nvSpPr>
        <p:spPr>
          <a:xfrm>
            <a:off x="5559552" y="42245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94" name="Rounded Rectangle 93"/>
          <p:cNvSpPr/>
          <p:nvPr/>
        </p:nvSpPr>
        <p:spPr>
          <a:xfrm>
            <a:off x="3611880" y="4572000"/>
            <a:ext cx="2606040" cy="1737360"/>
          </a:xfrm>
          <a:prstGeom prst="roundRect">
            <a:avLst>
              <a:gd name="adj" fmla="val 3000"/>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 Same Side Corner Rectangle 94"/>
          <p:cNvSpPr/>
          <p:nvPr/>
        </p:nvSpPr>
        <p:spPr>
          <a:xfrm>
            <a:off x="3611880" y="4572000"/>
            <a:ext cx="2606040" cy="402336"/>
          </a:xfrm>
          <a:prstGeom prst="round2SameRect">
            <a:avLst>
              <a:gd name="adj1" fmla="val 25000"/>
              <a:gd name="adj2" fmla="val 0"/>
            </a:avLst>
          </a:prstGeom>
          <a:solidFill>
            <a:srgbClr val="2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3721608" y="4599432"/>
            <a:ext cx="1874519" cy="219456"/>
          </a:xfrm>
          <a:prstGeom prst="rect">
            <a:avLst/>
          </a:prstGeom>
          <a:noFill/>
        </p:spPr>
        <p:txBody>
          <a:bodyPr wrap="square" lIns="0" tIns="0" rIns="0" bIns="0" anchor="ctr">
            <a:spAutoFit/>
          </a:bodyPr>
          <a:lstStyle/>
          <a:p>
            <a:pPr algn="l"/>
            <a:r>
              <a:rPr sz="1050" b="1">
                <a:solidFill>
                  <a:srgbClr val="FFFFFF"/>
                </a:solidFill>
                <a:latin typeface="Courier New"/>
                <a:ea typeface="맑은 고딕"/>
                <a:cs typeface="맑은 고딕"/>
              </a:rPr>
              <a:t>period_summary</a:t>
            </a:r>
          </a:p>
        </p:txBody>
      </p:sp>
      <p:sp>
        <p:nvSpPr>
          <p:cNvPr id="97" name="TextBox 96"/>
          <p:cNvSpPr txBox="1"/>
          <p:nvPr/>
        </p:nvSpPr>
        <p:spPr>
          <a:xfrm>
            <a:off x="3721608" y="4800600"/>
            <a:ext cx="2386584" cy="155448"/>
          </a:xfrm>
          <a:prstGeom prst="rect">
            <a:avLst/>
          </a:prstGeom>
          <a:noFill/>
        </p:spPr>
        <p:txBody>
          <a:bodyPr wrap="square" lIns="0" tIns="0" rIns="0" bIns="0" anchor="ctr">
            <a:spAutoFit/>
          </a:bodyPr>
          <a:lstStyle/>
          <a:p>
            <a:pPr algn="l"/>
            <a:r>
              <a:rPr sz="750" b="0">
                <a:solidFill>
                  <a:srgbClr val="E8EEF4"/>
                </a:solidFill>
                <a:latin typeface="맑은 고딕"/>
                <a:ea typeface="맑은 고딕"/>
                <a:cs typeface="맑은 고딕"/>
              </a:rPr>
              <a:t>구간별 요약 · 일별 표와 공유</a:t>
            </a:r>
          </a:p>
        </p:txBody>
      </p:sp>
      <p:sp>
        <p:nvSpPr>
          <p:cNvPr id="98" name="TextBox 97"/>
          <p:cNvSpPr txBox="1"/>
          <p:nvPr/>
        </p:nvSpPr>
        <p:spPr>
          <a:xfrm>
            <a:off x="5559552" y="4599432"/>
            <a:ext cx="548640" cy="219456"/>
          </a:xfrm>
          <a:prstGeom prst="rect">
            <a:avLst/>
          </a:prstGeom>
          <a:noFill/>
        </p:spPr>
        <p:txBody>
          <a:bodyPr wrap="square" lIns="0" tIns="0" rIns="0" bIns="0" anchor="ctr">
            <a:spAutoFit/>
          </a:bodyPr>
          <a:lstStyle/>
          <a:p>
            <a:pPr algn="r"/>
            <a:r>
              <a:rPr sz="950" b="1">
                <a:solidFill>
                  <a:srgbClr val="FFFFFF"/>
                </a:solidFill>
                <a:latin typeface="맑은 고딕"/>
                <a:ea typeface="맑은 고딕"/>
                <a:cs typeface="맑은 고딕"/>
              </a:rPr>
              <a:t>4행</a:t>
            </a:r>
          </a:p>
        </p:txBody>
      </p:sp>
      <p:sp>
        <p:nvSpPr>
          <p:cNvPr id="99" name="Rectangle 98"/>
          <p:cNvSpPr/>
          <p:nvPr/>
        </p:nvSpPr>
        <p:spPr>
          <a:xfrm>
            <a:off x="3639312" y="5001768"/>
            <a:ext cx="2551176" cy="182880"/>
          </a:xfrm>
          <a:prstGeom prst="rect">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3703320" y="5001768"/>
            <a:ext cx="411480" cy="182880"/>
          </a:xfrm>
          <a:prstGeom prst="rect">
            <a:avLst/>
          </a:prstGeom>
          <a:noFill/>
        </p:spPr>
        <p:txBody>
          <a:bodyPr wrap="square" lIns="0" tIns="0" rIns="0" bIns="0" anchor="ctr">
            <a:spAutoFit/>
          </a:bodyPr>
          <a:lstStyle/>
          <a:p>
            <a:pPr algn="l"/>
            <a:r>
              <a:rPr sz="750" b="1">
                <a:solidFill>
                  <a:srgbClr val="14304A"/>
                </a:solidFill>
                <a:latin typeface="맑은 고딕"/>
                <a:ea typeface="맑은 고딕"/>
                <a:cs typeface="맑은 고딕"/>
              </a:rPr>
              <a:t>PK</a:t>
            </a:r>
          </a:p>
        </p:txBody>
      </p:sp>
      <p:sp>
        <p:nvSpPr>
          <p:cNvPr id="101" name="TextBox 100"/>
          <p:cNvSpPr txBox="1"/>
          <p:nvPr/>
        </p:nvSpPr>
        <p:spPr>
          <a:xfrm>
            <a:off x="4142232" y="5001768"/>
            <a:ext cx="1417320"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period</a:t>
            </a:r>
          </a:p>
        </p:txBody>
      </p:sp>
      <p:sp>
        <p:nvSpPr>
          <p:cNvPr id="102" name="TextBox 101"/>
          <p:cNvSpPr txBox="1"/>
          <p:nvPr/>
        </p:nvSpPr>
        <p:spPr>
          <a:xfrm>
            <a:off x="5559552" y="50017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03" name="TextBox 102"/>
          <p:cNvSpPr txBox="1"/>
          <p:nvPr/>
        </p:nvSpPr>
        <p:spPr>
          <a:xfrm>
            <a:off x="3703320" y="5184648"/>
            <a:ext cx="411480" cy="182880"/>
          </a:xfrm>
          <a:prstGeom prst="rect">
            <a:avLst/>
          </a:prstGeom>
          <a:noFill/>
        </p:spPr>
        <p:txBody>
          <a:bodyPr wrap="square" lIns="0" tIns="0" rIns="0" bIns="0" anchor="ctr">
            <a:spAutoFit/>
          </a:bodyPr>
          <a:lstStyle/>
          <a:p>
            <a:pPr algn="l"/>
            <a:endParaRPr/>
          </a:p>
        </p:txBody>
      </p:sp>
      <p:sp>
        <p:nvSpPr>
          <p:cNvPr id="104" name="TextBox 103"/>
          <p:cNvSpPr txBox="1"/>
          <p:nvPr/>
        </p:nvSpPr>
        <p:spPr>
          <a:xfrm>
            <a:off x="4142232" y="518464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months</a:t>
            </a:r>
          </a:p>
        </p:txBody>
      </p:sp>
      <p:sp>
        <p:nvSpPr>
          <p:cNvPr id="105" name="TextBox 104"/>
          <p:cNvSpPr txBox="1"/>
          <p:nvPr/>
        </p:nvSpPr>
        <p:spPr>
          <a:xfrm>
            <a:off x="5559552" y="51846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INT</a:t>
            </a:r>
          </a:p>
        </p:txBody>
      </p:sp>
      <p:sp>
        <p:nvSpPr>
          <p:cNvPr id="106" name="TextBox 105"/>
          <p:cNvSpPr txBox="1"/>
          <p:nvPr/>
        </p:nvSpPr>
        <p:spPr>
          <a:xfrm>
            <a:off x="3703320" y="5367528"/>
            <a:ext cx="411480" cy="182880"/>
          </a:xfrm>
          <a:prstGeom prst="rect">
            <a:avLst/>
          </a:prstGeom>
          <a:noFill/>
        </p:spPr>
        <p:txBody>
          <a:bodyPr wrap="square" lIns="0" tIns="0" rIns="0" bIns="0" anchor="ctr">
            <a:spAutoFit/>
          </a:bodyPr>
          <a:lstStyle/>
          <a:p>
            <a:pPr algn="l"/>
            <a:endParaRPr/>
          </a:p>
        </p:txBody>
      </p:sp>
      <p:sp>
        <p:nvSpPr>
          <p:cNvPr id="107" name="TextBox 106"/>
          <p:cNvSpPr txBox="1"/>
          <p:nvPr/>
        </p:nvSpPr>
        <p:spPr>
          <a:xfrm>
            <a:off x="4142232" y="536752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mean_bp</a:t>
            </a:r>
          </a:p>
        </p:txBody>
      </p:sp>
      <p:sp>
        <p:nvSpPr>
          <p:cNvPr id="108" name="TextBox 107"/>
          <p:cNvSpPr txBox="1"/>
          <p:nvPr/>
        </p:nvSpPr>
        <p:spPr>
          <a:xfrm>
            <a:off x="5559552" y="53675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09" name="TextBox 108"/>
          <p:cNvSpPr txBox="1"/>
          <p:nvPr/>
        </p:nvSpPr>
        <p:spPr>
          <a:xfrm>
            <a:off x="3703320" y="5550408"/>
            <a:ext cx="411480" cy="182880"/>
          </a:xfrm>
          <a:prstGeom prst="rect">
            <a:avLst/>
          </a:prstGeom>
          <a:noFill/>
        </p:spPr>
        <p:txBody>
          <a:bodyPr wrap="square" lIns="0" tIns="0" rIns="0" bIns="0" anchor="ctr">
            <a:spAutoFit/>
          </a:bodyPr>
          <a:lstStyle/>
          <a:p>
            <a:pPr algn="l"/>
            <a:endParaRPr/>
          </a:p>
        </p:txBody>
      </p:sp>
      <p:sp>
        <p:nvSpPr>
          <p:cNvPr id="110" name="TextBox 109"/>
          <p:cNvSpPr txBox="1"/>
          <p:nvPr/>
        </p:nvSpPr>
        <p:spPr>
          <a:xfrm>
            <a:off x="4142232" y="555040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median_bp</a:t>
            </a:r>
          </a:p>
        </p:txBody>
      </p:sp>
      <p:sp>
        <p:nvSpPr>
          <p:cNvPr id="111" name="TextBox 110"/>
          <p:cNvSpPr txBox="1"/>
          <p:nvPr/>
        </p:nvSpPr>
        <p:spPr>
          <a:xfrm>
            <a:off x="5559552" y="55504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12" name="TextBox 111"/>
          <p:cNvSpPr txBox="1"/>
          <p:nvPr/>
        </p:nvSpPr>
        <p:spPr>
          <a:xfrm>
            <a:off x="3703320" y="5733288"/>
            <a:ext cx="411480" cy="182880"/>
          </a:xfrm>
          <a:prstGeom prst="rect">
            <a:avLst/>
          </a:prstGeom>
          <a:noFill/>
        </p:spPr>
        <p:txBody>
          <a:bodyPr wrap="square" lIns="0" tIns="0" rIns="0" bIns="0" anchor="ctr">
            <a:spAutoFit/>
          </a:bodyPr>
          <a:lstStyle/>
          <a:p>
            <a:pPr algn="l"/>
            <a:endParaRPr/>
          </a:p>
        </p:txBody>
      </p:sp>
      <p:sp>
        <p:nvSpPr>
          <p:cNvPr id="113" name="TextBox 112"/>
          <p:cNvSpPr txBox="1"/>
          <p:nvPr/>
        </p:nvSpPr>
        <p:spPr>
          <a:xfrm>
            <a:off x="4142232" y="573328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min_bp</a:t>
            </a:r>
          </a:p>
        </p:txBody>
      </p:sp>
      <p:sp>
        <p:nvSpPr>
          <p:cNvPr id="114" name="TextBox 113"/>
          <p:cNvSpPr txBox="1"/>
          <p:nvPr/>
        </p:nvSpPr>
        <p:spPr>
          <a:xfrm>
            <a:off x="5559552" y="57332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15" name="TextBox 114"/>
          <p:cNvSpPr txBox="1"/>
          <p:nvPr/>
        </p:nvSpPr>
        <p:spPr>
          <a:xfrm>
            <a:off x="3703320" y="5916168"/>
            <a:ext cx="411480" cy="182880"/>
          </a:xfrm>
          <a:prstGeom prst="rect">
            <a:avLst/>
          </a:prstGeom>
          <a:noFill/>
        </p:spPr>
        <p:txBody>
          <a:bodyPr wrap="square" lIns="0" tIns="0" rIns="0" bIns="0" anchor="ctr">
            <a:spAutoFit/>
          </a:bodyPr>
          <a:lstStyle/>
          <a:p>
            <a:pPr algn="l"/>
            <a:endParaRPr/>
          </a:p>
        </p:txBody>
      </p:sp>
      <p:sp>
        <p:nvSpPr>
          <p:cNvPr id="116" name="TextBox 115"/>
          <p:cNvSpPr txBox="1"/>
          <p:nvPr/>
        </p:nvSpPr>
        <p:spPr>
          <a:xfrm>
            <a:off x="4142232" y="591616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max_bp</a:t>
            </a:r>
          </a:p>
        </p:txBody>
      </p:sp>
      <p:sp>
        <p:nvSpPr>
          <p:cNvPr id="117" name="TextBox 116"/>
          <p:cNvSpPr txBox="1"/>
          <p:nvPr/>
        </p:nvSpPr>
        <p:spPr>
          <a:xfrm>
            <a:off x="5559552" y="59161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18" name="TextBox 117"/>
          <p:cNvSpPr txBox="1"/>
          <p:nvPr/>
        </p:nvSpPr>
        <p:spPr>
          <a:xfrm>
            <a:off x="3703320" y="6099048"/>
            <a:ext cx="411480" cy="182880"/>
          </a:xfrm>
          <a:prstGeom prst="rect">
            <a:avLst/>
          </a:prstGeom>
          <a:noFill/>
        </p:spPr>
        <p:txBody>
          <a:bodyPr wrap="square" lIns="0" tIns="0" rIns="0" bIns="0" anchor="ctr">
            <a:spAutoFit/>
          </a:bodyPr>
          <a:lstStyle/>
          <a:p>
            <a:pPr algn="l"/>
            <a:endParaRPr/>
          </a:p>
        </p:txBody>
      </p:sp>
      <p:sp>
        <p:nvSpPr>
          <p:cNvPr id="119" name="TextBox 118"/>
          <p:cNvSpPr txBox="1"/>
          <p:nvPr/>
        </p:nvSpPr>
        <p:spPr>
          <a:xfrm>
            <a:off x="4142232" y="6099048"/>
            <a:ext cx="14173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std_bp</a:t>
            </a:r>
          </a:p>
        </p:txBody>
      </p:sp>
      <p:sp>
        <p:nvSpPr>
          <p:cNvPr id="120" name="TextBox 119"/>
          <p:cNvSpPr txBox="1"/>
          <p:nvPr/>
        </p:nvSpPr>
        <p:spPr>
          <a:xfrm>
            <a:off x="5559552" y="60990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21" name="Rounded Rectangle 120"/>
          <p:cNvSpPr/>
          <p:nvPr/>
        </p:nvSpPr>
        <p:spPr>
          <a:xfrm>
            <a:off x="6629400" y="1417320"/>
            <a:ext cx="2651760" cy="1554480"/>
          </a:xfrm>
          <a:prstGeom prst="roundRect">
            <a:avLst>
              <a:gd name="adj" fmla="val 3000"/>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ound Same Side Corner Rectangle 121"/>
          <p:cNvSpPr/>
          <p:nvPr/>
        </p:nvSpPr>
        <p:spPr>
          <a:xfrm>
            <a:off x="6629400" y="1417320"/>
            <a:ext cx="2651760" cy="402336"/>
          </a:xfrm>
          <a:prstGeom prst="round2SameRect">
            <a:avLst>
              <a:gd name="adj1" fmla="val 25000"/>
              <a:gd name="adj2" fmla="val 0"/>
            </a:avLst>
          </a:prstGeom>
          <a:solidFill>
            <a:srgbClr val="14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6739128" y="1444752"/>
            <a:ext cx="1920239" cy="219456"/>
          </a:xfrm>
          <a:prstGeom prst="rect">
            <a:avLst/>
          </a:prstGeom>
          <a:noFill/>
        </p:spPr>
        <p:txBody>
          <a:bodyPr wrap="square" lIns="0" tIns="0" rIns="0" bIns="0" anchor="ctr">
            <a:spAutoFit/>
          </a:bodyPr>
          <a:lstStyle/>
          <a:p>
            <a:pPr algn="l"/>
            <a:r>
              <a:rPr sz="1050" b="1">
                <a:solidFill>
                  <a:srgbClr val="FFFFFF"/>
                </a:solidFill>
                <a:latin typeface="Courier New"/>
                <a:ea typeface="맑은 고딕"/>
                <a:cs typeface="맑은 고딕"/>
              </a:rPr>
              <a:t>gauge_zones_monthly</a:t>
            </a:r>
          </a:p>
        </p:txBody>
      </p:sp>
      <p:sp>
        <p:nvSpPr>
          <p:cNvPr id="124" name="TextBox 123"/>
          <p:cNvSpPr txBox="1"/>
          <p:nvPr/>
        </p:nvSpPr>
        <p:spPr>
          <a:xfrm>
            <a:off x="6739128" y="1645920"/>
            <a:ext cx="2432304" cy="155448"/>
          </a:xfrm>
          <a:prstGeom prst="rect">
            <a:avLst/>
          </a:prstGeom>
          <a:noFill/>
        </p:spPr>
        <p:txBody>
          <a:bodyPr wrap="square" lIns="0" tIns="0" rIns="0" bIns="0" anchor="ctr">
            <a:spAutoFit/>
          </a:bodyPr>
          <a:lstStyle/>
          <a:p>
            <a:pPr algn="l"/>
            <a:r>
              <a:rPr sz="750" b="0">
                <a:solidFill>
                  <a:srgbClr val="E8EEF4"/>
                </a:solidFill>
                <a:latin typeface="맑은 고딕"/>
                <a:ea typeface="맑은 고딕"/>
                <a:cs typeface="맑은 고딕"/>
              </a:rPr>
              <a:t>계기판 판정 · 2022.01–2023.12</a:t>
            </a:r>
          </a:p>
        </p:txBody>
      </p:sp>
      <p:sp>
        <p:nvSpPr>
          <p:cNvPr id="125" name="TextBox 124"/>
          <p:cNvSpPr txBox="1"/>
          <p:nvPr/>
        </p:nvSpPr>
        <p:spPr>
          <a:xfrm>
            <a:off x="8622792" y="1444752"/>
            <a:ext cx="548640" cy="219456"/>
          </a:xfrm>
          <a:prstGeom prst="rect">
            <a:avLst/>
          </a:prstGeom>
          <a:noFill/>
        </p:spPr>
        <p:txBody>
          <a:bodyPr wrap="square" lIns="0" tIns="0" rIns="0" bIns="0" anchor="ctr">
            <a:spAutoFit/>
          </a:bodyPr>
          <a:lstStyle/>
          <a:p>
            <a:pPr algn="r"/>
            <a:r>
              <a:rPr sz="950" b="1">
                <a:solidFill>
                  <a:srgbClr val="FFFFFF"/>
                </a:solidFill>
                <a:latin typeface="맑은 고딕"/>
                <a:ea typeface="맑은 고딕"/>
                <a:cs typeface="맑은 고딕"/>
              </a:rPr>
              <a:t>24행</a:t>
            </a:r>
          </a:p>
        </p:txBody>
      </p:sp>
      <p:sp>
        <p:nvSpPr>
          <p:cNvPr id="126" name="Rectangle 125"/>
          <p:cNvSpPr/>
          <p:nvPr/>
        </p:nvSpPr>
        <p:spPr>
          <a:xfrm>
            <a:off x="6656832" y="1847088"/>
            <a:ext cx="2596896" cy="18288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6720840" y="1847088"/>
            <a:ext cx="411480" cy="182880"/>
          </a:xfrm>
          <a:prstGeom prst="rect">
            <a:avLst/>
          </a:prstGeom>
          <a:noFill/>
        </p:spPr>
        <p:txBody>
          <a:bodyPr wrap="square" lIns="0" tIns="0" rIns="0" bIns="0" anchor="ctr">
            <a:spAutoFit/>
          </a:bodyPr>
          <a:lstStyle/>
          <a:p>
            <a:pPr algn="l"/>
            <a:r>
              <a:rPr sz="750" b="1">
                <a:solidFill>
                  <a:srgbClr val="C8412E"/>
                </a:solidFill>
                <a:latin typeface="맑은 고딕"/>
                <a:ea typeface="맑은 고딕"/>
                <a:cs typeface="맑은 고딕"/>
              </a:rPr>
              <a:t>PK·FK</a:t>
            </a:r>
          </a:p>
        </p:txBody>
      </p:sp>
      <p:sp>
        <p:nvSpPr>
          <p:cNvPr id="128" name="TextBox 127"/>
          <p:cNvSpPr txBox="1"/>
          <p:nvPr/>
        </p:nvSpPr>
        <p:spPr>
          <a:xfrm>
            <a:off x="7159752" y="1847088"/>
            <a:ext cx="1463039"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date</a:t>
            </a:r>
          </a:p>
        </p:txBody>
      </p:sp>
      <p:sp>
        <p:nvSpPr>
          <p:cNvPr id="129" name="TextBox 128"/>
          <p:cNvSpPr txBox="1"/>
          <p:nvPr/>
        </p:nvSpPr>
        <p:spPr>
          <a:xfrm>
            <a:off x="8622792" y="18470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30" name="TextBox 129"/>
          <p:cNvSpPr txBox="1"/>
          <p:nvPr/>
        </p:nvSpPr>
        <p:spPr>
          <a:xfrm>
            <a:off x="6720840" y="2029968"/>
            <a:ext cx="411480" cy="182880"/>
          </a:xfrm>
          <a:prstGeom prst="rect">
            <a:avLst/>
          </a:prstGeom>
          <a:noFill/>
        </p:spPr>
        <p:txBody>
          <a:bodyPr wrap="square" lIns="0" tIns="0" rIns="0" bIns="0" anchor="ctr">
            <a:spAutoFit/>
          </a:bodyPr>
          <a:lstStyle/>
          <a:p>
            <a:pPr algn="l"/>
            <a:endParaRPr/>
          </a:p>
        </p:txBody>
      </p:sp>
      <p:sp>
        <p:nvSpPr>
          <p:cNvPr id="131" name="TextBox 130"/>
          <p:cNvSpPr txBox="1"/>
          <p:nvPr/>
        </p:nvSpPr>
        <p:spPr>
          <a:xfrm>
            <a:off x="7159752" y="202996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spread_bp</a:t>
            </a:r>
          </a:p>
        </p:txBody>
      </p:sp>
      <p:sp>
        <p:nvSpPr>
          <p:cNvPr id="132" name="TextBox 131"/>
          <p:cNvSpPr txBox="1"/>
          <p:nvPr/>
        </p:nvSpPr>
        <p:spPr>
          <a:xfrm>
            <a:off x="8622792" y="20299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33" name="TextBox 132"/>
          <p:cNvSpPr txBox="1"/>
          <p:nvPr/>
        </p:nvSpPr>
        <p:spPr>
          <a:xfrm>
            <a:off x="6720840" y="2212848"/>
            <a:ext cx="411480" cy="182880"/>
          </a:xfrm>
          <a:prstGeom prst="rect">
            <a:avLst/>
          </a:prstGeom>
          <a:noFill/>
        </p:spPr>
        <p:txBody>
          <a:bodyPr wrap="square" lIns="0" tIns="0" rIns="0" bIns="0" anchor="ctr">
            <a:spAutoFit/>
          </a:bodyPr>
          <a:lstStyle/>
          <a:p>
            <a:pPr algn="l"/>
            <a:endParaRPr/>
          </a:p>
        </p:txBody>
      </p:sp>
      <p:sp>
        <p:nvSpPr>
          <p:cNvPr id="134" name="TextBox 133"/>
          <p:cNvSpPr txBox="1"/>
          <p:nvPr/>
        </p:nvSpPr>
        <p:spPr>
          <a:xfrm>
            <a:off x="7159752" y="221284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zone</a:t>
            </a:r>
          </a:p>
        </p:txBody>
      </p:sp>
      <p:sp>
        <p:nvSpPr>
          <p:cNvPr id="135" name="TextBox 134"/>
          <p:cNvSpPr txBox="1"/>
          <p:nvPr/>
        </p:nvSpPr>
        <p:spPr>
          <a:xfrm>
            <a:off x="8622792" y="22128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36" name="TextBox 135"/>
          <p:cNvSpPr txBox="1"/>
          <p:nvPr/>
        </p:nvSpPr>
        <p:spPr>
          <a:xfrm>
            <a:off x="6720840" y="2395728"/>
            <a:ext cx="411480" cy="182880"/>
          </a:xfrm>
          <a:prstGeom prst="rect">
            <a:avLst/>
          </a:prstGeom>
          <a:noFill/>
        </p:spPr>
        <p:txBody>
          <a:bodyPr wrap="square" lIns="0" tIns="0" rIns="0" bIns="0" anchor="ctr">
            <a:spAutoFit/>
          </a:bodyPr>
          <a:lstStyle/>
          <a:p>
            <a:pPr algn="l"/>
            <a:endParaRPr/>
          </a:p>
        </p:txBody>
      </p:sp>
      <p:sp>
        <p:nvSpPr>
          <p:cNvPr id="137" name="TextBox 136"/>
          <p:cNvSpPr txBox="1"/>
          <p:nvPr/>
        </p:nvSpPr>
        <p:spPr>
          <a:xfrm>
            <a:off x="7159752" y="239572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spread_6m_later_bp</a:t>
            </a:r>
          </a:p>
        </p:txBody>
      </p:sp>
      <p:sp>
        <p:nvSpPr>
          <p:cNvPr id="138" name="TextBox 137"/>
          <p:cNvSpPr txBox="1"/>
          <p:nvPr/>
        </p:nvSpPr>
        <p:spPr>
          <a:xfrm>
            <a:off x="8622792" y="23957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39" name="TextBox 138"/>
          <p:cNvSpPr txBox="1"/>
          <p:nvPr/>
        </p:nvSpPr>
        <p:spPr>
          <a:xfrm>
            <a:off x="6720840" y="2578608"/>
            <a:ext cx="411480" cy="182880"/>
          </a:xfrm>
          <a:prstGeom prst="rect">
            <a:avLst/>
          </a:prstGeom>
          <a:noFill/>
        </p:spPr>
        <p:txBody>
          <a:bodyPr wrap="square" lIns="0" tIns="0" rIns="0" bIns="0" anchor="ctr">
            <a:spAutoFit/>
          </a:bodyPr>
          <a:lstStyle/>
          <a:p>
            <a:pPr algn="l"/>
            <a:endParaRPr/>
          </a:p>
        </p:txBody>
      </p:sp>
      <p:sp>
        <p:nvSpPr>
          <p:cNvPr id="140" name="TextBox 139"/>
          <p:cNvSpPr txBox="1"/>
          <p:nvPr/>
        </p:nvSpPr>
        <p:spPr>
          <a:xfrm>
            <a:off x="7159752" y="257860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excess_6m_bp</a:t>
            </a:r>
          </a:p>
        </p:txBody>
      </p:sp>
      <p:sp>
        <p:nvSpPr>
          <p:cNvPr id="141" name="TextBox 140"/>
          <p:cNvSpPr txBox="1"/>
          <p:nvPr/>
        </p:nvSpPr>
        <p:spPr>
          <a:xfrm>
            <a:off x="8622792" y="25786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42" name="TextBox 141"/>
          <p:cNvSpPr txBox="1"/>
          <p:nvPr/>
        </p:nvSpPr>
        <p:spPr>
          <a:xfrm>
            <a:off x="6720840" y="2761488"/>
            <a:ext cx="411480" cy="182880"/>
          </a:xfrm>
          <a:prstGeom prst="rect">
            <a:avLst/>
          </a:prstGeom>
          <a:noFill/>
        </p:spPr>
        <p:txBody>
          <a:bodyPr wrap="square" lIns="0" tIns="0" rIns="0" bIns="0" anchor="ctr">
            <a:spAutoFit/>
          </a:bodyPr>
          <a:lstStyle/>
          <a:p>
            <a:pPr algn="l"/>
            <a:endParaRPr/>
          </a:p>
        </p:txBody>
      </p:sp>
      <p:sp>
        <p:nvSpPr>
          <p:cNvPr id="143" name="TextBox 142"/>
          <p:cNvSpPr txBox="1"/>
          <p:nvPr/>
        </p:nvSpPr>
        <p:spPr>
          <a:xfrm>
            <a:off x="7159752" y="276148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excess_next_6m_bp</a:t>
            </a:r>
          </a:p>
        </p:txBody>
      </p:sp>
      <p:sp>
        <p:nvSpPr>
          <p:cNvPr id="144" name="TextBox 143"/>
          <p:cNvSpPr txBox="1"/>
          <p:nvPr/>
        </p:nvSpPr>
        <p:spPr>
          <a:xfrm>
            <a:off x="8622792" y="27614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45" name="Rounded Rectangle 144"/>
          <p:cNvSpPr/>
          <p:nvPr/>
        </p:nvSpPr>
        <p:spPr>
          <a:xfrm>
            <a:off x="6629400" y="3246120"/>
            <a:ext cx="2651760" cy="2286000"/>
          </a:xfrm>
          <a:prstGeom prst="roundRect">
            <a:avLst>
              <a:gd name="adj" fmla="val 3000"/>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ound Same Side Corner Rectangle 145"/>
          <p:cNvSpPr/>
          <p:nvPr/>
        </p:nvSpPr>
        <p:spPr>
          <a:xfrm>
            <a:off x="6629400" y="3246120"/>
            <a:ext cx="2651760" cy="402336"/>
          </a:xfrm>
          <a:prstGeom prst="round2SameRect">
            <a:avLst>
              <a:gd name="adj1" fmla="val 25000"/>
              <a:gd name="adj2" fmla="val 0"/>
            </a:avLst>
          </a:prstGeom>
          <a:solidFill>
            <a:srgbClr val="14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6739128" y="3273551"/>
            <a:ext cx="1920239" cy="219456"/>
          </a:xfrm>
          <a:prstGeom prst="rect">
            <a:avLst/>
          </a:prstGeom>
          <a:noFill/>
        </p:spPr>
        <p:txBody>
          <a:bodyPr wrap="square" lIns="0" tIns="0" rIns="0" bIns="0" anchor="ctr">
            <a:spAutoFit/>
          </a:bodyPr>
          <a:lstStyle/>
          <a:p>
            <a:pPr algn="l"/>
            <a:r>
              <a:rPr sz="1050" b="1">
                <a:solidFill>
                  <a:srgbClr val="FFFFFF"/>
                </a:solidFill>
                <a:latin typeface="Courier New"/>
                <a:ea typeface="맑은 고딕"/>
                <a:cs typeface="맑은 고딕"/>
              </a:rPr>
              <a:t>money_market_window</a:t>
            </a:r>
          </a:p>
        </p:txBody>
      </p:sp>
      <p:sp>
        <p:nvSpPr>
          <p:cNvPr id="148" name="TextBox 147"/>
          <p:cNvSpPr txBox="1"/>
          <p:nvPr/>
        </p:nvSpPr>
        <p:spPr>
          <a:xfrm>
            <a:off x="6739128" y="3474720"/>
            <a:ext cx="2432304" cy="155448"/>
          </a:xfrm>
          <a:prstGeom prst="rect">
            <a:avLst/>
          </a:prstGeom>
          <a:noFill/>
        </p:spPr>
        <p:txBody>
          <a:bodyPr wrap="square" lIns="0" tIns="0" rIns="0" bIns="0" anchor="ctr">
            <a:spAutoFit/>
          </a:bodyPr>
          <a:lstStyle/>
          <a:p>
            <a:pPr algn="l"/>
            <a:r>
              <a:rPr sz="750" b="0">
                <a:solidFill>
                  <a:srgbClr val="E8EEF4"/>
                </a:solidFill>
                <a:latin typeface="맑은 고딕"/>
                <a:ea typeface="맑은 고딕"/>
                <a:cs typeface="맑은 고딕"/>
              </a:rPr>
              <a:t>사건 전후 · 2022.07–2023.03</a:t>
            </a:r>
          </a:p>
        </p:txBody>
      </p:sp>
      <p:sp>
        <p:nvSpPr>
          <p:cNvPr id="149" name="TextBox 148"/>
          <p:cNvSpPr txBox="1"/>
          <p:nvPr/>
        </p:nvSpPr>
        <p:spPr>
          <a:xfrm>
            <a:off x="8622792" y="3273551"/>
            <a:ext cx="548640" cy="219456"/>
          </a:xfrm>
          <a:prstGeom prst="rect">
            <a:avLst/>
          </a:prstGeom>
          <a:noFill/>
        </p:spPr>
        <p:txBody>
          <a:bodyPr wrap="square" lIns="0" tIns="0" rIns="0" bIns="0" anchor="ctr">
            <a:spAutoFit/>
          </a:bodyPr>
          <a:lstStyle/>
          <a:p>
            <a:pPr algn="r"/>
            <a:r>
              <a:rPr sz="950" b="1">
                <a:solidFill>
                  <a:srgbClr val="FFFFFF"/>
                </a:solidFill>
                <a:latin typeface="맑은 고딕"/>
                <a:ea typeface="맑은 고딕"/>
                <a:cs typeface="맑은 고딕"/>
              </a:rPr>
              <a:t>9행</a:t>
            </a:r>
          </a:p>
        </p:txBody>
      </p:sp>
      <p:sp>
        <p:nvSpPr>
          <p:cNvPr id="150" name="Rectangle 149"/>
          <p:cNvSpPr/>
          <p:nvPr/>
        </p:nvSpPr>
        <p:spPr>
          <a:xfrm>
            <a:off x="6656832" y="3675887"/>
            <a:ext cx="2596896" cy="18288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6720840" y="3675887"/>
            <a:ext cx="411480" cy="182880"/>
          </a:xfrm>
          <a:prstGeom prst="rect">
            <a:avLst/>
          </a:prstGeom>
          <a:noFill/>
        </p:spPr>
        <p:txBody>
          <a:bodyPr wrap="square" lIns="0" tIns="0" rIns="0" bIns="0" anchor="ctr">
            <a:spAutoFit/>
          </a:bodyPr>
          <a:lstStyle/>
          <a:p>
            <a:pPr algn="l"/>
            <a:r>
              <a:rPr sz="750" b="1">
                <a:solidFill>
                  <a:srgbClr val="C8412E"/>
                </a:solidFill>
                <a:latin typeface="맑은 고딕"/>
                <a:ea typeface="맑은 고딕"/>
                <a:cs typeface="맑은 고딕"/>
              </a:rPr>
              <a:t>PK·FK</a:t>
            </a:r>
          </a:p>
        </p:txBody>
      </p:sp>
      <p:sp>
        <p:nvSpPr>
          <p:cNvPr id="152" name="TextBox 151"/>
          <p:cNvSpPr txBox="1"/>
          <p:nvPr/>
        </p:nvSpPr>
        <p:spPr>
          <a:xfrm>
            <a:off x="7159752" y="3675887"/>
            <a:ext cx="1463039"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date</a:t>
            </a:r>
          </a:p>
        </p:txBody>
      </p:sp>
      <p:sp>
        <p:nvSpPr>
          <p:cNvPr id="153" name="TextBox 152"/>
          <p:cNvSpPr txBox="1"/>
          <p:nvPr/>
        </p:nvSpPr>
        <p:spPr>
          <a:xfrm>
            <a:off x="8622792" y="3675887"/>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54" name="TextBox 153"/>
          <p:cNvSpPr txBox="1"/>
          <p:nvPr/>
        </p:nvSpPr>
        <p:spPr>
          <a:xfrm>
            <a:off x="6720840" y="3858768"/>
            <a:ext cx="411480" cy="182880"/>
          </a:xfrm>
          <a:prstGeom prst="rect">
            <a:avLst/>
          </a:prstGeom>
          <a:noFill/>
        </p:spPr>
        <p:txBody>
          <a:bodyPr wrap="square" lIns="0" tIns="0" rIns="0" bIns="0" anchor="ctr">
            <a:spAutoFit/>
          </a:bodyPr>
          <a:lstStyle/>
          <a:p>
            <a:pPr algn="l"/>
            <a:endParaRPr/>
          </a:p>
        </p:txBody>
      </p:sp>
      <p:sp>
        <p:nvSpPr>
          <p:cNvPr id="155" name="TextBox 154"/>
          <p:cNvSpPr txBox="1"/>
          <p:nvPr/>
        </p:nvSpPr>
        <p:spPr>
          <a:xfrm>
            <a:off x="7159752" y="385876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cd_91d_pct</a:t>
            </a:r>
          </a:p>
        </p:txBody>
      </p:sp>
      <p:sp>
        <p:nvSpPr>
          <p:cNvPr id="156" name="TextBox 155"/>
          <p:cNvSpPr txBox="1"/>
          <p:nvPr/>
        </p:nvSpPr>
        <p:spPr>
          <a:xfrm>
            <a:off x="8622792" y="38587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57" name="TextBox 156"/>
          <p:cNvSpPr txBox="1"/>
          <p:nvPr/>
        </p:nvSpPr>
        <p:spPr>
          <a:xfrm>
            <a:off x="6720840" y="4041648"/>
            <a:ext cx="411480" cy="182880"/>
          </a:xfrm>
          <a:prstGeom prst="rect">
            <a:avLst/>
          </a:prstGeom>
          <a:noFill/>
        </p:spPr>
        <p:txBody>
          <a:bodyPr wrap="square" lIns="0" tIns="0" rIns="0" bIns="0" anchor="ctr">
            <a:spAutoFit/>
          </a:bodyPr>
          <a:lstStyle/>
          <a:p>
            <a:pPr algn="l"/>
            <a:endParaRPr/>
          </a:p>
        </p:txBody>
      </p:sp>
      <p:sp>
        <p:nvSpPr>
          <p:cNvPr id="158" name="TextBox 157"/>
          <p:cNvSpPr txBox="1"/>
          <p:nvPr/>
        </p:nvSpPr>
        <p:spPr>
          <a:xfrm>
            <a:off x="7159752" y="404164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treasury_3y_pct</a:t>
            </a:r>
          </a:p>
        </p:txBody>
      </p:sp>
      <p:sp>
        <p:nvSpPr>
          <p:cNvPr id="159" name="TextBox 158"/>
          <p:cNvSpPr txBox="1"/>
          <p:nvPr/>
        </p:nvSpPr>
        <p:spPr>
          <a:xfrm>
            <a:off x="8622792" y="40416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60" name="TextBox 159"/>
          <p:cNvSpPr txBox="1"/>
          <p:nvPr/>
        </p:nvSpPr>
        <p:spPr>
          <a:xfrm>
            <a:off x="6720840" y="4224527"/>
            <a:ext cx="411480" cy="182880"/>
          </a:xfrm>
          <a:prstGeom prst="rect">
            <a:avLst/>
          </a:prstGeom>
          <a:noFill/>
        </p:spPr>
        <p:txBody>
          <a:bodyPr wrap="square" lIns="0" tIns="0" rIns="0" bIns="0" anchor="ctr">
            <a:spAutoFit/>
          </a:bodyPr>
          <a:lstStyle/>
          <a:p>
            <a:pPr algn="l"/>
            <a:endParaRPr/>
          </a:p>
        </p:txBody>
      </p:sp>
      <p:sp>
        <p:nvSpPr>
          <p:cNvPr id="161" name="TextBox 160"/>
          <p:cNvSpPr txBox="1"/>
          <p:nvPr/>
        </p:nvSpPr>
        <p:spPr>
          <a:xfrm>
            <a:off x="7159752" y="4224527"/>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corp_aa_minus_3y_pct</a:t>
            </a:r>
          </a:p>
        </p:txBody>
      </p:sp>
      <p:sp>
        <p:nvSpPr>
          <p:cNvPr id="162" name="TextBox 161"/>
          <p:cNvSpPr txBox="1"/>
          <p:nvPr/>
        </p:nvSpPr>
        <p:spPr>
          <a:xfrm>
            <a:off x="8622792" y="4224527"/>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63" name="TextBox 162"/>
          <p:cNvSpPr txBox="1"/>
          <p:nvPr/>
        </p:nvSpPr>
        <p:spPr>
          <a:xfrm>
            <a:off x="6720840" y="4407407"/>
            <a:ext cx="411480" cy="182880"/>
          </a:xfrm>
          <a:prstGeom prst="rect">
            <a:avLst/>
          </a:prstGeom>
          <a:noFill/>
        </p:spPr>
        <p:txBody>
          <a:bodyPr wrap="square" lIns="0" tIns="0" rIns="0" bIns="0" anchor="ctr">
            <a:spAutoFit/>
          </a:bodyPr>
          <a:lstStyle/>
          <a:p>
            <a:pPr algn="l"/>
            <a:endParaRPr/>
          </a:p>
        </p:txBody>
      </p:sp>
      <p:sp>
        <p:nvSpPr>
          <p:cNvPr id="164" name="TextBox 163"/>
          <p:cNvSpPr txBox="1"/>
          <p:nvPr/>
        </p:nvSpPr>
        <p:spPr>
          <a:xfrm>
            <a:off x="7159752" y="4407407"/>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spread_bp</a:t>
            </a:r>
          </a:p>
        </p:txBody>
      </p:sp>
      <p:sp>
        <p:nvSpPr>
          <p:cNvPr id="165" name="TextBox 164"/>
          <p:cNvSpPr txBox="1"/>
          <p:nvPr/>
        </p:nvSpPr>
        <p:spPr>
          <a:xfrm>
            <a:off x="8622792" y="4407407"/>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66" name="TextBox 165"/>
          <p:cNvSpPr txBox="1"/>
          <p:nvPr/>
        </p:nvSpPr>
        <p:spPr>
          <a:xfrm>
            <a:off x="6720840" y="4590288"/>
            <a:ext cx="411480" cy="182880"/>
          </a:xfrm>
          <a:prstGeom prst="rect">
            <a:avLst/>
          </a:prstGeom>
          <a:noFill/>
        </p:spPr>
        <p:txBody>
          <a:bodyPr wrap="square" lIns="0" tIns="0" rIns="0" bIns="0" anchor="ctr">
            <a:spAutoFit/>
          </a:bodyPr>
          <a:lstStyle/>
          <a:p>
            <a:pPr algn="l"/>
            <a:endParaRPr/>
          </a:p>
        </p:txBody>
      </p:sp>
      <p:sp>
        <p:nvSpPr>
          <p:cNvPr id="167" name="TextBox 166"/>
          <p:cNvSpPr txBox="1"/>
          <p:nvPr/>
        </p:nvSpPr>
        <p:spPr>
          <a:xfrm>
            <a:off x="7159752" y="459028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cd_change_bp</a:t>
            </a:r>
          </a:p>
        </p:txBody>
      </p:sp>
      <p:sp>
        <p:nvSpPr>
          <p:cNvPr id="168" name="TextBox 167"/>
          <p:cNvSpPr txBox="1"/>
          <p:nvPr/>
        </p:nvSpPr>
        <p:spPr>
          <a:xfrm>
            <a:off x="8622792" y="45902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69" name="TextBox 168"/>
          <p:cNvSpPr txBox="1"/>
          <p:nvPr/>
        </p:nvSpPr>
        <p:spPr>
          <a:xfrm>
            <a:off x="6720840" y="4773168"/>
            <a:ext cx="411480" cy="182880"/>
          </a:xfrm>
          <a:prstGeom prst="rect">
            <a:avLst/>
          </a:prstGeom>
          <a:noFill/>
        </p:spPr>
        <p:txBody>
          <a:bodyPr wrap="square" lIns="0" tIns="0" rIns="0" bIns="0" anchor="ctr">
            <a:spAutoFit/>
          </a:bodyPr>
          <a:lstStyle/>
          <a:p>
            <a:pPr algn="l"/>
            <a:endParaRPr/>
          </a:p>
        </p:txBody>
      </p:sp>
      <p:sp>
        <p:nvSpPr>
          <p:cNvPr id="170" name="TextBox 169"/>
          <p:cNvSpPr txBox="1"/>
          <p:nvPr/>
        </p:nvSpPr>
        <p:spPr>
          <a:xfrm>
            <a:off x="7159752" y="477316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corp_change_bp</a:t>
            </a:r>
          </a:p>
        </p:txBody>
      </p:sp>
      <p:sp>
        <p:nvSpPr>
          <p:cNvPr id="171" name="TextBox 170"/>
          <p:cNvSpPr txBox="1"/>
          <p:nvPr/>
        </p:nvSpPr>
        <p:spPr>
          <a:xfrm>
            <a:off x="8622792" y="47731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72" name="TextBox 171"/>
          <p:cNvSpPr txBox="1"/>
          <p:nvPr/>
        </p:nvSpPr>
        <p:spPr>
          <a:xfrm>
            <a:off x="6720840" y="4956048"/>
            <a:ext cx="411480" cy="182880"/>
          </a:xfrm>
          <a:prstGeom prst="rect">
            <a:avLst/>
          </a:prstGeom>
          <a:noFill/>
        </p:spPr>
        <p:txBody>
          <a:bodyPr wrap="square" lIns="0" tIns="0" rIns="0" bIns="0" anchor="ctr">
            <a:spAutoFit/>
          </a:bodyPr>
          <a:lstStyle/>
          <a:p>
            <a:pPr algn="l"/>
            <a:endParaRPr/>
          </a:p>
        </p:txBody>
      </p:sp>
      <p:sp>
        <p:nvSpPr>
          <p:cNvPr id="173" name="TextBox 172"/>
          <p:cNvSpPr txBox="1"/>
          <p:nvPr/>
        </p:nvSpPr>
        <p:spPr>
          <a:xfrm>
            <a:off x="7159752" y="495604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treasury_change_bp</a:t>
            </a:r>
          </a:p>
        </p:txBody>
      </p:sp>
      <p:sp>
        <p:nvSpPr>
          <p:cNvPr id="174" name="TextBox 173"/>
          <p:cNvSpPr txBox="1"/>
          <p:nvPr/>
        </p:nvSpPr>
        <p:spPr>
          <a:xfrm>
            <a:off x="8622792" y="49560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75" name="TextBox 174"/>
          <p:cNvSpPr txBox="1"/>
          <p:nvPr/>
        </p:nvSpPr>
        <p:spPr>
          <a:xfrm>
            <a:off x="6720840" y="5138927"/>
            <a:ext cx="411480" cy="182880"/>
          </a:xfrm>
          <a:prstGeom prst="rect">
            <a:avLst/>
          </a:prstGeom>
          <a:noFill/>
        </p:spPr>
        <p:txBody>
          <a:bodyPr wrap="square" lIns="0" tIns="0" rIns="0" bIns="0" anchor="ctr">
            <a:spAutoFit/>
          </a:bodyPr>
          <a:lstStyle/>
          <a:p>
            <a:pPr algn="l"/>
            <a:endParaRPr/>
          </a:p>
        </p:txBody>
      </p:sp>
      <p:sp>
        <p:nvSpPr>
          <p:cNvPr id="176" name="TextBox 175"/>
          <p:cNvSpPr txBox="1"/>
          <p:nvPr/>
        </p:nvSpPr>
        <p:spPr>
          <a:xfrm>
            <a:off x="7159752" y="5138927"/>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spread_change_bp</a:t>
            </a:r>
          </a:p>
        </p:txBody>
      </p:sp>
      <p:sp>
        <p:nvSpPr>
          <p:cNvPr id="177" name="TextBox 176"/>
          <p:cNvSpPr txBox="1"/>
          <p:nvPr/>
        </p:nvSpPr>
        <p:spPr>
          <a:xfrm>
            <a:off x="8622792" y="5138927"/>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78" name="TextBox 177"/>
          <p:cNvSpPr txBox="1"/>
          <p:nvPr/>
        </p:nvSpPr>
        <p:spPr>
          <a:xfrm>
            <a:off x="6720840" y="5321807"/>
            <a:ext cx="411480" cy="182880"/>
          </a:xfrm>
          <a:prstGeom prst="rect">
            <a:avLst/>
          </a:prstGeom>
          <a:noFill/>
        </p:spPr>
        <p:txBody>
          <a:bodyPr wrap="square" lIns="0" tIns="0" rIns="0" bIns="0" anchor="ctr">
            <a:spAutoFit/>
          </a:bodyPr>
          <a:lstStyle/>
          <a:p>
            <a:pPr algn="l"/>
            <a:endParaRPr/>
          </a:p>
        </p:txBody>
      </p:sp>
      <p:sp>
        <p:nvSpPr>
          <p:cNvPr id="179" name="TextBox 178"/>
          <p:cNvSpPr txBox="1"/>
          <p:nvPr/>
        </p:nvSpPr>
        <p:spPr>
          <a:xfrm>
            <a:off x="7159752" y="5321807"/>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cd_minus_treasury_bp</a:t>
            </a:r>
          </a:p>
        </p:txBody>
      </p:sp>
      <p:sp>
        <p:nvSpPr>
          <p:cNvPr id="180" name="TextBox 179"/>
          <p:cNvSpPr txBox="1"/>
          <p:nvPr/>
        </p:nvSpPr>
        <p:spPr>
          <a:xfrm>
            <a:off x="8622792" y="5321807"/>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cxnSp>
        <p:nvCxnSpPr>
          <p:cNvPr id="181" name="Connector 180"/>
          <p:cNvCxnSpPr/>
          <p:nvPr/>
        </p:nvCxnSpPr>
        <p:spPr>
          <a:xfrm>
            <a:off x="3154680" y="1938528"/>
            <a:ext cx="457200" cy="0"/>
          </a:xfrm>
          <a:prstGeom prst="line">
            <a:avLst/>
          </a:prstGeom>
          <a:ln w="15875">
            <a:solidFill>
              <a:srgbClr val="14304A"/>
            </a:solidFill>
            <a:headEnd type="oval"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3172968" y="1719072"/>
            <a:ext cx="411480" cy="164592"/>
          </a:xfrm>
          <a:prstGeom prst="rect">
            <a:avLst/>
          </a:prstGeom>
          <a:noFill/>
        </p:spPr>
        <p:txBody>
          <a:bodyPr wrap="square" lIns="0" tIns="0" rIns="0" bIns="0" anchor="ctr">
            <a:spAutoFit/>
          </a:bodyPr>
          <a:lstStyle/>
          <a:p>
            <a:pPr algn="ctr"/>
            <a:r>
              <a:rPr sz="850" b="1">
                <a:solidFill>
                  <a:srgbClr val="14304A"/>
                </a:solidFill>
                <a:latin typeface="맑은 고딕"/>
                <a:ea typeface="맑은 고딕"/>
                <a:cs typeface="맑은 고딕"/>
              </a:rPr>
              <a:t>1</a:t>
            </a:r>
          </a:p>
        </p:txBody>
      </p:sp>
      <p:sp>
        <p:nvSpPr>
          <p:cNvPr id="183" name="TextBox 182"/>
          <p:cNvSpPr txBox="1"/>
          <p:nvPr/>
        </p:nvSpPr>
        <p:spPr>
          <a:xfrm>
            <a:off x="3182112" y="1965960"/>
            <a:ext cx="411480" cy="164592"/>
          </a:xfrm>
          <a:prstGeom prst="rect">
            <a:avLst/>
          </a:prstGeom>
          <a:noFill/>
        </p:spPr>
        <p:txBody>
          <a:bodyPr wrap="square" lIns="0" tIns="0" rIns="0" bIns="0" anchor="ctr">
            <a:spAutoFit/>
          </a:bodyPr>
          <a:lstStyle/>
          <a:p>
            <a:pPr algn="ctr"/>
            <a:r>
              <a:rPr sz="850" b="1">
                <a:solidFill>
                  <a:srgbClr val="14304A"/>
                </a:solidFill>
                <a:latin typeface="맑은 고딕"/>
                <a:ea typeface="맑은 고딕"/>
                <a:cs typeface="맑은 고딕"/>
              </a:rPr>
              <a:t>0..1</a:t>
            </a:r>
          </a:p>
        </p:txBody>
      </p:sp>
      <p:cxnSp>
        <p:nvCxnSpPr>
          <p:cNvPr id="184" name="Connector 183"/>
          <p:cNvCxnSpPr/>
          <p:nvPr/>
        </p:nvCxnSpPr>
        <p:spPr>
          <a:xfrm>
            <a:off x="3154680" y="1938528"/>
            <a:ext cx="137160" cy="0"/>
          </a:xfrm>
          <a:prstGeom prst="line">
            <a:avLst/>
          </a:prstGeom>
          <a:ln w="15875">
            <a:solidFill>
              <a:srgbClr val="14304A"/>
            </a:solidFill>
            <a:headEnd type="oval" w="med" len="med"/>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3291840" y="1243584"/>
            <a:ext cx="0" cy="694944"/>
          </a:xfrm>
          <a:prstGeom prst="line">
            <a:avLst/>
          </a:prstGeom>
          <a:ln w="15875">
            <a:solidFill>
              <a:srgbClr val="14304A"/>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3291840" y="1243584"/>
            <a:ext cx="3182112" cy="0"/>
          </a:xfrm>
          <a:prstGeom prst="line">
            <a:avLst/>
          </a:prstGeom>
          <a:ln w="15875">
            <a:solidFill>
              <a:srgbClr val="14304A"/>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6473952" y="1243584"/>
            <a:ext cx="0" cy="694944"/>
          </a:xfrm>
          <a:prstGeom prst="line">
            <a:avLst/>
          </a:prstGeom>
          <a:ln w="15875">
            <a:solidFill>
              <a:srgbClr val="14304A"/>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6473952" y="1938528"/>
            <a:ext cx="155448" cy="0"/>
          </a:xfrm>
          <a:prstGeom prst="line">
            <a:avLst/>
          </a:prstGeom>
          <a:ln w="15875">
            <a:solidFill>
              <a:srgbClr val="1430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6473952" y="1938528"/>
            <a:ext cx="0" cy="1828799"/>
          </a:xfrm>
          <a:prstGeom prst="line">
            <a:avLst/>
          </a:prstGeom>
          <a:ln w="15875">
            <a:solidFill>
              <a:srgbClr val="14304A"/>
            </a:solidFill>
            <a:headEnd type="oval" w="med" len="med"/>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6473952" y="3767327"/>
            <a:ext cx="155448" cy="0"/>
          </a:xfrm>
          <a:prstGeom prst="line">
            <a:avLst/>
          </a:prstGeom>
          <a:ln w="15875">
            <a:solidFill>
              <a:srgbClr val="1430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6217920" y="1719072"/>
            <a:ext cx="411480" cy="164592"/>
          </a:xfrm>
          <a:prstGeom prst="rect">
            <a:avLst/>
          </a:prstGeom>
          <a:noFill/>
        </p:spPr>
        <p:txBody>
          <a:bodyPr wrap="square" lIns="0" tIns="0" rIns="0" bIns="0" anchor="ctr">
            <a:spAutoFit/>
          </a:bodyPr>
          <a:lstStyle/>
          <a:p>
            <a:pPr algn="ctr"/>
            <a:r>
              <a:rPr sz="850" b="1">
                <a:solidFill>
                  <a:srgbClr val="14304A"/>
                </a:solidFill>
                <a:latin typeface="맑은 고딕"/>
                <a:ea typeface="맑은 고딕"/>
                <a:cs typeface="맑은 고딕"/>
              </a:rPr>
              <a:t>0..1</a:t>
            </a:r>
          </a:p>
        </p:txBody>
      </p:sp>
      <p:sp>
        <p:nvSpPr>
          <p:cNvPr id="192" name="TextBox 191"/>
          <p:cNvSpPr txBox="1"/>
          <p:nvPr/>
        </p:nvSpPr>
        <p:spPr>
          <a:xfrm>
            <a:off x="6217920" y="3547871"/>
            <a:ext cx="411480" cy="164592"/>
          </a:xfrm>
          <a:prstGeom prst="rect">
            <a:avLst/>
          </a:prstGeom>
          <a:noFill/>
        </p:spPr>
        <p:txBody>
          <a:bodyPr wrap="square" lIns="0" tIns="0" rIns="0" bIns="0" anchor="ctr">
            <a:spAutoFit/>
          </a:bodyPr>
          <a:lstStyle/>
          <a:p>
            <a:pPr algn="ctr"/>
            <a:r>
              <a:rPr sz="850" b="1">
                <a:solidFill>
                  <a:srgbClr val="14304A"/>
                </a:solidFill>
                <a:latin typeface="맑은 고딕"/>
                <a:ea typeface="맑은 고딕"/>
                <a:cs typeface="맑은 고딕"/>
              </a:rPr>
              <a:t>0..1</a:t>
            </a:r>
          </a:p>
        </p:txBody>
      </p:sp>
      <p:cxnSp>
        <p:nvCxnSpPr>
          <p:cNvPr id="193" name="Connector 192"/>
          <p:cNvCxnSpPr/>
          <p:nvPr/>
        </p:nvCxnSpPr>
        <p:spPr>
          <a:xfrm>
            <a:off x="6217920" y="5093208"/>
            <a:ext cx="155448" cy="0"/>
          </a:xfrm>
          <a:prstGeom prst="line">
            <a:avLst/>
          </a:prstGeom>
          <a:ln w="15875">
            <a:solidFill>
              <a:srgbClr val="2E9E57"/>
            </a:solidFill>
            <a:headEnd type="oval" w="med" len="med"/>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6373368" y="4133087"/>
            <a:ext cx="0" cy="960121"/>
          </a:xfrm>
          <a:prstGeom prst="line">
            <a:avLst/>
          </a:prstGeom>
          <a:ln w="15875">
            <a:solidFill>
              <a:srgbClr val="2E9E57"/>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H="1">
            <a:off x="6217920" y="4133087"/>
            <a:ext cx="155448" cy="0"/>
          </a:xfrm>
          <a:prstGeom prst="line">
            <a:avLst/>
          </a:prstGeom>
          <a:ln w="15875">
            <a:solidFill>
              <a:srgbClr val="2E9E57"/>
            </a:solidFill>
            <a:tailEnd type="arrow" w="med" len="med"/>
          </a:ln>
        </p:spPr>
        <p:style>
          <a:lnRef idx="2">
            <a:schemeClr val="accent1"/>
          </a:lnRef>
          <a:fillRef idx="0">
            <a:schemeClr val="accent1"/>
          </a:fillRef>
          <a:effectRef idx="1">
            <a:schemeClr val="accent1"/>
          </a:effectRef>
          <a:fontRef idx="minor">
            <a:schemeClr val="tx1"/>
          </a:fontRef>
        </p:style>
      </p:cxnSp>
      <p:sp>
        <p:nvSpPr>
          <p:cNvPr id="196" name="TextBox 195"/>
          <p:cNvSpPr txBox="1"/>
          <p:nvPr/>
        </p:nvSpPr>
        <p:spPr>
          <a:xfrm>
            <a:off x="6236208" y="5111496"/>
            <a:ext cx="411480" cy="164592"/>
          </a:xfrm>
          <a:prstGeom prst="rect">
            <a:avLst/>
          </a:prstGeom>
          <a:noFill/>
        </p:spPr>
        <p:txBody>
          <a:bodyPr wrap="square" lIns="0" tIns="0" rIns="0" bIns="0" anchor="ctr">
            <a:spAutoFit/>
          </a:bodyPr>
          <a:lstStyle/>
          <a:p>
            <a:pPr algn="ctr"/>
            <a:r>
              <a:rPr sz="850" b="1">
                <a:solidFill>
                  <a:srgbClr val="2E9E57"/>
                </a:solidFill>
                <a:latin typeface="맑은 고딕"/>
                <a:ea typeface="맑은 고딕"/>
                <a:cs typeface="맑은 고딕"/>
              </a:rPr>
              <a:t>1</a:t>
            </a:r>
          </a:p>
        </p:txBody>
      </p:sp>
      <p:sp>
        <p:nvSpPr>
          <p:cNvPr id="197" name="TextBox 196"/>
          <p:cNvSpPr txBox="1"/>
          <p:nvPr/>
        </p:nvSpPr>
        <p:spPr>
          <a:xfrm>
            <a:off x="6236208" y="3913631"/>
            <a:ext cx="411480" cy="164592"/>
          </a:xfrm>
          <a:prstGeom prst="rect">
            <a:avLst/>
          </a:prstGeom>
          <a:noFill/>
        </p:spPr>
        <p:txBody>
          <a:bodyPr wrap="square" lIns="0" tIns="0" rIns="0" bIns="0" anchor="ctr">
            <a:spAutoFit/>
          </a:bodyPr>
          <a:lstStyle/>
          <a:p>
            <a:pPr algn="ctr"/>
            <a:r>
              <a:rPr sz="850" b="1">
                <a:solidFill>
                  <a:srgbClr val="2E9E57"/>
                </a:solidFill>
                <a:latin typeface="맑은 고딕"/>
                <a:ea typeface="맑은 고딕"/>
                <a:cs typeface="맑은 고딕"/>
              </a:rPr>
              <a:t>N</a:t>
            </a:r>
          </a:p>
        </p:txBody>
      </p:sp>
      <p:sp>
        <p:nvSpPr>
          <p:cNvPr id="198" name="TextBox 197"/>
          <p:cNvSpPr txBox="1"/>
          <p:nvPr/>
        </p:nvSpPr>
        <p:spPr>
          <a:xfrm>
            <a:off x="9555480" y="1371600"/>
            <a:ext cx="2084831" cy="274320"/>
          </a:xfrm>
          <a:prstGeom prst="rect">
            <a:avLst/>
          </a:prstGeom>
          <a:noFill/>
        </p:spPr>
        <p:txBody>
          <a:bodyPr wrap="square" lIns="0" tIns="0" rIns="0" bIns="0" anchor="ctr">
            <a:spAutoFit/>
          </a:bodyPr>
          <a:lstStyle/>
          <a:p>
            <a:pPr algn="l"/>
            <a:r>
              <a:rPr sz="1150" b="1">
                <a:solidFill>
                  <a:srgbClr val="5B6B7A"/>
                </a:solidFill>
                <a:latin typeface="맑은 고딕"/>
                <a:ea typeface="맑은 고딕"/>
                <a:cs typeface="맑은 고딕"/>
              </a:rPr>
              <a:t>결과표 (키 없음)</a:t>
            </a:r>
          </a:p>
        </p:txBody>
      </p:sp>
      <p:sp>
        <p:nvSpPr>
          <p:cNvPr id="199" name="Rounded Rectangle 198"/>
          <p:cNvSpPr/>
          <p:nvPr/>
        </p:nvSpPr>
        <p:spPr>
          <a:xfrm>
            <a:off x="9555480" y="1737360"/>
            <a:ext cx="2084831" cy="978408"/>
          </a:xfrm>
          <a:prstGeom prst="roundRect">
            <a:avLst>
              <a:gd name="adj" fmla="val 8000"/>
            </a:avLst>
          </a:prstGeom>
          <a:solidFill>
            <a:srgbClr val="F6F8FA"/>
          </a:solidFill>
          <a:ln w="9525">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9692640" y="1828800"/>
            <a:ext cx="1463040" cy="237744"/>
          </a:xfrm>
          <a:prstGeom prst="rect">
            <a:avLst/>
          </a:prstGeom>
          <a:noFill/>
        </p:spPr>
        <p:txBody>
          <a:bodyPr wrap="square" lIns="0" tIns="0" rIns="0" bIns="0" anchor="ctr">
            <a:spAutoFit/>
          </a:bodyPr>
          <a:lstStyle/>
          <a:p>
            <a:pPr algn="l"/>
            <a:r>
              <a:rPr sz="950" b="1">
                <a:solidFill>
                  <a:srgbClr val="1F2A36"/>
                </a:solidFill>
                <a:latin typeface="Courier New"/>
                <a:ea typeface="맑은 고딕"/>
                <a:cs typeface="맑은 고딕"/>
              </a:rPr>
              <a:t>sensitivity</a:t>
            </a:r>
          </a:p>
        </p:txBody>
      </p:sp>
      <p:sp>
        <p:nvSpPr>
          <p:cNvPr id="201" name="TextBox 200"/>
          <p:cNvSpPr txBox="1"/>
          <p:nvPr/>
        </p:nvSpPr>
        <p:spPr>
          <a:xfrm>
            <a:off x="10972800" y="1828800"/>
            <a:ext cx="548640" cy="237744"/>
          </a:xfrm>
          <a:prstGeom prst="rect">
            <a:avLst/>
          </a:prstGeom>
          <a:noFill/>
        </p:spPr>
        <p:txBody>
          <a:bodyPr wrap="square" lIns="0" tIns="0" rIns="0" bIns="0" anchor="ctr">
            <a:spAutoFit/>
          </a:bodyPr>
          <a:lstStyle/>
          <a:p>
            <a:pPr algn="r"/>
            <a:r>
              <a:rPr sz="900" b="1">
                <a:solidFill>
                  <a:srgbClr val="5B6B7A"/>
                </a:solidFill>
                <a:latin typeface="맑은 고딕"/>
                <a:ea typeface="맑은 고딕"/>
                <a:cs typeface="맑은 고딕"/>
              </a:rPr>
              <a:t>3행</a:t>
            </a:r>
          </a:p>
        </p:txBody>
      </p:sp>
      <p:sp>
        <p:nvSpPr>
          <p:cNvPr id="202" name="TextBox 201"/>
          <p:cNvSpPr txBox="1"/>
          <p:nvPr/>
        </p:nvSpPr>
        <p:spPr>
          <a:xfrm>
            <a:off x="9692640" y="2103120"/>
            <a:ext cx="1828800" cy="237744"/>
          </a:xfrm>
          <a:prstGeom prst="rect">
            <a:avLst/>
          </a:prstGeom>
          <a:noFill/>
        </p:spPr>
        <p:txBody>
          <a:bodyPr wrap="square" lIns="0" tIns="0" rIns="0" bIns="0" anchor="ctr">
            <a:spAutoFit/>
          </a:bodyPr>
          <a:lstStyle/>
          <a:p>
            <a:pPr algn="l"/>
            <a:r>
              <a:rPr sz="1000" b="0">
                <a:solidFill>
                  <a:srgbClr val="1F2A36"/>
                </a:solidFill>
                <a:latin typeface="맑은 고딕"/>
                <a:ea typeface="맑은 고딕"/>
                <a:cs typeface="맑은 고딕"/>
              </a:rPr>
              <a:t>사건 전 기준 바꾸기</a:t>
            </a:r>
          </a:p>
        </p:txBody>
      </p:sp>
      <p:sp>
        <p:nvSpPr>
          <p:cNvPr id="203" name="TextBox 202"/>
          <p:cNvSpPr txBox="1"/>
          <p:nvPr/>
        </p:nvSpPr>
        <p:spPr>
          <a:xfrm>
            <a:off x="9692640" y="2359152"/>
            <a:ext cx="1828800" cy="237744"/>
          </a:xfrm>
          <a:prstGeom prst="rect">
            <a:avLst/>
          </a:prstGeom>
          <a:noFill/>
        </p:spPr>
        <p:txBody>
          <a:bodyPr wrap="square" lIns="0" tIns="0" rIns="0" bIns="0" anchor="ctr">
            <a:spAutoFit/>
          </a:bodyPr>
          <a:lstStyle/>
          <a:p>
            <a:pPr algn="l"/>
            <a:r>
              <a:rPr sz="800" b="0">
                <a:solidFill>
                  <a:srgbClr val="5B6B7A"/>
                </a:solidFill>
                <a:latin typeface="맑은 고딕"/>
                <a:ea typeface="맑은 고딕"/>
                <a:cs typeface="맑은 고딕"/>
              </a:rPr>
              <a:t>4개 열: baseline · stress_mean_bp</a:t>
            </a:r>
          </a:p>
        </p:txBody>
      </p:sp>
      <p:sp>
        <p:nvSpPr>
          <p:cNvPr id="204" name="Rounded Rectangle 203"/>
          <p:cNvSpPr/>
          <p:nvPr/>
        </p:nvSpPr>
        <p:spPr>
          <a:xfrm>
            <a:off x="9555480" y="2852928"/>
            <a:ext cx="2084831" cy="978408"/>
          </a:xfrm>
          <a:prstGeom prst="roundRect">
            <a:avLst>
              <a:gd name="adj" fmla="val 8000"/>
            </a:avLst>
          </a:prstGeom>
          <a:solidFill>
            <a:srgbClr val="F6F8FA"/>
          </a:solidFill>
          <a:ln w="9525">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9692640" y="2944368"/>
            <a:ext cx="1463040" cy="237744"/>
          </a:xfrm>
          <a:prstGeom prst="rect">
            <a:avLst/>
          </a:prstGeom>
          <a:noFill/>
        </p:spPr>
        <p:txBody>
          <a:bodyPr wrap="square" lIns="0" tIns="0" rIns="0" bIns="0" anchor="ctr">
            <a:spAutoFit/>
          </a:bodyPr>
          <a:lstStyle/>
          <a:p>
            <a:pPr algn="l"/>
            <a:r>
              <a:rPr sz="950" b="1">
                <a:solidFill>
                  <a:srgbClr val="1F2A36"/>
                </a:solidFill>
                <a:latin typeface="Courier New"/>
                <a:ea typeface="맑은 고딕"/>
                <a:cs typeface="맑은 고딕"/>
              </a:rPr>
              <a:t>cd_lead_lag</a:t>
            </a:r>
          </a:p>
        </p:txBody>
      </p:sp>
      <p:sp>
        <p:nvSpPr>
          <p:cNvPr id="206" name="TextBox 205"/>
          <p:cNvSpPr txBox="1"/>
          <p:nvPr/>
        </p:nvSpPr>
        <p:spPr>
          <a:xfrm>
            <a:off x="10972800" y="2944368"/>
            <a:ext cx="548640" cy="237744"/>
          </a:xfrm>
          <a:prstGeom prst="rect">
            <a:avLst/>
          </a:prstGeom>
          <a:noFill/>
        </p:spPr>
        <p:txBody>
          <a:bodyPr wrap="square" lIns="0" tIns="0" rIns="0" bIns="0" anchor="ctr">
            <a:spAutoFit/>
          </a:bodyPr>
          <a:lstStyle/>
          <a:p>
            <a:pPr algn="r"/>
            <a:r>
              <a:rPr sz="900" b="1">
                <a:solidFill>
                  <a:srgbClr val="5B6B7A"/>
                </a:solidFill>
                <a:latin typeface="맑은 고딕"/>
                <a:ea typeface="맑은 고딕"/>
                <a:cs typeface="맑은 고딕"/>
              </a:rPr>
              <a:t>5행</a:t>
            </a:r>
          </a:p>
        </p:txBody>
      </p:sp>
      <p:sp>
        <p:nvSpPr>
          <p:cNvPr id="207" name="TextBox 206"/>
          <p:cNvSpPr txBox="1"/>
          <p:nvPr/>
        </p:nvSpPr>
        <p:spPr>
          <a:xfrm>
            <a:off x="9692640" y="3218688"/>
            <a:ext cx="1828800" cy="237744"/>
          </a:xfrm>
          <a:prstGeom prst="rect">
            <a:avLst/>
          </a:prstGeom>
          <a:noFill/>
        </p:spPr>
        <p:txBody>
          <a:bodyPr wrap="square" lIns="0" tIns="0" rIns="0" bIns="0" anchor="ctr">
            <a:spAutoFit/>
          </a:bodyPr>
          <a:lstStyle/>
          <a:p>
            <a:pPr algn="l"/>
            <a:r>
              <a:rPr sz="1000" b="0">
                <a:solidFill>
                  <a:srgbClr val="1F2A36"/>
                </a:solidFill>
                <a:latin typeface="맑은 고딕"/>
                <a:ea typeface="맑은 고딕"/>
                <a:cs typeface="맑은 고딕"/>
              </a:rPr>
              <a:t>CD 선후행 상관</a:t>
            </a:r>
          </a:p>
        </p:txBody>
      </p:sp>
      <p:sp>
        <p:nvSpPr>
          <p:cNvPr id="208" name="TextBox 207"/>
          <p:cNvSpPr txBox="1"/>
          <p:nvPr/>
        </p:nvSpPr>
        <p:spPr>
          <a:xfrm>
            <a:off x="9692640" y="3474720"/>
            <a:ext cx="1828800" cy="237744"/>
          </a:xfrm>
          <a:prstGeom prst="rect">
            <a:avLst/>
          </a:prstGeom>
          <a:noFill/>
        </p:spPr>
        <p:txBody>
          <a:bodyPr wrap="square" lIns="0" tIns="0" rIns="0" bIns="0" anchor="ctr">
            <a:spAutoFit/>
          </a:bodyPr>
          <a:lstStyle/>
          <a:p>
            <a:pPr algn="l"/>
            <a:r>
              <a:rPr sz="800" b="0">
                <a:solidFill>
                  <a:srgbClr val="5B6B7A"/>
                </a:solidFill>
                <a:latin typeface="맑은 고딕"/>
                <a:ea typeface="맑은 고딕"/>
                <a:cs typeface="맑은 고딕"/>
              </a:rPr>
              <a:t>5개 열: lag_months_k · corr_…</a:t>
            </a:r>
          </a:p>
        </p:txBody>
      </p:sp>
      <p:sp>
        <p:nvSpPr>
          <p:cNvPr id="209" name="Rounded Rectangle 208"/>
          <p:cNvSpPr/>
          <p:nvPr/>
        </p:nvSpPr>
        <p:spPr>
          <a:xfrm>
            <a:off x="9555480" y="3968496"/>
            <a:ext cx="2084831" cy="978408"/>
          </a:xfrm>
          <a:prstGeom prst="roundRect">
            <a:avLst>
              <a:gd name="adj" fmla="val 8000"/>
            </a:avLst>
          </a:prstGeom>
          <a:solidFill>
            <a:srgbClr val="F6F8FA"/>
          </a:solidFill>
          <a:ln w="9525">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9692640" y="4059935"/>
            <a:ext cx="1463040" cy="237744"/>
          </a:xfrm>
          <a:prstGeom prst="rect">
            <a:avLst/>
          </a:prstGeom>
          <a:noFill/>
        </p:spPr>
        <p:txBody>
          <a:bodyPr wrap="square" lIns="0" tIns="0" rIns="0" bIns="0" anchor="ctr">
            <a:spAutoFit/>
          </a:bodyPr>
          <a:lstStyle/>
          <a:p>
            <a:pPr algn="l"/>
            <a:r>
              <a:rPr sz="950" b="1">
                <a:solidFill>
                  <a:srgbClr val="1F2A36"/>
                </a:solidFill>
                <a:latin typeface="Courier New"/>
                <a:ea typeface="맑은 고딕"/>
                <a:cs typeface="맑은 고딕"/>
              </a:rPr>
              <a:t>gauge_sensitivity</a:t>
            </a:r>
          </a:p>
        </p:txBody>
      </p:sp>
      <p:sp>
        <p:nvSpPr>
          <p:cNvPr id="211" name="TextBox 210"/>
          <p:cNvSpPr txBox="1"/>
          <p:nvPr/>
        </p:nvSpPr>
        <p:spPr>
          <a:xfrm>
            <a:off x="10972800" y="4059935"/>
            <a:ext cx="548640" cy="237744"/>
          </a:xfrm>
          <a:prstGeom prst="rect">
            <a:avLst/>
          </a:prstGeom>
          <a:noFill/>
        </p:spPr>
        <p:txBody>
          <a:bodyPr wrap="square" lIns="0" tIns="0" rIns="0" bIns="0" anchor="ctr">
            <a:spAutoFit/>
          </a:bodyPr>
          <a:lstStyle/>
          <a:p>
            <a:pPr algn="r"/>
            <a:r>
              <a:rPr sz="900" b="1">
                <a:solidFill>
                  <a:srgbClr val="5B6B7A"/>
                </a:solidFill>
                <a:latin typeface="맑은 고딕"/>
                <a:ea typeface="맑은 고딕"/>
                <a:cs typeface="맑은 고딕"/>
              </a:rPr>
              <a:t>3행</a:t>
            </a:r>
          </a:p>
        </p:txBody>
      </p:sp>
      <p:sp>
        <p:nvSpPr>
          <p:cNvPr id="212" name="TextBox 211"/>
          <p:cNvSpPr txBox="1"/>
          <p:nvPr/>
        </p:nvSpPr>
        <p:spPr>
          <a:xfrm>
            <a:off x="9692640" y="4334256"/>
            <a:ext cx="1828800" cy="237744"/>
          </a:xfrm>
          <a:prstGeom prst="rect">
            <a:avLst/>
          </a:prstGeom>
          <a:noFill/>
        </p:spPr>
        <p:txBody>
          <a:bodyPr wrap="square" lIns="0" tIns="0" rIns="0" bIns="0" anchor="ctr">
            <a:spAutoFit/>
          </a:bodyPr>
          <a:lstStyle/>
          <a:p>
            <a:pPr algn="l"/>
            <a:r>
              <a:rPr sz="1000" b="0">
                <a:solidFill>
                  <a:srgbClr val="1F2A36"/>
                </a:solidFill>
                <a:latin typeface="맑은 고딕"/>
                <a:ea typeface="맑은 고딕"/>
                <a:cs typeface="맑은 고딕"/>
              </a:rPr>
              <a:t>경색 기준 3·4·5σ</a:t>
            </a:r>
          </a:p>
        </p:txBody>
      </p:sp>
      <p:sp>
        <p:nvSpPr>
          <p:cNvPr id="213" name="TextBox 212"/>
          <p:cNvSpPr txBox="1"/>
          <p:nvPr/>
        </p:nvSpPr>
        <p:spPr>
          <a:xfrm>
            <a:off x="9692640" y="4590288"/>
            <a:ext cx="1828800" cy="237744"/>
          </a:xfrm>
          <a:prstGeom prst="rect">
            <a:avLst/>
          </a:prstGeom>
          <a:noFill/>
        </p:spPr>
        <p:txBody>
          <a:bodyPr wrap="square" lIns="0" tIns="0" rIns="0" bIns="0" anchor="ctr">
            <a:spAutoFit/>
          </a:bodyPr>
          <a:lstStyle/>
          <a:p>
            <a:pPr algn="l"/>
            <a:r>
              <a:rPr sz="800" b="0">
                <a:solidFill>
                  <a:srgbClr val="5B6B7A"/>
                </a:solidFill>
                <a:latin typeface="맑은 고딕"/>
                <a:ea typeface="맑은 고딕"/>
                <a:cs typeface="맑은 고딕"/>
              </a:rPr>
              <a:t>8개 열: stress_k_sigma · stress_buy_…</a:t>
            </a:r>
          </a:p>
        </p:txBody>
      </p:sp>
      <p:sp>
        <p:nvSpPr>
          <p:cNvPr id="214" name="Rounded Rectangle 213"/>
          <p:cNvSpPr/>
          <p:nvPr/>
        </p:nvSpPr>
        <p:spPr>
          <a:xfrm>
            <a:off x="9555480" y="5084064"/>
            <a:ext cx="2084831" cy="978408"/>
          </a:xfrm>
          <a:prstGeom prst="roundRect">
            <a:avLst>
              <a:gd name="adj" fmla="val 8000"/>
            </a:avLst>
          </a:prstGeom>
          <a:solidFill>
            <a:srgbClr val="F6F8FA"/>
          </a:solidFill>
          <a:ln w="9525">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TextBox 214"/>
          <p:cNvSpPr txBox="1"/>
          <p:nvPr/>
        </p:nvSpPr>
        <p:spPr>
          <a:xfrm>
            <a:off x="9692640" y="5175504"/>
            <a:ext cx="1463040" cy="237744"/>
          </a:xfrm>
          <a:prstGeom prst="rect">
            <a:avLst/>
          </a:prstGeom>
          <a:noFill/>
        </p:spPr>
        <p:txBody>
          <a:bodyPr wrap="square" lIns="0" tIns="0" rIns="0" bIns="0" anchor="ctr">
            <a:spAutoFit/>
          </a:bodyPr>
          <a:lstStyle/>
          <a:p>
            <a:pPr algn="l"/>
            <a:r>
              <a:rPr sz="950" b="1">
                <a:solidFill>
                  <a:srgbClr val="1F2A36"/>
                </a:solidFill>
                <a:latin typeface="Courier New"/>
                <a:ea typeface="맑은 고딕"/>
                <a:cs typeface="맑은 고딕"/>
              </a:rPr>
              <a:t>gauge_validation</a:t>
            </a:r>
          </a:p>
        </p:txBody>
      </p:sp>
      <p:sp>
        <p:nvSpPr>
          <p:cNvPr id="216" name="TextBox 215"/>
          <p:cNvSpPr txBox="1"/>
          <p:nvPr/>
        </p:nvSpPr>
        <p:spPr>
          <a:xfrm>
            <a:off x="10972800" y="5175504"/>
            <a:ext cx="548640" cy="237744"/>
          </a:xfrm>
          <a:prstGeom prst="rect">
            <a:avLst/>
          </a:prstGeom>
          <a:noFill/>
        </p:spPr>
        <p:txBody>
          <a:bodyPr wrap="square" lIns="0" tIns="0" rIns="0" bIns="0" anchor="ctr">
            <a:spAutoFit/>
          </a:bodyPr>
          <a:lstStyle/>
          <a:p>
            <a:pPr algn="r"/>
            <a:r>
              <a:rPr sz="900" b="1">
                <a:solidFill>
                  <a:srgbClr val="5B6B7A"/>
                </a:solidFill>
                <a:latin typeface="맑은 고딕"/>
                <a:ea typeface="맑은 고딕"/>
                <a:cs typeface="맑은 고딕"/>
              </a:rPr>
              <a:t>16행</a:t>
            </a:r>
          </a:p>
        </p:txBody>
      </p:sp>
      <p:sp>
        <p:nvSpPr>
          <p:cNvPr id="217" name="TextBox 216"/>
          <p:cNvSpPr txBox="1"/>
          <p:nvPr/>
        </p:nvSpPr>
        <p:spPr>
          <a:xfrm>
            <a:off x="9692640" y="5449824"/>
            <a:ext cx="1828800" cy="237744"/>
          </a:xfrm>
          <a:prstGeom prst="rect">
            <a:avLst/>
          </a:prstGeom>
          <a:noFill/>
        </p:spPr>
        <p:txBody>
          <a:bodyPr wrap="square" lIns="0" tIns="0" rIns="0" bIns="0" anchor="ctr">
            <a:spAutoFit/>
          </a:bodyPr>
          <a:lstStyle/>
          <a:p>
            <a:pPr algn="l"/>
            <a:r>
              <a:rPr sz="1000" b="0">
                <a:solidFill>
                  <a:srgbClr val="1F2A36"/>
                </a:solidFill>
                <a:latin typeface="맑은 고딕"/>
                <a:ea typeface="맑은 고딕"/>
                <a:cs typeface="맑은 고딕"/>
              </a:rPr>
              <a:t>계기판 검증 요약</a:t>
            </a:r>
          </a:p>
        </p:txBody>
      </p:sp>
      <p:sp>
        <p:nvSpPr>
          <p:cNvPr id="218" name="TextBox 217"/>
          <p:cNvSpPr txBox="1"/>
          <p:nvPr/>
        </p:nvSpPr>
        <p:spPr>
          <a:xfrm>
            <a:off x="9692640" y="5705856"/>
            <a:ext cx="1828800" cy="237744"/>
          </a:xfrm>
          <a:prstGeom prst="rect">
            <a:avLst/>
          </a:prstGeom>
          <a:noFill/>
        </p:spPr>
        <p:txBody>
          <a:bodyPr wrap="square" lIns="0" tIns="0" rIns="0" bIns="0" anchor="ctr">
            <a:spAutoFit/>
          </a:bodyPr>
          <a:lstStyle/>
          <a:p>
            <a:pPr algn="l"/>
            <a:r>
              <a:rPr sz="800" b="0">
                <a:solidFill>
                  <a:srgbClr val="5B6B7A"/>
                </a:solidFill>
                <a:latin typeface="맑은 고딕"/>
                <a:ea typeface="맑은 고딕"/>
                <a:cs typeface="맑은 고딕"/>
              </a:rPr>
              <a:t>3개 열: 항목 · 값 · 설명</a:t>
            </a:r>
          </a:p>
        </p:txBody>
      </p:sp>
      <p:sp>
        <p:nvSpPr>
          <p:cNvPr id="219" name="TextBox 218"/>
          <p:cNvSpPr txBox="1"/>
          <p:nvPr/>
        </p:nvSpPr>
        <p:spPr>
          <a:xfrm>
            <a:off x="548640" y="6473952"/>
            <a:ext cx="10543032" cy="228600"/>
          </a:xfrm>
          <a:prstGeom prst="rect">
            <a:avLst/>
          </a:prstGeom>
          <a:noFill/>
        </p:spPr>
        <p:txBody>
          <a:bodyPr wrap="square" lIns="0" tIns="0" rIns="0" bIns="0" anchor="t">
            <a:spAutoFit/>
          </a:bodyPr>
          <a:lstStyle/>
          <a:p>
            <a:pPr algn="l"/>
            <a:r>
              <a:rPr sz="900" b="0">
                <a:solidFill>
                  <a:srgbClr val="5B6B7A"/>
                </a:solidFill>
                <a:latin typeface="맑은 고딕"/>
                <a:ea typeface="맑은 고딕"/>
                <a:cs typeface="맑은 고딕"/>
              </a:rPr>
              <a:t>db/legoland.sqlite · 표 12개 중 월별 9개  |  PK 기본키(date는 UNIQUE INDEX) · FK 값으로 가리키는 논리 관계(DB 제약 없음) · 1 : 0..1 = 부분 집합, 1 : N</a:t>
            </a:r>
          </a:p>
        </p:txBody>
      </p:sp>
      <p:sp>
        <p:nvSpPr>
          <p:cNvPr id="220" name="TextBox 219"/>
          <p:cNvSpPr txBox="1"/>
          <p:nvPr/>
        </p:nvSpPr>
        <p:spPr>
          <a:xfrm>
            <a:off x="11274552" y="6473952"/>
            <a:ext cx="365760" cy="228600"/>
          </a:xfrm>
          <a:prstGeom prst="rect">
            <a:avLst/>
          </a:prstGeom>
          <a:noFill/>
        </p:spPr>
        <p:txBody>
          <a:bodyPr wrap="square" lIns="0" tIns="0" rIns="0" bIns="0" anchor="t">
            <a:spAutoFit/>
          </a:bodyPr>
          <a:lstStyle/>
          <a:p>
            <a:pPr algn="r"/>
            <a:r>
              <a:rPr sz="900" b="0">
                <a:solidFill>
                  <a:srgbClr val="5B6B7A"/>
                </a:solidFill>
                <a:latin typeface="맑은 고딕"/>
                <a:ea typeface="맑은 고딕"/>
                <a:cs typeface="맑은 고딕"/>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91672" cy="566928"/>
          </a:xfrm>
          <a:prstGeom prst="rect">
            <a:avLst/>
          </a:prstGeom>
          <a:noFill/>
        </p:spPr>
        <p:txBody>
          <a:bodyPr wrap="square" lIns="0" tIns="0" rIns="0" bIns="0" anchor="ctr">
            <a:spAutoFit/>
          </a:bodyPr>
          <a:lstStyle/>
          <a:p>
            <a:pPr algn="l"/>
            <a:r>
              <a:rPr sz="2800" b="1">
                <a:solidFill>
                  <a:srgbClr val="14304A"/>
                </a:solidFill>
                <a:latin typeface="맑은 고딕"/>
                <a:ea typeface="맑은 고딕"/>
                <a:cs typeface="맑은 고딕"/>
              </a:rPr>
              <a:t>DB 구조 ② 일별: 구간명으로 월별과 이어진다</a:t>
            </a:r>
          </a:p>
        </p:txBody>
      </p:sp>
      <p:sp>
        <p:nvSpPr>
          <p:cNvPr id="3" name="Rounded Rectangle 2"/>
          <p:cNvSpPr/>
          <p:nvPr/>
        </p:nvSpPr>
        <p:spPr>
          <a:xfrm>
            <a:off x="548640" y="1417320"/>
            <a:ext cx="2148840" cy="1737360"/>
          </a:xfrm>
          <a:prstGeom prst="roundRect">
            <a:avLst>
              <a:gd name="adj" fmla="val 3000"/>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 Same Side Corner Rectangle 3"/>
          <p:cNvSpPr/>
          <p:nvPr/>
        </p:nvSpPr>
        <p:spPr>
          <a:xfrm>
            <a:off x="548640" y="1417320"/>
            <a:ext cx="2148840" cy="402336"/>
          </a:xfrm>
          <a:prstGeom prst="round2SameRect">
            <a:avLst>
              <a:gd name="adj1" fmla="val 25000"/>
              <a:gd name="adj2" fmla="val 0"/>
            </a:avLst>
          </a:prstGeom>
          <a:solidFill>
            <a:srgbClr val="2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444752"/>
            <a:ext cx="1417320" cy="219456"/>
          </a:xfrm>
          <a:prstGeom prst="rect">
            <a:avLst/>
          </a:prstGeom>
          <a:noFill/>
        </p:spPr>
        <p:txBody>
          <a:bodyPr wrap="square" lIns="0" tIns="0" rIns="0" bIns="0" anchor="ctr">
            <a:spAutoFit/>
          </a:bodyPr>
          <a:lstStyle/>
          <a:p>
            <a:pPr algn="l"/>
            <a:r>
              <a:rPr sz="1050" b="1">
                <a:solidFill>
                  <a:srgbClr val="FFFFFF"/>
                </a:solidFill>
                <a:latin typeface="Courier New"/>
                <a:ea typeface="맑은 고딕"/>
                <a:cs typeface="맑은 고딕"/>
              </a:rPr>
              <a:t>period_summary</a:t>
            </a:r>
          </a:p>
        </p:txBody>
      </p:sp>
      <p:sp>
        <p:nvSpPr>
          <p:cNvPr id="6" name="TextBox 5"/>
          <p:cNvSpPr txBox="1"/>
          <p:nvPr/>
        </p:nvSpPr>
        <p:spPr>
          <a:xfrm>
            <a:off x="658368" y="1645920"/>
            <a:ext cx="1929384" cy="155448"/>
          </a:xfrm>
          <a:prstGeom prst="rect">
            <a:avLst/>
          </a:prstGeom>
          <a:noFill/>
        </p:spPr>
        <p:txBody>
          <a:bodyPr wrap="square" lIns="0" tIns="0" rIns="0" bIns="0" anchor="ctr">
            <a:spAutoFit/>
          </a:bodyPr>
          <a:lstStyle/>
          <a:p>
            <a:pPr algn="l"/>
            <a:r>
              <a:rPr sz="750" b="0">
                <a:solidFill>
                  <a:srgbClr val="E8EEF4"/>
                </a:solidFill>
                <a:latin typeface="맑은 고딕"/>
                <a:ea typeface="맑은 고딕"/>
                <a:cs typeface="맑은 고딕"/>
              </a:rPr>
              <a:t>월별 표와 공유하는 구간</a:t>
            </a:r>
          </a:p>
        </p:txBody>
      </p:sp>
      <p:sp>
        <p:nvSpPr>
          <p:cNvPr id="7" name="TextBox 6"/>
          <p:cNvSpPr txBox="1"/>
          <p:nvPr/>
        </p:nvSpPr>
        <p:spPr>
          <a:xfrm>
            <a:off x="2039112" y="1444752"/>
            <a:ext cx="548640" cy="219456"/>
          </a:xfrm>
          <a:prstGeom prst="rect">
            <a:avLst/>
          </a:prstGeom>
          <a:noFill/>
        </p:spPr>
        <p:txBody>
          <a:bodyPr wrap="square" lIns="0" tIns="0" rIns="0" bIns="0" anchor="ctr">
            <a:spAutoFit/>
          </a:bodyPr>
          <a:lstStyle/>
          <a:p>
            <a:pPr algn="r"/>
            <a:r>
              <a:rPr sz="950" b="1">
                <a:solidFill>
                  <a:srgbClr val="FFFFFF"/>
                </a:solidFill>
                <a:latin typeface="맑은 고딕"/>
                <a:ea typeface="맑은 고딕"/>
                <a:cs typeface="맑은 고딕"/>
              </a:rPr>
              <a:t>4행</a:t>
            </a:r>
          </a:p>
        </p:txBody>
      </p:sp>
      <p:sp>
        <p:nvSpPr>
          <p:cNvPr id="8" name="Rectangle 7"/>
          <p:cNvSpPr/>
          <p:nvPr/>
        </p:nvSpPr>
        <p:spPr>
          <a:xfrm>
            <a:off x="576072" y="1847088"/>
            <a:ext cx="2093976" cy="182880"/>
          </a:xfrm>
          <a:prstGeom prst="rect">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847088"/>
            <a:ext cx="411480" cy="182880"/>
          </a:xfrm>
          <a:prstGeom prst="rect">
            <a:avLst/>
          </a:prstGeom>
          <a:noFill/>
        </p:spPr>
        <p:txBody>
          <a:bodyPr wrap="square" lIns="0" tIns="0" rIns="0" bIns="0" anchor="ctr">
            <a:spAutoFit/>
          </a:bodyPr>
          <a:lstStyle/>
          <a:p>
            <a:pPr algn="l"/>
            <a:r>
              <a:rPr sz="750" b="1">
                <a:solidFill>
                  <a:srgbClr val="14304A"/>
                </a:solidFill>
                <a:latin typeface="맑은 고딕"/>
                <a:ea typeface="맑은 고딕"/>
                <a:cs typeface="맑은 고딕"/>
              </a:rPr>
              <a:t>PK</a:t>
            </a:r>
          </a:p>
        </p:txBody>
      </p:sp>
      <p:sp>
        <p:nvSpPr>
          <p:cNvPr id="10" name="TextBox 9"/>
          <p:cNvSpPr txBox="1"/>
          <p:nvPr/>
        </p:nvSpPr>
        <p:spPr>
          <a:xfrm>
            <a:off x="1078992" y="1847088"/>
            <a:ext cx="960120"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period</a:t>
            </a:r>
          </a:p>
        </p:txBody>
      </p:sp>
      <p:sp>
        <p:nvSpPr>
          <p:cNvPr id="11" name="TextBox 10"/>
          <p:cNvSpPr txBox="1"/>
          <p:nvPr/>
        </p:nvSpPr>
        <p:spPr>
          <a:xfrm>
            <a:off x="2039112" y="18470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2" name="TextBox 11"/>
          <p:cNvSpPr txBox="1"/>
          <p:nvPr/>
        </p:nvSpPr>
        <p:spPr>
          <a:xfrm>
            <a:off x="640080" y="2029968"/>
            <a:ext cx="411480" cy="182880"/>
          </a:xfrm>
          <a:prstGeom prst="rect">
            <a:avLst/>
          </a:prstGeom>
          <a:noFill/>
        </p:spPr>
        <p:txBody>
          <a:bodyPr wrap="square" lIns="0" tIns="0" rIns="0" bIns="0" anchor="ctr">
            <a:spAutoFit/>
          </a:bodyPr>
          <a:lstStyle/>
          <a:p>
            <a:pPr algn="l"/>
            <a:endParaRPr/>
          </a:p>
        </p:txBody>
      </p:sp>
      <p:sp>
        <p:nvSpPr>
          <p:cNvPr id="13" name="TextBox 12"/>
          <p:cNvSpPr txBox="1"/>
          <p:nvPr/>
        </p:nvSpPr>
        <p:spPr>
          <a:xfrm>
            <a:off x="1078992" y="2029968"/>
            <a:ext cx="9601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months</a:t>
            </a:r>
          </a:p>
        </p:txBody>
      </p:sp>
      <p:sp>
        <p:nvSpPr>
          <p:cNvPr id="14" name="TextBox 13"/>
          <p:cNvSpPr txBox="1"/>
          <p:nvPr/>
        </p:nvSpPr>
        <p:spPr>
          <a:xfrm>
            <a:off x="2039112" y="20299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INT</a:t>
            </a:r>
          </a:p>
        </p:txBody>
      </p:sp>
      <p:sp>
        <p:nvSpPr>
          <p:cNvPr id="15" name="TextBox 14"/>
          <p:cNvSpPr txBox="1"/>
          <p:nvPr/>
        </p:nvSpPr>
        <p:spPr>
          <a:xfrm>
            <a:off x="640080" y="2212848"/>
            <a:ext cx="411480" cy="182880"/>
          </a:xfrm>
          <a:prstGeom prst="rect">
            <a:avLst/>
          </a:prstGeom>
          <a:noFill/>
        </p:spPr>
        <p:txBody>
          <a:bodyPr wrap="square" lIns="0" tIns="0" rIns="0" bIns="0" anchor="ctr">
            <a:spAutoFit/>
          </a:bodyPr>
          <a:lstStyle/>
          <a:p>
            <a:pPr algn="l"/>
            <a:endParaRPr/>
          </a:p>
        </p:txBody>
      </p:sp>
      <p:sp>
        <p:nvSpPr>
          <p:cNvPr id="16" name="TextBox 15"/>
          <p:cNvSpPr txBox="1"/>
          <p:nvPr/>
        </p:nvSpPr>
        <p:spPr>
          <a:xfrm>
            <a:off x="1078992" y="2212848"/>
            <a:ext cx="9601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mean_bp</a:t>
            </a:r>
          </a:p>
        </p:txBody>
      </p:sp>
      <p:sp>
        <p:nvSpPr>
          <p:cNvPr id="17" name="TextBox 16"/>
          <p:cNvSpPr txBox="1"/>
          <p:nvPr/>
        </p:nvSpPr>
        <p:spPr>
          <a:xfrm>
            <a:off x="2039112" y="22128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8" name="TextBox 17"/>
          <p:cNvSpPr txBox="1"/>
          <p:nvPr/>
        </p:nvSpPr>
        <p:spPr>
          <a:xfrm>
            <a:off x="640080" y="2395728"/>
            <a:ext cx="411480" cy="182880"/>
          </a:xfrm>
          <a:prstGeom prst="rect">
            <a:avLst/>
          </a:prstGeom>
          <a:noFill/>
        </p:spPr>
        <p:txBody>
          <a:bodyPr wrap="square" lIns="0" tIns="0" rIns="0" bIns="0" anchor="ctr">
            <a:spAutoFit/>
          </a:bodyPr>
          <a:lstStyle/>
          <a:p>
            <a:pPr algn="l"/>
            <a:endParaRPr/>
          </a:p>
        </p:txBody>
      </p:sp>
      <p:sp>
        <p:nvSpPr>
          <p:cNvPr id="19" name="TextBox 18"/>
          <p:cNvSpPr txBox="1"/>
          <p:nvPr/>
        </p:nvSpPr>
        <p:spPr>
          <a:xfrm>
            <a:off x="1078992" y="2395728"/>
            <a:ext cx="9601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median_bp</a:t>
            </a:r>
          </a:p>
        </p:txBody>
      </p:sp>
      <p:sp>
        <p:nvSpPr>
          <p:cNvPr id="20" name="TextBox 19"/>
          <p:cNvSpPr txBox="1"/>
          <p:nvPr/>
        </p:nvSpPr>
        <p:spPr>
          <a:xfrm>
            <a:off x="2039112" y="23957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21" name="TextBox 20"/>
          <p:cNvSpPr txBox="1"/>
          <p:nvPr/>
        </p:nvSpPr>
        <p:spPr>
          <a:xfrm>
            <a:off x="640080" y="2578608"/>
            <a:ext cx="411480" cy="182880"/>
          </a:xfrm>
          <a:prstGeom prst="rect">
            <a:avLst/>
          </a:prstGeom>
          <a:noFill/>
        </p:spPr>
        <p:txBody>
          <a:bodyPr wrap="square" lIns="0" tIns="0" rIns="0" bIns="0" anchor="ctr">
            <a:spAutoFit/>
          </a:bodyPr>
          <a:lstStyle/>
          <a:p>
            <a:pPr algn="l"/>
            <a:endParaRPr/>
          </a:p>
        </p:txBody>
      </p:sp>
      <p:sp>
        <p:nvSpPr>
          <p:cNvPr id="22" name="TextBox 21"/>
          <p:cNvSpPr txBox="1"/>
          <p:nvPr/>
        </p:nvSpPr>
        <p:spPr>
          <a:xfrm>
            <a:off x="1078992" y="2578608"/>
            <a:ext cx="9601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min_bp</a:t>
            </a:r>
          </a:p>
        </p:txBody>
      </p:sp>
      <p:sp>
        <p:nvSpPr>
          <p:cNvPr id="23" name="TextBox 22"/>
          <p:cNvSpPr txBox="1"/>
          <p:nvPr/>
        </p:nvSpPr>
        <p:spPr>
          <a:xfrm>
            <a:off x="2039112" y="25786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24" name="TextBox 23"/>
          <p:cNvSpPr txBox="1"/>
          <p:nvPr/>
        </p:nvSpPr>
        <p:spPr>
          <a:xfrm>
            <a:off x="640080" y="2761488"/>
            <a:ext cx="411480" cy="182880"/>
          </a:xfrm>
          <a:prstGeom prst="rect">
            <a:avLst/>
          </a:prstGeom>
          <a:noFill/>
        </p:spPr>
        <p:txBody>
          <a:bodyPr wrap="square" lIns="0" tIns="0" rIns="0" bIns="0" anchor="ctr">
            <a:spAutoFit/>
          </a:bodyPr>
          <a:lstStyle/>
          <a:p>
            <a:pPr algn="l"/>
            <a:endParaRPr/>
          </a:p>
        </p:txBody>
      </p:sp>
      <p:sp>
        <p:nvSpPr>
          <p:cNvPr id="25" name="TextBox 24"/>
          <p:cNvSpPr txBox="1"/>
          <p:nvPr/>
        </p:nvSpPr>
        <p:spPr>
          <a:xfrm>
            <a:off x="1078992" y="2761488"/>
            <a:ext cx="9601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max_bp</a:t>
            </a:r>
          </a:p>
        </p:txBody>
      </p:sp>
      <p:sp>
        <p:nvSpPr>
          <p:cNvPr id="26" name="TextBox 25"/>
          <p:cNvSpPr txBox="1"/>
          <p:nvPr/>
        </p:nvSpPr>
        <p:spPr>
          <a:xfrm>
            <a:off x="2039112" y="27614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27" name="TextBox 26"/>
          <p:cNvSpPr txBox="1"/>
          <p:nvPr/>
        </p:nvSpPr>
        <p:spPr>
          <a:xfrm>
            <a:off x="640080" y="2944368"/>
            <a:ext cx="411480" cy="182880"/>
          </a:xfrm>
          <a:prstGeom prst="rect">
            <a:avLst/>
          </a:prstGeom>
          <a:noFill/>
        </p:spPr>
        <p:txBody>
          <a:bodyPr wrap="square" lIns="0" tIns="0" rIns="0" bIns="0" anchor="ctr">
            <a:spAutoFit/>
          </a:bodyPr>
          <a:lstStyle/>
          <a:p>
            <a:pPr algn="l"/>
            <a:endParaRPr/>
          </a:p>
        </p:txBody>
      </p:sp>
      <p:sp>
        <p:nvSpPr>
          <p:cNvPr id="28" name="TextBox 27"/>
          <p:cNvSpPr txBox="1"/>
          <p:nvPr/>
        </p:nvSpPr>
        <p:spPr>
          <a:xfrm>
            <a:off x="1078992" y="2944368"/>
            <a:ext cx="9601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std_bp</a:t>
            </a:r>
          </a:p>
        </p:txBody>
      </p:sp>
      <p:sp>
        <p:nvSpPr>
          <p:cNvPr id="29" name="TextBox 28"/>
          <p:cNvSpPr txBox="1"/>
          <p:nvPr/>
        </p:nvSpPr>
        <p:spPr>
          <a:xfrm>
            <a:off x="2039112" y="29443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30" name="Rounded Rectangle 29"/>
          <p:cNvSpPr/>
          <p:nvPr/>
        </p:nvSpPr>
        <p:spPr>
          <a:xfrm>
            <a:off x="3063240" y="1417320"/>
            <a:ext cx="2651760" cy="2834640"/>
          </a:xfrm>
          <a:prstGeom prst="roundRect">
            <a:avLst>
              <a:gd name="adj" fmla="val 3000"/>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 Same Side Corner Rectangle 30"/>
          <p:cNvSpPr/>
          <p:nvPr/>
        </p:nvSpPr>
        <p:spPr>
          <a:xfrm>
            <a:off x="3063240" y="1417320"/>
            <a:ext cx="2651760" cy="402336"/>
          </a:xfrm>
          <a:prstGeom prst="round2SameRect">
            <a:avLst>
              <a:gd name="adj1" fmla="val 25000"/>
              <a:gd name="adj2" fmla="val 0"/>
            </a:avLst>
          </a:prstGeom>
          <a:solidFill>
            <a:srgbClr val="C8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172968" y="1444752"/>
            <a:ext cx="1920239" cy="219456"/>
          </a:xfrm>
          <a:prstGeom prst="rect">
            <a:avLst/>
          </a:prstGeom>
          <a:noFill/>
        </p:spPr>
        <p:txBody>
          <a:bodyPr wrap="square" lIns="0" tIns="0" rIns="0" bIns="0" anchor="ctr">
            <a:spAutoFit/>
          </a:bodyPr>
          <a:lstStyle/>
          <a:p>
            <a:pPr algn="l"/>
            <a:r>
              <a:rPr sz="1050" b="1">
                <a:solidFill>
                  <a:srgbClr val="FFFFFF"/>
                </a:solidFill>
                <a:latin typeface="Courier New"/>
                <a:ea typeface="맑은 고딕"/>
                <a:cs typeface="맑은 고딕"/>
              </a:rPr>
              <a:t>ecos_daily</a:t>
            </a:r>
          </a:p>
        </p:txBody>
      </p:sp>
      <p:sp>
        <p:nvSpPr>
          <p:cNvPr id="33" name="TextBox 32"/>
          <p:cNvSpPr txBox="1"/>
          <p:nvPr/>
        </p:nvSpPr>
        <p:spPr>
          <a:xfrm>
            <a:off x="3172968" y="1645920"/>
            <a:ext cx="2432304" cy="155448"/>
          </a:xfrm>
          <a:prstGeom prst="rect">
            <a:avLst/>
          </a:prstGeom>
          <a:noFill/>
        </p:spPr>
        <p:txBody>
          <a:bodyPr wrap="square" lIns="0" tIns="0" rIns="0" bIns="0" anchor="ctr">
            <a:spAutoFit/>
          </a:bodyPr>
          <a:lstStyle/>
          <a:p>
            <a:pPr algn="l"/>
            <a:r>
              <a:rPr sz="750" b="0">
                <a:solidFill>
                  <a:srgbClr val="E8EEF4"/>
                </a:solidFill>
                <a:latin typeface="맑은 고딕"/>
                <a:ea typeface="맑은 고딕"/>
                <a:cs typeface="맑은 고딕"/>
              </a:rPr>
              <a:t>ECOS 일별 · 2022.01–2023.06</a:t>
            </a:r>
          </a:p>
        </p:txBody>
      </p:sp>
      <p:sp>
        <p:nvSpPr>
          <p:cNvPr id="34" name="TextBox 33"/>
          <p:cNvSpPr txBox="1"/>
          <p:nvPr/>
        </p:nvSpPr>
        <p:spPr>
          <a:xfrm>
            <a:off x="5056632" y="1444752"/>
            <a:ext cx="548640" cy="219456"/>
          </a:xfrm>
          <a:prstGeom prst="rect">
            <a:avLst/>
          </a:prstGeom>
          <a:noFill/>
        </p:spPr>
        <p:txBody>
          <a:bodyPr wrap="square" lIns="0" tIns="0" rIns="0" bIns="0" anchor="ctr">
            <a:spAutoFit/>
          </a:bodyPr>
          <a:lstStyle/>
          <a:p>
            <a:pPr algn="r"/>
            <a:r>
              <a:rPr sz="950" b="1">
                <a:solidFill>
                  <a:srgbClr val="FFFFFF"/>
                </a:solidFill>
                <a:latin typeface="맑은 고딕"/>
                <a:ea typeface="맑은 고딕"/>
                <a:cs typeface="맑은 고딕"/>
              </a:rPr>
              <a:t>370행</a:t>
            </a:r>
          </a:p>
        </p:txBody>
      </p:sp>
      <p:sp>
        <p:nvSpPr>
          <p:cNvPr id="35" name="Rectangle 34"/>
          <p:cNvSpPr/>
          <p:nvPr/>
        </p:nvSpPr>
        <p:spPr>
          <a:xfrm>
            <a:off x="3090672" y="1847088"/>
            <a:ext cx="2596896" cy="182880"/>
          </a:xfrm>
          <a:prstGeom prst="rect">
            <a:avLst/>
          </a:prstGeom>
          <a:solidFill>
            <a:srgbClr val="FB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154680" y="1847088"/>
            <a:ext cx="411480" cy="182880"/>
          </a:xfrm>
          <a:prstGeom prst="rect">
            <a:avLst/>
          </a:prstGeom>
          <a:noFill/>
        </p:spPr>
        <p:txBody>
          <a:bodyPr wrap="square" lIns="0" tIns="0" rIns="0" bIns="0" anchor="ctr">
            <a:spAutoFit/>
          </a:bodyPr>
          <a:lstStyle/>
          <a:p>
            <a:pPr algn="l"/>
            <a:r>
              <a:rPr sz="750" b="1">
                <a:solidFill>
                  <a:srgbClr val="14304A"/>
                </a:solidFill>
                <a:latin typeface="맑은 고딕"/>
                <a:ea typeface="맑은 고딕"/>
                <a:cs typeface="맑은 고딕"/>
              </a:rPr>
              <a:t>PK</a:t>
            </a:r>
          </a:p>
        </p:txBody>
      </p:sp>
      <p:sp>
        <p:nvSpPr>
          <p:cNvPr id="37" name="TextBox 36"/>
          <p:cNvSpPr txBox="1"/>
          <p:nvPr/>
        </p:nvSpPr>
        <p:spPr>
          <a:xfrm>
            <a:off x="3593592" y="1847088"/>
            <a:ext cx="1463039"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date</a:t>
            </a:r>
          </a:p>
        </p:txBody>
      </p:sp>
      <p:sp>
        <p:nvSpPr>
          <p:cNvPr id="38" name="TextBox 37"/>
          <p:cNvSpPr txBox="1"/>
          <p:nvPr/>
        </p:nvSpPr>
        <p:spPr>
          <a:xfrm>
            <a:off x="5056632" y="18470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39" name="TextBox 38"/>
          <p:cNvSpPr txBox="1"/>
          <p:nvPr/>
        </p:nvSpPr>
        <p:spPr>
          <a:xfrm>
            <a:off x="3154680" y="2029968"/>
            <a:ext cx="411480" cy="182880"/>
          </a:xfrm>
          <a:prstGeom prst="rect">
            <a:avLst/>
          </a:prstGeom>
          <a:noFill/>
        </p:spPr>
        <p:txBody>
          <a:bodyPr wrap="square" lIns="0" tIns="0" rIns="0" bIns="0" anchor="ctr">
            <a:spAutoFit/>
          </a:bodyPr>
          <a:lstStyle/>
          <a:p>
            <a:pPr algn="l"/>
            <a:endParaRPr/>
          </a:p>
        </p:txBody>
      </p:sp>
      <p:sp>
        <p:nvSpPr>
          <p:cNvPr id="40" name="TextBox 39"/>
          <p:cNvSpPr txBox="1"/>
          <p:nvPr/>
        </p:nvSpPr>
        <p:spPr>
          <a:xfrm>
            <a:off x="3593592" y="202996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base_rate_pct</a:t>
            </a:r>
          </a:p>
        </p:txBody>
      </p:sp>
      <p:sp>
        <p:nvSpPr>
          <p:cNvPr id="41" name="TextBox 40"/>
          <p:cNvSpPr txBox="1"/>
          <p:nvPr/>
        </p:nvSpPr>
        <p:spPr>
          <a:xfrm>
            <a:off x="5056632" y="20299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42" name="TextBox 41"/>
          <p:cNvSpPr txBox="1"/>
          <p:nvPr/>
        </p:nvSpPr>
        <p:spPr>
          <a:xfrm>
            <a:off x="3154680" y="2212848"/>
            <a:ext cx="411480" cy="182880"/>
          </a:xfrm>
          <a:prstGeom prst="rect">
            <a:avLst/>
          </a:prstGeom>
          <a:noFill/>
        </p:spPr>
        <p:txBody>
          <a:bodyPr wrap="square" lIns="0" tIns="0" rIns="0" bIns="0" anchor="ctr">
            <a:spAutoFit/>
          </a:bodyPr>
          <a:lstStyle/>
          <a:p>
            <a:pPr algn="l"/>
            <a:endParaRPr/>
          </a:p>
        </p:txBody>
      </p:sp>
      <p:sp>
        <p:nvSpPr>
          <p:cNvPr id="43" name="TextBox 42"/>
          <p:cNvSpPr txBox="1"/>
          <p:nvPr/>
        </p:nvSpPr>
        <p:spPr>
          <a:xfrm>
            <a:off x="3593592" y="221284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cd_91d_pct</a:t>
            </a:r>
          </a:p>
        </p:txBody>
      </p:sp>
      <p:sp>
        <p:nvSpPr>
          <p:cNvPr id="44" name="TextBox 43"/>
          <p:cNvSpPr txBox="1"/>
          <p:nvPr/>
        </p:nvSpPr>
        <p:spPr>
          <a:xfrm>
            <a:off x="5056632" y="22128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45" name="TextBox 44"/>
          <p:cNvSpPr txBox="1"/>
          <p:nvPr/>
        </p:nvSpPr>
        <p:spPr>
          <a:xfrm>
            <a:off x="3154680" y="2395728"/>
            <a:ext cx="411480" cy="182880"/>
          </a:xfrm>
          <a:prstGeom prst="rect">
            <a:avLst/>
          </a:prstGeom>
          <a:noFill/>
        </p:spPr>
        <p:txBody>
          <a:bodyPr wrap="square" lIns="0" tIns="0" rIns="0" bIns="0" anchor="ctr">
            <a:spAutoFit/>
          </a:bodyPr>
          <a:lstStyle/>
          <a:p>
            <a:pPr algn="l"/>
            <a:endParaRPr/>
          </a:p>
        </p:txBody>
      </p:sp>
      <p:sp>
        <p:nvSpPr>
          <p:cNvPr id="46" name="TextBox 45"/>
          <p:cNvSpPr txBox="1"/>
          <p:nvPr/>
        </p:nvSpPr>
        <p:spPr>
          <a:xfrm>
            <a:off x="3593592" y="239572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corp_aa_minus_3y_pct</a:t>
            </a:r>
          </a:p>
        </p:txBody>
      </p:sp>
      <p:sp>
        <p:nvSpPr>
          <p:cNvPr id="47" name="TextBox 46"/>
          <p:cNvSpPr txBox="1"/>
          <p:nvPr/>
        </p:nvSpPr>
        <p:spPr>
          <a:xfrm>
            <a:off x="5056632" y="23957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48" name="TextBox 47"/>
          <p:cNvSpPr txBox="1"/>
          <p:nvPr/>
        </p:nvSpPr>
        <p:spPr>
          <a:xfrm>
            <a:off x="3154680" y="2578608"/>
            <a:ext cx="411480" cy="182880"/>
          </a:xfrm>
          <a:prstGeom prst="rect">
            <a:avLst/>
          </a:prstGeom>
          <a:noFill/>
        </p:spPr>
        <p:txBody>
          <a:bodyPr wrap="square" lIns="0" tIns="0" rIns="0" bIns="0" anchor="ctr">
            <a:spAutoFit/>
          </a:bodyPr>
          <a:lstStyle/>
          <a:p>
            <a:pPr algn="l"/>
            <a:endParaRPr/>
          </a:p>
        </p:txBody>
      </p:sp>
      <p:sp>
        <p:nvSpPr>
          <p:cNvPr id="49" name="TextBox 48"/>
          <p:cNvSpPr txBox="1"/>
          <p:nvPr/>
        </p:nvSpPr>
        <p:spPr>
          <a:xfrm>
            <a:off x="3593592" y="257860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corp_bbb_minus_3y_pct</a:t>
            </a:r>
          </a:p>
        </p:txBody>
      </p:sp>
      <p:sp>
        <p:nvSpPr>
          <p:cNvPr id="50" name="TextBox 49"/>
          <p:cNvSpPr txBox="1"/>
          <p:nvPr/>
        </p:nvSpPr>
        <p:spPr>
          <a:xfrm>
            <a:off x="5056632" y="25786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51" name="TextBox 50"/>
          <p:cNvSpPr txBox="1"/>
          <p:nvPr/>
        </p:nvSpPr>
        <p:spPr>
          <a:xfrm>
            <a:off x="3154680" y="2761488"/>
            <a:ext cx="411480" cy="182880"/>
          </a:xfrm>
          <a:prstGeom prst="rect">
            <a:avLst/>
          </a:prstGeom>
          <a:noFill/>
        </p:spPr>
        <p:txBody>
          <a:bodyPr wrap="square" lIns="0" tIns="0" rIns="0" bIns="0" anchor="ctr">
            <a:spAutoFit/>
          </a:bodyPr>
          <a:lstStyle/>
          <a:p>
            <a:pPr algn="l"/>
            <a:endParaRPr/>
          </a:p>
        </p:txBody>
      </p:sp>
      <p:sp>
        <p:nvSpPr>
          <p:cNvPr id="52" name="TextBox 51"/>
          <p:cNvSpPr txBox="1"/>
          <p:nvPr/>
        </p:nvSpPr>
        <p:spPr>
          <a:xfrm>
            <a:off x="3593592" y="276148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cp_91d_pct</a:t>
            </a:r>
          </a:p>
        </p:txBody>
      </p:sp>
      <p:sp>
        <p:nvSpPr>
          <p:cNvPr id="53" name="TextBox 52"/>
          <p:cNvSpPr txBox="1"/>
          <p:nvPr/>
        </p:nvSpPr>
        <p:spPr>
          <a:xfrm>
            <a:off x="5056632" y="27614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54" name="TextBox 53"/>
          <p:cNvSpPr txBox="1"/>
          <p:nvPr/>
        </p:nvSpPr>
        <p:spPr>
          <a:xfrm>
            <a:off x="3154680" y="2944368"/>
            <a:ext cx="411480" cy="182880"/>
          </a:xfrm>
          <a:prstGeom prst="rect">
            <a:avLst/>
          </a:prstGeom>
          <a:noFill/>
        </p:spPr>
        <p:txBody>
          <a:bodyPr wrap="square" lIns="0" tIns="0" rIns="0" bIns="0" anchor="ctr">
            <a:spAutoFit/>
          </a:bodyPr>
          <a:lstStyle/>
          <a:p>
            <a:pPr algn="l"/>
            <a:endParaRPr/>
          </a:p>
        </p:txBody>
      </p:sp>
      <p:sp>
        <p:nvSpPr>
          <p:cNvPr id="55" name="TextBox 54"/>
          <p:cNvSpPr txBox="1"/>
          <p:nvPr/>
        </p:nvSpPr>
        <p:spPr>
          <a:xfrm>
            <a:off x="3593592" y="294436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treasury_3y_pct</a:t>
            </a:r>
          </a:p>
        </p:txBody>
      </p:sp>
      <p:sp>
        <p:nvSpPr>
          <p:cNvPr id="56" name="TextBox 55"/>
          <p:cNvSpPr txBox="1"/>
          <p:nvPr/>
        </p:nvSpPr>
        <p:spPr>
          <a:xfrm>
            <a:off x="5056632" y="29443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57" name="TextBox 56"/>
          <p:cNvSpPr txBox="1"/>
          <p:nvPr/>
        </p:nvSpPr>
        <p:spPr>
          <a:xfrm>
            <a:off x="3154680" y="3127248"/>
            <a:ext cx="411480" cy="182880"/>
          </a:xfrm>
          <a:prstGeom prst="rect">
            <a:avLst/>
          </a:prstGeom>
          <a:noFill/>
        </p:spPr>
        <p:txBody>
          <a:bodyPr wrap="square" lIns="0" tIns="0" rIns="0" bIns="0" anchor="ctr">
            <a:spAutoFit/>
          </a:bodyPr>
          <a:lstStyle/>
          <a:p>
            <a:pPr algn="l"/>
            <a:endParaRPr/>
          </a:p>
        </p:txBody>
      </p:sp>
      <p:sp>
        <p:nvSpPr>
          <p:cNvPr id="58" name="TextBox 57"/>
          <p:cNvSpPr txBox="1"/>
          <p:nvPr/>
        </p:nvSpPr>
        <p:spPr>
          <a:xfrm>
            <a:off x="3593592" y="312724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spread_aa_bp</a:t>
            </a:r>
          </a:p>
        </p:txBody>
      </p:sp>
      <p:sp>
        <p:nvSpPr>
          <p:cNvPr id="59" name="TextBox 58"/>
          <p:cNvSpPr txBox="1"/>
          <p:nvPr/>
        </p:nvSpPr>
        <p:spPr>
          <a:xfrm>
            <a:off x="5056632" y="31272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60" name="TextBox 59"/>
          <p:cNvSpPr txBox="1"/>
          <p:nvPr/>
        </p:nvSpPr>
        <p:spPr>
          <a:xfrm>
            <a:off x="3154680" y="3310128"/>
            <a:ext cx="411480" cy="182880"/>
          </a:xfrm>
          <a:prstGeom prst="rect">
            <a:avLst/>
          </a:prstGeom>
          <a:noFill/>
        </p:spPr>
        <p:txBody>
          <a:bodyPr wrap="square" lIns="0" tIns="0" rIns="0" bIns="0" anchor="ctr">
            <a:spAutoFit/>
          </a:bodyPr>
          <a:lstStyle/>
          <a:p>
            <a:pPr algn="l"/>
            <a:endParaRPr/>
          </a:p>
        </p:txBody>
      </p:sp>
      <p:sp>
        <p:nvSpPr>
          <p:cNvPr id="61" name="TextBox 60"/>
          <p:cNvSpPr txBox="1"/>
          <p:nvPr/>
        </p:nvSpPr>
        <p:spPr>
          <a:xfrm>
            <a:off x="3593592" y="331012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spread_bbb_bp</a:t>
            </a:r>
          </a:p>
        </p:txBody>
      </p:sp>
      <p:sp>
        <p:nvSpPr>
          <p:cNvPr id="62" name="TextBox 61"/>
          <p:cNvSpPr txBox="1"/>
          <p:nvPr/>
        </p:nvSpPr>
        <p:spPr>
          <a:xfrm>
            <a:off x="5056632" y="33101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63" name="TextBox 62"/>
          <p:cNvSpPr txBox="1"/>
          <p:nvPr/>
        </p:nvSpPr>
        <p:spPr>
          <a:xfrm>
            <a:off x="3154680" y="3493008"/>
            <a:ext cx="411480" cy="182880"/>
          </a:xfrm>
          <a:prstGeom prst="rect">
            <a:avLst/>
          </a:prstGeom>
          <a:noFill/>
        </p:spPr>
        <p:txBody>
          <a:bodyPr wrap="square" lIns="0" tIns="0" rIns="0" bIns="0" anchor="ctr">
            <a:spAutoFit/>
          </a:bodyPr>
          <a:lstStyle/>
          <a:p>
            <a:pPr algn="l"/>
            <a:endParaRPr/>
          </a:p>
        </p:txBody>
      </p:sp>
      <p:sp>
        <p:nvSpPr>
          <p:cNvPr id="64" name="TextBox 63"/>
          <p:cNvSpPr txBox="1"/>
          <p:nvPr/>
        </p:nvSpPr>
        <p:spPr>
          <a:xfrm>
            <a:off x="3593592" y="349300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cp_minus_cd_bp</a:t>
            </a:r>
          </a:p>
        </p:txBody>
      </p:sp>
      <p:sp>
        <p:nvSpPr>
          <p:cNvPr id="65" name="TextBox 64"/>
          <p:cNvSpPr txBox="1"/>
          <p:nvPr/>
        </p:nvSpPr>
        <p:spPr>
          <a:xfrm>
            <a:off x="5056632" y="34930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66" name="TextBox 65"/>
          <p:cNvSpPr txBox="1"/>
          <p:nvPr/>
        </p:nvSpPr>
        <p:spPr>
          <a:xfrm>
            <a:off x="3154680" y="3675887"/>
            <a:ext cx="411480" cy="182880"/>
          </a:xfrm>
          <a:prstGeom prst="rect">
            <a:avLst/>
          </a:prstGeom>
          <a:noFill/>
        </p:spPr>
        <p:txBody>
          <a:bodyPr wrap="square" lIns="0" tIns="0" rIns="0" bIns="0" anchor="ctr">
            <a:spAutoFit/>
          </a:bodyPr>
          <a:lstStyle/>
          <a:p>
            <a:pPr algn="l"/>
            <a:endParaRPr/>
          </a:p>
        </p:txBody>
      </p:sp>
      <p:sp>
        <p:nvSpPr>
          <p:cNvPr id="67" name="TextBox 66"/>
          <p:cNvSpPr txBox="1"/>
          <p:nvPr/>
        </p:nvSpPr>
        <p:spPr>
          <a:xfrm>
            <a:off x="3593592" y="3675887"/>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cd_minus_base_bp</a:t>
            </a:r>
          </a:p>
        </p:txBody>
      </p:sp>
      <p:sp>
        <p:nvSpPr>
          <p:cNvPr id="68" name="TextBox 67"/>
          <p:cNvSpPr txBox="1"/>
          <p:nvPr/>
        </p:nvSpPr>
        <p:spPr>
          <a:xfrm>
            <a:off x="5056632" y="3675887"/>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69" name="TextBox 68"/>
          <p:cNvSpPr txBox="1"/>
          <p:nvPr/>
        </p:nvSpPr>
        <p:spPr>
          <a:xfrm>
            <a:off x="3154680" y="3858768"/>
            <a:ext cx="411480" cy="182880"/>
          </a:xfrm>
          <a:prstGeom prst="rect">
            <a:avLst/>
          </a:prstGeom>
          <a:noFill/>
        </p:spPr>
        <p:txBody>
          <a:bodyPr wrap="square" lIns="0" tIns="0" rIns="0" bIns="0" anchor="ctr">
            <a:spAutoFit/>
          </a:bodyPr>
          <a:lstStyle/>
          <a:p>
            <a:pPr algn="l"/>
            <a:endParaRPr/>
          </a:p>
        </p:txBody>
      </p:sp>
      <p:sp>
        <p:nvSpPr>
          <p:cNvPr id="70" name="TextBox 69"/>
          <p:cNvSpPr txBox="1"/>
          <p:nvPr/>
        </p:nvSpPr>
        <p:spPr>
          <a:xfrm>
            <a:off x="3593592" y="3858768"/>
            <a:ext cx="1463039"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cp_minus_base_bp</a:t>
            </a:r>
          </a:p>
        </p:txBody>
      </p:sp>
      <p:sp>
        <p:nvSpPr>
          <p:cNvPr id="71" name="TextBox 70"/>
          <p:cNvSpPr txBox="1"/>
          <p:nvPr/>
        </p:nvSpPr>
        <p:spPr>
          <a:xfrm>
            <a:off x="5056632" y="38587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72" name="Rectangle 71"/>
          <p:cNvSpPr/>
          <p:nvPr/>
        </p:nvSpPr>
        <p:spPr>
          <a:xfrm>
            <a:off x="3090672" y="4041648"/>
            <a:ext cx="2596896" cy="182880"/>
          </a:xfrm>
          <a:prstGeom prst="rect">
            <a:avLst/>
          </a:prstGeom>
          <a:solidFill>
            <a:srgbClr val="FB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154680" y="4041648"/>
            <a:ext cx="411480" cy="182880"/>
          </a:xfrm>
          <a:prstGeom prst="rect">
            <a:avLst/>
          </a:prstGeom>
          <a:noFill/>
        </p:spPr>
        <p:txBody>
          <a:bodyPr wrap="square" lIns="0" tIns="0" rIns="0" bIns="0" anchor="ctr">
            <a:spAutoFit/>
          </a:bodyPr>
          <a:lstStyle/>
          <a:p>
            <a:pPr algn="l"/>
            <a:r>
              <a:rPr sz="750" b="1">
                <a:solidFill>
                  <a:srgbClr val="C8412E"/>
                </a:solidFill>
                <a:latin typeface="맑은 고딕"/>
                <a:ea typeface="맑은 고딕"/>
                <a:cs typeface="맑은 고딕"/>
              </a:rPr>
              <a:t>FK</a:t>
            </a:r>
          </a:p>
        </p:txBody>
      </p:sp>
      <p:sp>
        <p:nvSpPr>
          <p:cNvPr id="74" name="TextBox 73"/>
          <p:cNvSpPr txBox="1"/>
          <p:nvPr/>
        </p:nvSpPr>
        <p:spPr>
          <a:xfrm>
            <a:off x="3593592" y="4041648"/>
            <a:ext cx="1463039"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period</a:t>
            </a:r>
          </a:p>
        </p:txBody>
      </p:sp>
      <p:sp>
        <p:nvSpPr>
          <p:cNvPr id="75" name="TextBox 74"/>
          <p:cNvSpPr txBox="1"/>
          <p:nvPr/>
        </p:nvSpPr>
        <p:spPr>
          <a:xfrm>
            <a:off x="5056632" y="40416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76" name="Rounded Rectangle 75"/>
          <p:cNvSpPr/>
          <p:nvPr/>
        </p:nvSpPr>
        <p:spPr>
          <a:xfrm>
            <a:off x="6172200" y="1417320"/>
            <a:ext cx="2377440" cy="1554480"/>
          </a:xfrm>
          <a:prstGeom prst="roundRect">
            <a:avLst>
              <a:gd name="adj" fmla="val 3000"/>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 Same Side Corner Rectangle 76"/>
          <p:cNvSpPr/>
          <p:nvPr/>
        </p:nvSpPr>
        <p:spPr>
          <a:xfrm>
            <a:off x="6172200" y="1417320"/>
            <a:ext cx="2377440" cy="402336"/>
          </a:xfrm>
          <a:prstGeom prst="round2SameRect">
            <a:avLst>
              <a:gd name="adj1" fmla="val 25000"/>
              <a:gd name="adj2" fmla="val 0"/>
            </a:avLst>
          </a:prstGeom>
          <a:solidFill>
            <a:srgbClr val="C8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281928" y="1444752"/>
            <a:ext cx="1645920" cy="219456"/>
          </a:xfrm>
          <a:prstGeom prst="rect">
            <a:avLst/>
          </a:prstGeom>
          <a:noFill/>
        </p:spPr>
        <p:txBody>
          <a:bodyPr wrap="square" lIns="0" tIns="0" rIns="0" bIns="0" anchor="ctr">
            <a:spAutoFit/>
          </a:bodyPr>
          <a:lstStyle/>
          <a:p>
            <a:pPr algn="l"/>
            <a:r>
              <a:rPr sz="1050" b="1">
                <a:solidFill>
                  <a:srgbClr val="FFFFFF"/>
                </a:solidFill>
                <a:latin typeface="Courier New"/>
                <a:ea typeface="맑은 고딕"/>
                <a:cs typeface="맑은 고딕"/>
              </a:rPr>
              <a:t>ecos_event_window</a:t>
            </a:r>
          </a:p>
        </p:txBody>
      </p:sp>
      <p:sp>
        <p:nvSpPr>
          <p:cNvPr id="79" name="TextBox 78"/>
          <p:cNvSpPr txBox="1"/>
          <p:nvPr/>
        </p:nvSpPr>
        <p:spPr>
          <a:xfrm>
            <a:off x="6281928" y="1645920"/>
            <a:ext cx="2157984" cy="155448"/>
          </a:xfrm>
          <a:prstGeom prst="rect">
            <a:avLst/>
          </a:prstGeom>
          <a:noFill/>
        </p:spPr>
        <p:txBody>
          <a:bodyPr wrap="square" lIns="0" tIns="0" rIns="0" bIns="0" anchor="ctr">
            <a:spAutoFit/>
          </a:bodyPr>
          <a:lstStyle/>
          <a:p>
            <a:pPr algn="l"/>
            <a:r>
              <a:rPr sz="750" b="0">
                <a:solidFill>
                  <a:srgbClr val="E8EEF4"/>
                </a:solidFill>
                <a:latin typeface="맑은 고딕"/>
                <a:ea typeface="맑은 고딕"/>
                <a:cs typeface="맑은 고딕"/>
              </a:rPr>
              <a:t>사건 5개 × 지표 7개</a:t>
            </a:r>
          </a:p>
        </p:txBody>
      </p:sp>
      <p:sp>
        <p:nvSpPr>
          <p:cNvPr id="80" name="TextBox 79"/>
          <p:cNvSpPr txBox="1"/>
          <p:nvPr/>
        </p:nvSpPr>
        <p:spPr>
          <a:xfrm>
            <a:off x="7891271" y="1444752"/>
            <a:ext cx="548640" cy="219456"/>
          </a:xfrm>
          <a:prstGeom prst="rect">
            <a:avLst/>
          </a:prstGeom>
          <a:noFill/>
        </p:spPr>
        <p:txBody>
          <a:bodyPr wrap="square" lIns="0" tIns="0" rIns="0" bIns="0" anchor="ctr">
            <a:spAutoFit/>
          </a:bodyPr>
          <a:lstStyle/>
          <a:p>
            <a:pPr algn="r"/>
            <a:r>
              <a:rPr sz="950" b="1">
                <a:solidFill>
                  <a:srgbClr val="FFFFFF"/>
                </a:solidFill>
                <a:latin typeface="맑은 고딕"/>
                <a:ea typeface="맑은 고딕"/>
                <a:cs typeface="맑은 고딕"/>
              </a:rPr>
              <a:t>35행</a:t>
            </a:r>
          </a:p>
        </p:txBody>
      </p:sp>
      <p:sp>
        <p:nvSpPr>
          <p:cNvPr id="81" name="Rectangle 80"/>
          <p:cNvSpPr/>
          <p:nvPr/>
        </p:nvSpPr>
        <p:spPr>
          <a:xfrm>
            <a:off x="6199632" y="1847088"/>
            <a:ext cx="2322576" cy="182880"/>
          </a:xfrm>
          <a:prstGeom prst="rect">
            <a:avLst/>
          </a:prstGeom>
          <a:solidFill>
            <a:srgbClr val="FB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263640" y="1847088"/>
            <a:ext cx="411480" cy="182880"/>
          </a:xfrm>
          <a:prstGeom prst="rect">
            <a:avLst/>
          </a:prstGeom>
          <a:noFill/>
        </p:spPr>
        <p:txBody>
          <a:bodyPr wrap="square" lIns="0" tIns="0" rIns="0" bIns="0" anchor="ctr">
            <a:spAutoFit/>
          </a:bodyPr>
          <a:lstStyle/>
          <a:p>
            <a:pPr algn="l"/>
            <a:r>
              <a:rPr sz="750" b="1">
                <a:solidFill>
                  <a:srgbClr val="C8412E"/>
                </a:solidFill>
                <a:latin typeface="맑은 고딕"/>
                <a:ea typeface="맑은 고딕"/>
                <a:cs typeface="맑은 고딕"/>
              </a:rPr>
              <a:t>FK</a:t>
            </a:r>
          </a:p>
        </p:txBody>
      </p:sp>
      <p:sp>
        <p:nvSpPr>
          <p:cNvPr id="83" name="TextBox 82"/>
          <p:cNvSpPr txBox="1"/>
          <p:nvPr/>
        </p:nvSpPr>
        <p:spPr>
          <a:xfrm>
            <a:off x="6702552" y="1847088"/>
            <a:ext cx="1188720"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event_date</a:t>
            </a:r>
          </a:p>
        </p:txBody>
      </p:sp>
      <p:sp>
        <p:nvSpPr>
          <p:cNvPr id="84" name="TextBox 83"/>
          <p:cNvSpPr txBox="1"/>
          <p:nvPr/>
        </p:nvSpPr>
        <p:spPr>
          <a:xfrm>
            <a:off x="7891271" y="18470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85" name="TextBox 84"/>
          <p:cNvSpPr txBox="1"/>
          <p:nvPr/>
        </p:nvSpPr>
        <p:spPr>
          <a:xfrm>
            <a:off x="6263640" y="2029968"/>
            <a:ext cx="411480" cy="182880"/>
          </a:xfrm>
          <a:prstGeom prst="rect">
            <a:avLst/>
          </a:prstGeom>
          <a:noFill/>
        </p:spPr>
        <p:txBody>
          <a:bodyPr wrap="square" lIns="0" tIns="0" rIns="0" bIns="0" anchor="ctr">
            <a:spAutoFit/>
          </a:bodyPr>
          <a:lstStyle/>
          <a:p>
            <a:pPr algn="l"/>
            <a:endParaRPr/>
          </a:p>
        </p:txBody>
      </p:sp>
      <p:sp>
        <p:nvSpPr>
          <p:cNvPr id="86" name="TextBox 85"/>
          <p:cNvSpPr txBox="1"/>
          <p:nvPr/>
        </p:nvSpPr>
        <p:spPr>
          <a:xfrm>
            <a:off x="6702552" y="2029968"/>
            <a:ext cx="11887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event</a:t>
            </a:r>
          </a:p>
        </p:txBody>
      </p:sp>
      <p:sp>
        <p:nvSpPr>
          <p:cNvPr id="87" name="TextBox 86"/>
          <p:cNvSpPr txBox="1"/>
          <p:nvPr/>
        </p:nvSpPr>
        <p:spPr>
          <a:xfrm>
            <a:off x="7891271" y="20299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88" name="Rectangle 87"/>
          <p:cNvSpPr/>
          <p:nvPr/>
        </p:nvSpPr>
        <p:spPr>
          <a:xfrm>
            <a:off x="6199632" y="2212848"/>
            <a:ext cx="2322576" cy="182880"/>
          </a:xfrm>
          <a:prstGeom prst="rect">
            <a:avLst/>
          </a:prstGeom>
          <a:solidFill>
            <a:srgbClr val="FB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263640" y="2212848"/>
            <a:ext cx="411480" cy="182880"/>
          </a:xfrm>
          <a:prstGeom prst="rect">
            <a:avLst/>
          </a:prstGeom>
          <a:noFill/>
        </p:spPr>
        <p:txBody>
          <a:bodyPr wrap="square" lIns="0" tIns="0" rIns="0" bIns="0" anchor="ctr">
            <a:spAutoFit/>
          </a:bodyPr>
          <a:lstStyle/>
          <a:p>
            <a:pPr algn="l"/>
            <a:r>
              <a:rPr sz="750" b="1">
                <a:solidFill>
                  <a:srgbClr val="C8412E"/>
                </a:solidFill>
                <a:latin typeface="맑은 고딕"/>
                <a:ea typeface="맑은 고딕"/>
                <a:cs typeface="맑은 고딕"/>
              </a:rPr>
              <a:t>FK</a:t>
            </a:r>
          </a:p>
        </p:txBody>
      </p:sp>
      <p:sp>
        <p:nvSpPr>
          <p:cNvPr id="90" name="TextBox 89"/>
          <p:cNvSpPr txBox="1"/>
          <p:nvPr/>
        </p:nvSpPr>
        <p:spPr>
          <a:xfrm>
            <a:off x="6702552" y="2212848"/>
            <a:ext cx="1188720"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indicator</a:t>
            </a:r>
          </a:p>
        </p:txBody>
      </p:sp>
      <p:sp>
        <p:nvSpPr>
          <p:cNvPr id="91" name="TextBox 90"/>
          <p:cNvSpPr txBox="1"/>
          <p:nvPr/>
        </p:nvSpPr>
        <p:spPr>
          <a:xfrm>
            <a:off x="7891271" y="22128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92" name="TextBox 91"/>
          <p:cNvSpPr txBox="1"/>
          <p:nvPr/>
        </p:nvSpPr>
        <p:spPr>
          <a:xfrm>
            <a:off x="6263640" y="2395728"/>
            <a:ext cx="411480" cy="182880"/>
          </a:xfrm>
          <a:prstGeom prst="rect">
            <a:avLst/>
          </a:prstGeom>
          <a:noFill/>
        </p:spPr>
        <p:txBody>
          <a:bodyPr wrap="square" lIns="0" tIns="0" rIns="0" bIns="0" anchor="ctr">
            <a:spAutoFit/>
          </a:bodyPr>
          <a:lstStyle/>
          <a:p>
            <a:pPr algn="l"/>
            <a:endParaRPr/>
          </a:p>
        </p:txBody>
      </p:sp>
      <p:sp>
        <p:nvSpPr>
          <p:cNvPr id="93" name="TextBox 92"/>
          <p:cNvSpPr txBox="1"/>
          <p:nvPr/>
        </p:nvSpPr>
        <p:spPr>
          <a:xfrm>
            <a:off x="6702552" y="2395728"/>
            <a:ext cx="11887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before_5d_mean</a:t>
            </a:r>
          </a:p>
        </p:txBody>
      </p:sp>
      <p:sp>
        <p:nvSpPr>
          <p:cNvPr id="94" name="TextBox 93"/>
          <p:cNvSpPr txBox="1"/>
          <p:nvPr/>
        </p:nvSpPr>
        <p:spPr>
          <a:xfrm>
            <a:off x="7891271" y="23957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95" name="TextBox 94"/>
          <p:cNvSpPr txBox="1"/>
          <p:nvPr/>
        </p:nvSpPr>
        <p:spPr>
          <a:xfrm>
            <a:off x="6263640" y="2578608"/>
            <a:ext cx="411480" cy="182880"/>
          </a:xfrm>
          <a:prstGeom prst="rect">
            <a:avLst/>
          </a:prstGeom>
          <a:noFill/>
        </p:spPr>
        <p:txBody>
          <a:bodyPr wrap="square" lIns="0" tIns="0" rIns="0" bIns="0" anchor="ctr">
            <a:spAutoFit/>
          </a:bodyPr>
          <a:lstStyle/>
          <a:p>
            <a:pPr algn="l"/>
            <a:endParaRPr/>
          </a:p>
        </p:txBody>
      </p:sp>
      <p:sp>
        <p:nvSpPr>
          <p:cNvPr id="96" name="TextBox 95"/>
          <p:cNvSpPr txBox="1"/>
          <p:nvPr/>
        </p:nvSpPr>
        <p:spPr>
          <a:xfrm>
            <a:off x="6702552" y="2578608"/>
            <a:ext cx="11887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after_5d_mean</a:t>
            </a:r>
          </a:p>
        </p:txBody>
      </p:sp>
      <p:sp>
        <p:nvSpPr>
          <p:cNvPr id="97" name="TextBox 96"/>
          <p:cNvSpPr txBox="1"/>
          <p:nvPr/>
        </p:nvSpPr>
        <p:spPr>
          <a:xfrm>
            <a:off x="7891271" y="25786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98" name="TextBox 97"/>
          <p:cNvSpPr txBox="1"/>
          <p:nvPr/>
        </p:nvSpPr>
        <p:spPr>
          <a:xfrm>
            <a:off x="6263640" y="2761488"/>
            <a:ext cx="411480" cy="182880"/>
          </a:xfrm>
          <a:prstGeom prst="rect">
            <a:avLst/>
          </a:prstGeom>
          <a:noFill/>
        </p:spPr>
        <p:txBody>
          <a:bodyPr wrap="square" lIns="0" tIns="0" rIns="0" bIns="0" anchor="ctr">
            <a:spAutoFit/>
          </a:bodyPr>
          <a:lstStyle/>
          <a:p>
            <a:pPr algn="l"/>
            <a:endParaRPr/>
          </a:p>
        </p:txBody>
      </p:sp>
      <p:sp>
        <p:nvSpPr>
          <p:cNvPr id="99" name="TextBox 98"/>
          <p:cNvSpPr txBox="1"/>
          <p:nvPr/>
        </p:nvSpPr>
        <p:spPr>
          <a:xfrm>
            <a:off x="6702552" y="2761488"/>
            <a:ext cx="11887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change</a:t>
            </a:r>
          </a:p>
        </p:txBody>
      </p:sp>
      <p:sp>
        <p:nvSpPr>
          <p:cNvPr id="100" name="TextBox 99"/>
          <p:cNvSpPr txBox="1"/>
          <p:nvPr/>
        </p:nvSpPr>
        <p:spPr>
          <a:xfrm>
            <a:off x="7891271" y="27614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01" name="Rounded Rectangle 100"/>
          <p:cNvSpPr/>
          <p:nvPr/>
        </p:nvSpPr>
        <p:spPr>
          <a:xfrm>
            <a:off x="8805672" y="1417320"/>
            <a:ext cx="2834640" cy="3931920"/>
          </a:xfrm>
          <a:prstGeom prst="roundRect">
            <a:avLst>
              <a:gd name="adj" fmla="val 3000"/>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ound Same Side Corner Rectangle 101"/>
          <p:cNvSpPr/>
          <p:nvPr/>
        </p:nvSpPr>
        <p:spPr>
          <a:xfrm>
            <a:off x="8805672" y="1417320"/>
            <a:ext cx="2834640" cy="402336"/>
          </a:xfrm>
          <a:prstGeom prst="round2SameRect">
            <a:avLst>
              <a:gd name="adj1" fmla="val 25000"/>
              <a:gd name="adj2" fmla="val 0"/>
            </a:avLst>
          </a:prstGeom>
          <a:solidFill>
            <a:srgbClr val="C84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8915400" y="1444752"/>
            <a:ext cx="2103120" cy="219456"/>
          </a:xfrm>
          <a:prstGeom prst="rect">
            <a:avLst/>
          </a:prstGeom>
          <a:noFill/>
        </p:spPr>
        <p:txBody>
          <a:bodyPr wrap="square" lIns="0" tIns="0" rIns="0" bIns="0" anchor="ctr">
            <a:spAutoFit/>
          </a:bodyPr>
          <a:lstStyle/>
          <a:p>
            <a:pPr algn="l"/>
            <a:r>
              <a:rPr sz="1050" b="1">
                <a:solidFill>
                  <a:srgbClr val="FFFFFF"/>
                </a:solidFill>
                <a:latin typeface="Courier New"/>
                <a:ea typeface="맑은 고딕"/>
                <a:cs typeface="맑은 고딕"/>
              </a:rPr>
              <a:t>ecos_indicator_summary</a:t>
            </a:r>
          </a:p>
        </p:txBody>
      </p:sp>
      <p:sp>
        <p:nvSpPr>
          <p:cNvPr id="104" name="TextBox 103"/>
          <p:cNvSpPr txBox="1"/>
          <p:nvPr/>
        </p:nvSpPr>
        <p:spPr>
          <a:xfrm>
            <a:off x="8915400" y="1645920"/>
            <a:ext cx="2615184" cy="155448"/>
          </a:xfrm>
          <a:prstGeom prst="rect">
            <a:avLst/>
          </a:prstGeom>
          <a:noFill/>
        </p:spPr>
        <p:txBody>
          <a:bodyPr wrap="square" lIns="0" tIns="0" rIns="0" bIns="0" anchor="ctr">
            <a:spAutoFit/>
          </a:bodyPr>
          <a:lstStyle/>
          <a:p>
            <a:pPr algn="l"/>
            <a:r>
              <a:rPr sz="750" b="0">
                <a:solidFill>
                  <a:srgbClr val="E8EEF4"/>
                </a:solidFill>
                <a:latin typeface="맑은 고딕"/>
                <a:ea typeface="맑은 고딕"/>
                <a:cs typeface="맑은 고딕"/>
              </a:rPr>
              <a:t>지표별 이탈·정점·복귀</a:t>
            </a:r>
          </a:p>
        </p:txBody>
      </p:sp>
      <p:sp>
        <p:nvSpPr>
          <p:cNvPr id="105" name="TextBox 104"/>
          <p:cNvSpPr txBox="1"/>
          <p:nvPr/>
        </p:nvSpPr>
        <p:spPr>
          <a:xfrm>
            <a:off x="10981944" y="1444752"/>
            <a:ext cx="548640" cy="219456"/>
          </a:xfrm>
          <a:prstGeom prst="rect">
            <a:avLst/>
          </a:prstGeom>
          <a:noFill/>
        </p:spPr>
        <p:txBody>
          <a:bodyPr wrap="square" lIns="0" tIns="0" rIns="0" bIns="0" anchor="ctr">
            <a:spAutoFit/>
          </a:bodyPr>
          <a:lstStyle/>
          <a:p>
            <a:pPr algn="r"/>
            <a:r>
              <a:rPr sz="950" b="1">
                <a:solidFill>
                  <a:srgbClr val="FFFFFF"/>
                </a:solidFill>
                <a:latin typeface="맑은 고딕"/>
                <a:ea typeface="맑은 고딕"/>
                <a:cs typeface="맑은 고딕"/>
              </a:rPr>
              <a:t>5행</a:t>
            </a:r>
          </a:p>
        </p:txBody>
      </p:sp>
      <p:sp>
        <p:nvSpPr>
          <p:cNvPr id="106" name="Rectangle 105"/>
          <p:cNvSpPr/>
          <p:nvPr/>
        </p:nvSpPr>
        <p:spPr>
          <a:xfrm>
            <a:off x="8833104" y="1847088"/>
            <a:ext cx="2779776" cy="182880"/>
          </a:xfrm>
          <a:prstGeom prst="rect">
            <a:avLst/>
          </a:prstGeom>
          <a:solidFill>
            <a:srgbClr val="FB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897112" y="1847088"/>
            <a:ext cx="411480" cy="182880"/>
          </a:xfrm>
          <a:prstGeom prst="rect">
            <a:avLst/>
          </a:prstGeom>
          <a:noFill/>
        </p:spPr>
        <p:txBody>
          <a:bodyPr wrap="square" lIns="0" tIns="0" rIns="0" bIns="0" anchor="ctr">
            <a:spAutoFit/>
          </a:bodyPr>
          <a:lstStyle/>
          <a:p>
            <a:pPr algn="l"/>
            <a:r>
              <a:rPr sz="750" b="1">
                <a:solidFill>
                  <a:srgbClr val="14304A"/>
                </a:solidFill>
                <a:latin typeface="맑은 고딕"/>
                <a:ea typeface="맑은 고딕"/>
                <a:cs typeface="맑은 고딕"/>
              </a:rPr>
              <a:t>PK</a:t>
            </a:r>
          </a:p>
        </p:txBody>
      </p:sp>
      <p:sp>
        <p:nvSpPr>
          <p:cNvPr id="108" name="TextBox 107"/>
          <p:cNvSpPr txBox="1"/>
          <p:nvPr/>
        </p:nvSpPr>
        <p:spPr>
          <a:xfrm>
            <a:off x="9336024" y="1847088"/>
            <a:ext cx="1645920"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indicator</a:t>
            </a:r>
          </a:p>
        </p:txBody>
      </p:sp>
      <p:sp>
        <p:nvSpPr>
          <p:cNvPr id="109" name="TextBox 108"/>
          <p:cNvSpPr txBox="1"/>
          <p:nvPr/>
        </p:nvSpPr>
        <p:spPr>
          <a:xfrm>
            <a:off x="10981944" y="18470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10" name="Rectangle 109"/>
          <p:cNvSpPr/>
          <p:nvPr/>
        </p:nvSpPr>
        <p:spPr>
          <a:xfrm>
            <a:off x="8833104" y="2029968"/>
            <a:ext cx="2779776" cy="182880"/>
          </a:xfrm>
          <a:prstGeom prst="rect">
            <a:avLst/>
          </a:prstGeom>
          <a:solidFill>
            <a:srgbClr val="FB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8897112" y="2029968"/>
            <a:ext cx="411480" cy="182880"/>
          </a:xfrm>
          <a:prstGeom prst="rect">
            <a:avLst/>
          </a:prstGeom>
          <a:noFill/>
        </p:spPr>
        <p:txBody>
          <a:bodyPr wrap="square" lIns="0" tIns="0" rIns="0" bIns="0" anchor="ctr">
            <a:spAutoFit/>
          </a:bodyPr>
          <a:lstStyle/>
          <a:p>
            <a:pPr algn="l"/>
            <a:r>
              <a:rPr sz="750" b="1">
                <a:solidFill>
                  <a:srgbClr val="14304A"/>
                </a:solidFill>
                <a:latin typeface="맑은 고딕"/>
                <a:ea typeface="맑은 고딕"/>
                <a:cs typeface="맑은 고딕"/>
              </a:rPr>
              <a:t>UK</a:t>
            </a:r>
          </a:p>
        </p:txBody>
      </p:sp>
      <p:sp>
        <p:nvSpPr>
          <p:cNvPr id="112" name="TextBox 111"/>
          <p:cNvSpPr txBox="1"/>
          <p:nvPr/>
        </p:nvSpPr>
        <p:spPr>
          <a:xfrm>
            <a:off x="9336024" y="2029968"/>
            <a:ext cx="1645920" cy="182880"/>
          </a:xfrm>
          <a:prstGeom prst="rect">
            <a:avLst/>
          </a:prstGeom>
          <a:noFill/>
        </p:spPr>
        <p:txBody>
          <a:bodyPr wrap="square" lIns="0" tIns="0" rIns="0" bIns="0" anchor="ctr">
            <a:spAutoFit/>
          </a:bodyPr>
          <a:lstStyle/>
          <a:p>
            <a:pPr algn="l"/>
            <a:r>
              <a:rPr sz="850" b="1">
                <a:solidFill>
                  <a:srgbClr val="1F2A36"/>
                </a:solidFill>
                <a:latin typeface="Courier New"/>
                <a:ea typeface="맑은 고딕"/>
                <a:cs typeface="맑은 고딕"/>
              </a:rPr>
              <a:t>name</a:t>
            </a:r>
          </a:p>
        </p:txBody>
      </p:sp>
      <p:sp>
        <p:nvSpPr>
          <p:cNvPr id="113" name="TextBox 112"/>
          <p:cNvSpPr txBox="1"/>
          <p:nvPr/>
        </p:nvSpPr>
        <p:spPr>
          <a:xfrm>
            <a:off x="10981944" y="20299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14" name="TextBox 113"/>
          <p:cNvSpPr txBox="1"/>
          <p:nvPr/>
        </p:nvSpPr>
        <p:spPr>
          <a:xfrm>
            <a:off x="8897112" y="2212848"/>
            <a:ext cx="411480" cy="182880"/>
          </a:xfrm>
          <a:prstGeom prst="rect">
            <a:avLst/>
          </a:prstGeom>
          <a:noFill/>
        </p:spPr>
        <p:txBody>
          <a:bodyPr wrap="square" lIns="0" tIns="0" rIns="0" bIns="0" anchor="ctr">
            <a:spAutoFit/>
          </a:bodyPr>
          <a:lstStyle/>
          <a:p>
            <a:pPr algn="l"/>
            <a:endParaRPr/>
          </a:p>
        </p:txBody>
      </p:sp>
      <p:sp>
        <p:nvSpPr>
          <p:cNvPr id="115" name="TextBox 114"/>
          <p:cNvSpPr txBox="1"/>
          <p:nvPr/>
        </p:nvSpPr>
        <p:spPr>
          <a:xfrm>
            <a:off x="9336024" y="221284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pre_daily_change_mean_bp</a:t>
            </a:r>
          </a:p>
        </p:txBody>
      </p:sp>
      <p:sp>
        <p:nvSpPr>
          <p:cNvPr id="116" name="TextBox 115"/>
          <p:cNvSpPr txBox="1"/>
          <p:nvPr/>
        </p:nvSpPr>
        <p:spPr>
          <a:xfrm>
            <a:off x="10981944" y="22128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17" name="TextBox 116"/>
          <p:cNvSpPr txBox="1"/>
          <p:nvPr/>
        </p:nvSpPr>
        <p:spPr>
          <a:xfrm>
            <a:off x="8897112" y="2395728"/>
            <a:ext cx="411480" cy="182880"/>
          </a:xfrm>
          <a:prstGeom prst="rect">
            <a:avLst/>
          </a:prstGeom>
          <a:noFill/>
        </p:spPr>
        <p:txBody>
          <a:bodyPr wrap="square" lIns="0" tIns="0" rIns="0" bIns="0" anchor="ctr">
            <a:spAutoFit/>
          </a:bodyPr>
          <a:lstStyle/>
          <a:p>
            <a:pPr algn="l"/>
            <a:endParaRPr/>
          </a:p>
        </p:txBody>
      </p:sp>
      <p:sp>
        <p:nvSpPr>
          <p:cNvPr id="118" name="TextBox 117"/>
          <p:cNvSpPr txBox="1"/>
          <p:nvPr/>
        </p:nvSpPr>
        <p:spPr>
          <a:xfrm>
            <a:off x="9336024" y="239572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pre_daily_change_std_bp</a:t>
            </a:r>
          </a:p>
        </p:txBody>
      </p:sp>
      <p:sp>
        <p:nvSpPr>
          <p:cNvPr id="119" name="TextBox 118"/>
          <p:cNvSpPr txBox="1"/>
          <p:nvPr/>
        </p:nvSpPr>
        <p:spPr>
          <a:xfrm>
            <a:off x="10981944" y="23957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20" name="TextBox 119"/>
          <p:cNvSpPr txBox="1"/>
          <p:nvPr/>
        </p:nvSpPr>
        <p:spPr>
          <a:xfrm>
            <a:off x="8897112" y="2578608"/>
            <a:ext cx="411480" cy="182880"/>
          </a:xfrm>
          <a:prstGeom prst="rect">
            <a:avLst/>
          </a:prstGeom>
          <a:noFill/>
        </p:spPr>
        <p:txBody>
          <a:bodyPr wrap="square" lIns="0" tIns="0" rIns="0" bIns="0" anchor="ctr">
            <a:spAutoFit/>
          </a:bodyPr>
          <a:lstStyle/>
          <a:p>
            <a:pPr algn="l"/>
            <a:endParaRPr/>
          </a:p>
        </p:txBody>
      </p:sp>
      <p:sp>
        <p:nvSpPr>
          <p:cNvPr id="121" name="TextBox 120"/>
          <p:cNvSpPr txBox="1"/>
          <p:nvPr/>
        </p:nvSpPr>
        <p:spPr>
          <a:xfrm>
            <a:off x="9336024" y="257860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first_jump_date</a:t>
            </a:r>
          </a:p>
        </p:txBody>
      </p:sp>
      <p:sp>
        <p:nvSpPr>
          <p:cNvPr id="122" name="TextBox 121"/>
          <p:cNvSpPr txBox="1"/>
          <p:nvPr/>
        </p:nvSpPr>
        <p:spPr>
          <a:xfrm>
            <a:off x="10981944" y="25786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23" name="TextBox 122"/>
          <p:cNvSpPr txBox="1"/>
          <p:nvPr/>
        </p:nvSpPr>
        <p:spPr>
          <a:xfrm>
            <a:off x="8897112" y="2761488"/>
            <a:ext cx="411480" cy="182880"/>
          </a:xfrm>
          <a:prstGeom prst="rect">
            <a:avLst/>
          </a:prstGeom>
          <a:noFill/>
        </p:spPr>
        <p:txBody>
          <a:bodyPr wrap="square" lIns="0" tIns="0" rIns="0" bIns="0" anchor="ctr">
            <a:spAutoFit/>
          </a:bodyPr>
          <a:lstStyle/>
          <a:p>
            <a:pPr algn="l"/>
            <a:endParaRPr/>
          </a:p>
        </p:txBody>
      </p:sp>
      <p:sp>
        <p:nvSpPr>
          <p:cNvPr id="124" name="TextBox 123"/>
          <p:cNvSpPr txBox="1"/>
          <p:nvPr/>
        </p:nvSpPr>
        <p:spPr>
          <a:xfrm>
            <a:off x="9336024" y="276148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first_jump_bp</a:t>
            </a:r>
          </a:p>
        </p:txBody>
      </p:sp>
      <p:sp>
        <p:nvSpPr>
          <p:cNvPr id="125" name="TextBox 124"/>
          <p:cNvSpPr txBox="1"/>
          <p:nvPr/>
        </p:nvSpPr>
        <p:spPr>
          <a:xfrm>
            <a:off x="10981944" y="27614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26" name="TextBox 125"/>
          <p:cNvSpPr txBox="1"/>
          <p:nvPr/>
        </p:nvSpPr>
        <p:spPr>
          <a:xfrm>
            <a:off x="8897112" y="2944368"/>
            <a:ext cx="411480" cy="182880"/>
          </a:xfrm>
          <a:prstGeom prst="rect">
            <a:avLst/>
          </a:prstGeom>
          <a:noFill/>
        </p:spPr>
        <p:txBody>
          <a:bodyPr wrap="square" lIns="0" tIns="0" rIns="0" bIns="0" anchor="ctr">
            <a:spAutoFit/>
          </a:bodyPr>
          <a:lstStyle/>
          <a:p>
            <a:pPr algn="l"/>
            <a:endParaRPr/>
          </a:p>
        </p:txBody>
      </p:sp>
      <p:sp>
        <p:nvSpPr>
          <p:cNvPr id="127" name="TextBox 126"/>
          <p:cNvSpPr txBox="1"/>
          <p:nvPr/>
        </p:nvSpPr>
        <p:spPr>
          <a:xfrm>
            <a:off x="9336024" y="294436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first_jump_z</a:t>
            </a:r>
          </a:p>
        </p:txBody>
      </p:sp>
      <p:sp>
        <p:nvSpPr>
          <p:cNvPr id="128" name="TextBox 127"/>
          <p:cNvSpPr txBox="1"/>
          <p:nvPr/>
        </p:nvSpPr>
        <p:spPr>
          <a:xfrm>
            <a:off x="10981944" y="29443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29" name="TextBox 128"/>
          <p:cNvSpPr txBox="1"/>
          <p:nvPr/>
        </p:nvSpPr>
        <p:spPr>
          <a:xfrm>
            <a:off x="8897112" y="3127248"/>
            <a:ext cx="411480" cy="182880"/>
          </a:xfrm>
          <a:prstGeom prst="rect">
            <a:avLst/>
          </a:prstGeom>
          <a:noFill/>
        </p:spPr>
        <p:txBody>
          <a:bodyPr wrap="square" lIns="0" tIns="0" rIns="0" bIns="0" anchor="ctr">
            <a:spAutoFit/>
          </a:bodyPr>
          <a:lstStyle/>
          <a:p>
            <a:pPr algn="l"/>
            <a:endParaRPr/>
          </a:p>
        </p:txBody>
      </p:sp>
      <p:sp>
        <p:nvSpPr>
          <p:cNvPr id="130" name="TextBox 129"/>
          <p:cNvSpPr txBox="1"/>
          <p:nvPr/>
        </p:nvSpPr>
        <p:spPr>
          <a:xfrm>
            <a:off x="9336024" y="312724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pre_mean_bp</a:t>
            </a:r>
          </a:p>
        </p:txBody>
      </p:sp>
      <p:sp>
        <p:nvSpPr>
          <p:cNvPr id="131" name="TextBox 130"/>
          <p:cNvSpPr txBox="1"/>
          <p:nvPr/>
        </p:nvSpPr>
        <p:spPr>
          <a:xfrm>
            <a:off x="10981944" y="31272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32" name="TextBox 131"/>
          <p:cNvSpPr txBox="1"/>
          <p:nvPr/>
        </p:nvSpPr>
        <p:spPr>
          <a:xfrm>
            <a:off x="8897112" y="3310128"/>
            <a:ext cx="411480" cy="182880"/>
          </a:xfrm>
          <a:prstGeom prst="rect">
            <a:avLst/>
          </a:prstGeom>
          <a:noFill/>
        </p:spPr>
        <p:txBody>
          <a:bodyPr wrap="square" lIns="0" tIns="0" rIns="0" bIns="0" anchor="ctr">
            <a:spAutoFit/>
          </a:bodyPr>
          <a:lstStyle/>
          <a:p>
            <a:pPr algn="l"/>
            <a:endParaRPr/>
          </a:p>
        </p:txBody>
      </p:sp>
      <p:sp>
        <p:nvSpPr>
          <p:cNvPr id="133" name="TextBox 132"/>
          <p:cNvSpPr txBox="1"/>
          <p:nvPr/>
        </p:nvSpPr>
        <p:spPr>
          <a:xfrm>
            <a:off x="9336024" y="331012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pre_std_bp</a:t>
            </a:r>
          </a:p>
        </p:txBody>
      </p:sp>
      <p:sp>
        <p:nvSpPr>
          <p:cNvPr id="134" name="TextBox 133"/>
          <p:cNvSpPr txBox="1"/>
          <p:nvPr/>
        </p:nvSpPr>
        <p:spPr>
          <a:xfrm>
            <a:off x="10981944" y="33101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35" name="TextBox 134"/>
          <p:cNvSpPr txBox="1"/>
          <p:nvPr/>
        </p:nvSpPr>
        <p:spPr>
          <a:xfrm>
            <a:off x="8897112" y="3493008"/>
            <a:ext cx="411480" cy="182880"/>
          </a:xfrm>
          <a:prstGeom prst="rect">
            <a:avLst/>
          </a:prstGeom>
          <a:noFill/>
        </p:spPr>
        <p:txBody>
          <a:bodyPr wrap="square" lIns="0" tIns="0" rIns="0" bIns="0" anchor="ctr">
            <a:spAutoFit/>
          </a:bodyPr>
          <a:lstStyle/>
          <a:p>
            <a:pPr algn="l"/>
            <a:endParaRPr/>
          </a:p>
        </p:txBody>
      </p:sp>
      <p:sp>
        <p:nvSpPr>
          <p:cNvPr id="136" name="TextBox 135"/>
          <p:cNvSpPr txBox="1"/>
          <p:nvPr/>
        </p:nvSpPr>
        <p:spPr>
          <a:xfrm>
            <a:off x="9336024" y="349300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threshold_bp</a:t>
            </a:r>
          </a:p>
        </p:txBody>
      </p:sp>
      <p:sp>
        <p:nvSpPr>
          <p:cNvPr id="137" name="TextBox 136"/>
          <p:cNvSpPr txBox="1"/>
          <p:nvPr/>
        </p:nvSpPr>
        <p:spPr>
          <a:xfrm>
            <a:off x="10981944" y="34930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38" name="TextBox 137"/>
          <p:cNvSpPr txBox="1"/>
          <p:nvPr/>
        </p:nvSpPr>
        <p:spPr>
          <a:xfrm>
            <a:off x="8897112" y="3675887"/>
            <a:ext cx="411480" cy="182880"/>
          </a:xfrm>
          <a:prstGeom prst="rect">
            <a:avLst/>
          </a:prstGeom>
          <a:noFill/>
        </p:spPr>
        <p:txBody>
          <a:bodyPr wrap="square" lIns="0" tIns="0" rIns="0" bIns="0" anchor="ctr">
            <a:spAutoFit/>
          </a:bodyPr>
          <a:lstStyle/>
          <a:p>
            <a:pPr algn="l"/>
            <a:endParaRPr/>
          </a:p>
        </p:txBody>
      </p:sp>
      <p:sp>
        <p:nvSpPr>
          <p:cNvPr id="139" name="TextBox 138"/>
          <p:cNvSpPr txBox="1"/>
          <p:nvPr/>
        </p:nvSpPr>
        <p:spPr>
          <a:xfrm>
            <a:off x="9336024" y="3675887"/>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stress_mean_bp</a:t>
            </a:r>
          </a:p>
        </p:txBody>
      </p:sp>
      <p:sp>
        <p:nvSpPr>
          <p:cNvPr id="140" name="TextBox 139"/>
          <p:cNvSpPr txBox="1"/>
          <p:nvPr/>
        </p:nvSpPr>
        <p:spPr>
          <a:xfrm>
            <a:off x="10981944" y="3675887"/>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41" name="TextBox 140"/>
          <p:cNvSpPr txBox="1"/>
          <p:nvPr/>
        </p:nvSpPr>
        <p:spPr>
          <a:xfrm>
            <a:off x="8897112" y="3858768"/>
            <a:ext cx="411480" cy="182880"/>
          </a:xfrm>
          <a:prstGeom prst="rect">
            <a:avLst/>
          </a:prstGeom>
          <a:noFill/>
        </p:spPr>
        <p:txBody>
          <a:bodyPr wrap="square" lIns="0" tIns="0" rIns="0" bIns="0" anchor="ctr">
            <a:spAutoFit/>
          </a:bodyPr>
          <a:lstStyle/>
          <a:p>
            <a:pPr algn="l"/>
            <a:endParaRPr/>
          </a:p>
        </p:txBody>
      </p:sp>
      <p:sp>
        <p:nvSpPr>
          <p:cNvPr id="142" name="TextBox 141"/>
          <p:cNvSpPr txBox="1"/>
          <p:nvPr/>
        </p:nvSpPr>
        <p:spPr>
          <a:xfrm>
            <a:off x="9336024" y="385876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change_bp</a:t>
            </a:r>
          </a:p>
        </p:txBody>
      </p:sp>
      <p:sp>
        <p:nvSpPr>
          <p:cNvPr id="143" name="TextBox 142"/>
          <p:cNvSpPr txBox="1"/>
          <p:nvPr/>
        </p:nvSpPr>
        <p:spPr>
          <a:xfrm>
            <a:off x="10981944" y="38587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44" name="TextBox 143"/>
          <p:cNvSpPr txBox="1"/>
          <p:nvPr/>
        </p:nvSpPr>
        <p:spPr>
          <a:xfrm>
            <a:off x="8897112" y="4041648"/>
            <a:ext cx="411480" cy="182880"/>
          </a:xfrm>
          <a:prstGeom prst="rect">
            <a:avLst/>
          </a:prstGeom>
          <a:noFill/>
        </p:spPr>
        <p:txBody>
          <a:bodyPr wrap="square" lIns="0" tIns="0" rIns="0" bIns="0" anchor="ctr">
            <a:spAutoFit/>
          </a:bodyPr>
          <a:lstStyle/>
          <a:p>
            <a:pPr algn="l"/>
            <a:endParaRPr/>
          </a:p>
        </p:txBody>
      </p:sp>
      <p:sp>
        <p:nvSpPr>
          <p:cNvPr id="145" name="TextBox 144"/>
          <p:cNvSpPr txBox="1"/>
          <p:nvPr/>
        </p:nvSpPr>
        <p:spPr>
          <a:xfrm>
            <a:off x="9336024" y="404164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peak_bp</a:t>
            </a:r>
          </a:p>
        </p:txBody>
      </p:sp>
      <p:sp>
        <p:nvSpPr>
          <p:cNvPr id="146" name="TextBox 145"/>
          <p:cNvSpPr txBox="1"/>
          <p:nvPr/>
        </p:nvSpPr>
        <p:spPr>
          <a:xfrm>
            <a:off x="10981944" y="40416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sp>
        <p:nvSpPr>
          <p:cNvPr id="147" name="TextBox 146"/>
          <p:cNvSpPr txBox="1"/>
          <p:nvPr/>
        </p:nvSpPr>
        <p:spPr>
          <a:xfrm>
            <a:off x="8897112" y="4224528"/>
            <a:ext cx="411480" cy="182880"/>
          </a:xfrm>
          <a:prstGeom prst="rect">
            <a:avLst/>
          </a:prstGeom>
          <a:noFill/>
        </p:spPr>
        <p:txBody>
          <a:bodyPr wrap="square" lIns="0" tIns="0" rIns="0" bIns="0" anchor="ctr">
            <a:spAutoFit/>
          </a:bodyPr>
          <a:lstStyle/>
          <a:p>
            <a:pPr algn="l"/>
            <a:endParaRPr/>
          </a:p>
        </p:txBody>
      </p:sp>
      <p:sp>
        <p:nvSpPr>
          <p:cNvPr id="148" name="TextBox 147"/>
          <p:cNvSpPr txBox="1"/>
          <p:nvPr/>
        </p:nvSpPr>
        <p:spPr>
          <a:xfrm>
            <a:off x="9336024" y="422452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peak_date</a:t>
            </a:r>
          </a:p>
        </p:txBody>
      </p:sp>
      <p:sp>
        <p:nvSpPr>
          <p:cNvPr id="149" name="TextBox 148"/>
          <p:cNvSpPr txBox="1"/>
          <p:nvPr/>
        </p:nvSpPr>
        <p:spPr>
          <a:xfrm>
            <a:off x="10981944" y="42245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50" name="TextBox 149"/>
          <p:cNvSpPr txBox="1"/>
          <p:nvPr/>
        </p:nvSpPr>
        <p:spPr>
          <a:xfrm>
            <a:off x="8897112" y="4407408"/>
            <a:ext cx="411480" cy="182880"/>
          </a:xfrm>
          <a:prstGeom prst="rect">
            <a:avLst/>
          </a:prstGeom>
          <a:noFill/>
        </p:spPr>
        <p:txBody>
          <a:bodyPr wrap="square" lIns="0" tIns="0" rIns="0" bIns="0" anchor="ctr">
            <a:spAutoFit/>
          </a:bodyPr>
          <a:lstStyle/>
          <a:p>
            <a:pPr algn="l"/>
            <a:endParaRPr/>
          </a:p>
        </p:txBody>
      </p:sp>
      <p:sp>
        <p:nvSpPr>
          <p:cNvPr id="151" name="TextBox 150"/>
          <p:cNvSpPr txBox="1"/>
          <p:nvPr/>
        </p:nvSpPr>
        <p:spPr>
          <a:xfrm>
            <a:off x="9336024" y="440740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first_breach_date</a:t>
            </a:r>
          </a:p>
        </p:txBody>
      </p:sp>
      <p:sp>
        <p:nvSpPr>
          <p:cNvPr id="152" name="TextBox 151"/>
          <p:cNvSpPr txBox="1"/>
          <p:nvPr/>
        </p:nvSpPr>
        <p:spPr>
          <a:xfrm>
            <a:off x="10981944" y="440740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53" name="TextBox 152"/>
          <p:cNvSpPr txBox="1"/>
          <p:nvPr/>
        </p:nvSpPr>
        <p:spPr>
          <a:xfrm>
            <a:off x="8897112" y="4590288"/>
            <a:ext cx="411480" cy="182880"/>
          </a:xfrm>
          <a:prstGeom prst="rect">
            <a:avLst/>
          </a:prstGeom>
          <a:noFill/>
        </p:spPr>
        <p:txBody>
          <a:bodyPr wrap="square" lIns="0" tIns="0" rIns="0" bIns="0" anchor="ctr">
            <a:spAutoFit/>
          </a:bodyPr>
          <a:lstStyle/>
          <a:p>
            <a:pPr algn="l"/>
            <a:endParaRPr/>
          </a:p>
        </p:txBody>
      </p:sp>
      <p:sp>
        <p:nvSpPr>
          <p:cNvPr id="154" name="TextBox 153"/>
          <p:cNvSpPr txBox="1"/>
          <p:nvPr/>
        </p:nvSpPr>
        <p:spPr>
          <a:xfrm>
            <a:off x="9336024" y="459028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days_event_to_breach</a:t>
            </a:r>
          </a:p>
        </p:txBody>
      </p:sp>
      <p:sp>
        <p:nvSpPr>
          <p:cNvPr id="155" name="TextBox 154"/>
          <p:cNvSpPr txBox="1"/>
          <p:nvPr/>
        </p:nvSpPr>
        <p:spPr>
          <a:xfrm>
            <a:off x="10981944" y="459028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INT</a:t>
            </a:r>
          </a:p>
        </p:txBody>
      </p:sp>
      <p:sp>
        <p:nvSpPr>
          <p:cNvPr id="156" name="TextBox 155"/>
          <p:cNvSpPr txBox="1"/>
          <p:nvPr/>
        </p:nvSpPr>
        <p:spPr>
          <a:xfrm>
            <a:off x="8897112" y="4773168"/>
            <a:ext cx="411480" cy="182880"/>
          </a:xfrm>
          <a:prstGeom prst="rect">
            <a:avLst/>
          </a:prstGeom>
          <a:noFill/>
        </p:spPr>
        <p:txBody>
          <a:bodyPr wrap="square" lIns="0" tIns="0" rIns="0" bIns="0" anchor="ctr">
            <a:spAutoFit/>
          </a:bodyPr>
          <a:lstStyle/>
          <a:p>
            <a:pPr algn="l"/>
            <a:endParaRPr/>
          </a:p>
        </p:txBody>
      </p:sp>
      <p:sp>
        <p:nvSpPr>
          <p:cNvPr id="157" name="TextBox 156"/>
          <p:cNvSpPr txBox="1"/>
          <p:nvPr/>
        </p:nvSpPr>
        <p:spPr>
          <a:xfrm>
            <a:off x="9336024" y="477316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bizdays_event_to_breach</a:t>
            </a:r>
          </a:p>
        </p:txBody>
      </p:sp>
      <p:sp>
        <p:nvSpPr>
          <p:cNvPr id="158" name="TextBox 157"/>
          <p:cNvSpPr txBox="1"/>
          <p:nvPr/>
        </p:nvSpPr>
        <p:spPr>
          <a:xfrm>
            <a:off x="10981944" y="477316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INT</a:t>
            </a:r>
          </a:p>
        </p:txBody>
      </p:sp>
      <p:sp>
        <p:nvSpPr>
          <p:cNvPr id="159" name="TextBox 158"/>
          <p:cNvSpPr txBox="1"/>
          <p:nvPr/>
        </p:nvSpPr>
        <p:spPr>
          <a:xfrm>
            <a:off x="8897112" y="4956048"/>
            <a:ext cx="411480" cy="182880"/>
          </a:xfrm>
          <a:prstGeom prst="rect">
            <a:avLst/>
          </a:prstGeom>
          <a:noFill/>
        </p:spPr>
        <p:txBody>
          <a:bodyPr wrap="square" lIns="0" tIns="0" rIns="0" bIns="0" anchor="ctr">
            <a:spAutoFit/>
          </a:bodyPr>
          <a:lstStyle/>
          <a:p>
            <a:pPr algn="l"/>
            <a:endParaRPr/>
          </a:p>
        </p:txBody>
      </p:sp>
      <p:sp>
        <p:nvSpPr>
          <p:cNvPr id="160" name="TextBox 159"/>
          <p:cNvSpPr txBox="1"/>
          <p:nvPr/>
        </p:nvSpPr>
        <p:spPr>
          <a:xfrm>
            <a:off x="9336024" y="495604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back_to_normal_date</a:t>
            </a:r>
          </a:p>
        </p:txBody>
      </p:sp>
      <p:sp>
        <p:nvSpPr>
          <p:cNvPr id="161" name="TextBox 160"/>
          <p:cNvSpPr txBox="1"/>
          <p:nvPr/>
        </p:nvSpPr>
        <p:spPr>
          <a:xfrm>
            <a:off x="10981944" y="495604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TEXT</a:t>
            </a:r>
          </a:p>
        </p:txBody>
      </p:sp>
      <p:sp>
        <p:nvSpPr>
          <p:cNvPr id="162" name="TextBox 161"/>
          <p:cNvSpPr txBox="1"/>
          <p:nvPr/>
        </p:nvSpPr>
        <p:spPr>
          <a:xfrm>
            <a:off x="8897112" y="5138928"/>
            <a:ext cx="411480" cy="182880"/>
          </a:xfrm>
          <a:prstGeom prst="rect">
            <a:avLst/>
          </a:prstGeom>
          <a:noFill/>
        </p:spPr>
        <p:txBody>
          <a:bodyPr wrap="square" lIns="0" tIns="0" rIns="0" bIns="0" anchor="ctr">
            <a:spAutoFit/>
          </a:bodyPr>
          <a:lstStyle/>
          <a:p>
            <a:pPr algn="l"/>
            <a:endParaRPr/>
          </a:p>
        </p:txBody>
      </p:sp>
      <p:sp>
        <p:nvSpPr>
          <p:cNvPr id="163" name="TextBox 162"/>
          <p:cNvSpPr txBox="1"/>
          <p:nvPr/>
        </p:nvSpPr>
        <p:spPr>
          <a:xfrm>
            <a:off x="9336024" y="5138928"/>
            <a:ext cx="1645920" cy="182880"/>
          </a:xfrm>
          <a:prstGeom prst="rect">
            <a:avLst/>
          </a:prstGeom>
          <a:noFill/>
        </p:spPr>
        <p:txBody>
          <a:bodyPr wrap="square" lIns="0" tIns="0" rIns="0" bIns="0" anchor="ctr">
            <a:spAutoFit/>
          </a:bodyPr>
          <a:lstStyle/>
          <a:p>
            <a:pPr algn="l"/>
            <a:r>
              <a:rPr sz="850" b="0">
                <a:solidFill>
                  <a:srgbClr val="1F2A36"/>
                </a:solidFill>
                <a:latin typeface="Courier New"/>
                <a:ea typeface="맑은 고딕"/>
                <a:cs typeface="맑은 고딕"/>
              </a:rPr>
              <a:t>recovery_mean_bp</a:t>
            </a:r>
          </a:p>
        </p:txBody>
      </p:sp>
      <p:sp>
        <p:nvSpPr>
          <p:cNvPr id="164" name="TextBox 163"/>
          <p:cNvSpPr txBox="1"/>
          <p:nvPr/>
        </p:nvSpPr>
        <p:spPr>
          <a:xfrm>
            <a:off x="10981944" y="5138928"/>
            <a:ext cx="566928" cy="182880"/>
          </a:xfrm>
          <a:prstGeom prst="rect">
            <a:avLst/>
          </a:prstGeom>
          <a:noFill/>
        </p:spPr>
        <p:txBody>
          <a:bodyPr wrap="square" lIns="0" tIns="0" rIns="0" bIns="0" anchor="ctr">
            <a:spAutoFit/>
          </a:bodyPr>
          <a:lstStyle/>
          <a:p>
            <a:pPr algn="r"/>
            <a:r>
              <a:rPr sz="750" b="0">
                <a:solidFill>
                  <a:srgbClr val="5B6B7A"/>
                </a:solidFill>
                <a:latin typeface="Courier New"/>
                <a:ea typeface="맑은 고딕"/>
                <a:cs typeface="맑은 고딕"/>
              </a:rPr>
              <a:t>REAL</a:t>
            </a:r>
          </a:p>
        </p:txBody>
      </p:sp>
      <p:cxnSp>
        <p:nvCxnSpPr>
          <p:cNvPr id="165" name="Connector 164"/>
          <p:cNvCxnSpPr/>
          <p:nvPr/>
        </p:nvCxnSpPr>
        <p:spPr>
          <a:xfrm>
            <a:off x="2697480" y="1938528"/>
            <a:ext cx="182880" cy="0"/>
          </a:xfrm>
          <a:prstGeom prst="line">
            <a:avLst/>
          </a:prstGeom>
          <a:ln w="15875">
            <a:solidFill>
              <a:srgbClr val="2E9E57"/>
            </a:solidFill>
            <a:headEnd type="oval" w="med" len="med"/>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2880360" y="1938528"/>
            <a:ext cx="0" cy="2194559"/>
          </a:xfrm>
          <a:prstGeom prst="line">
            <a:avLst/>
          </a:prstGeom>
          <a:ln w="15875">
            <a:solidFill>
              <a:srgbClr val="2E9E57"/>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2880360" y="4133087"/>
            <a:ext cx="182880" cy="0"/>
          </a:xfrm>
          <a:prstGeom prst="line">
            <a:avLst/>
          </a:prstGeom>
          <a:ln w="15875">
            <a:solidFill>
              <a:srgbClr val="2E9E57"/>
            </a:solidFill>
            <a:tailEnd type="arrow" w="med" len="med"/>
          </a:ln>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2651760" y="1719072"/>
            <a:ext cx="411480" cy="164592"/>
          </a:xfrm>
          <a:prstGeom prst="rect">
            <a:avLst/>
          </a:prstGeom>
          <a:noFill/>
        </p:spPr>
        <p:txBody>
          <a:bodyPr wrap="square" lIns="0" tIns="0" rIns="0" bIns="0" anchor="ctr">
            <a:spAutoFit/>
          </a:bodyPr>
          <a:lstStyle/>
          <a:p>
            <a:pPr algn="ctr"/>
            <a:r>
              <a:rPr sz="850" b="1">
                <a:solidFill>
                  <a:srgbClr val="2E9E57"/>
                </a:solidFill>
                <a:latin typeface="맑은 고딕"/>
                <a:ea typeface="맑은 고딕"/>
                <a:cs typeface="맑은 고딕"/>
              </a:rPr>
              <a:t>1</a:t>
            </a:r>
          </a:p>
        </p:txBody>
      </p:sp>
      <p:sp>
        <p:nvSpPr>
          <p:cNvPr id="169" name="TextBox 168"/>
          <p:cNvSpPr txBox="1"/>
          <p:nvPr/>
        </p:nvSpPr>
        <p:spPr>
          <a:xfrm>
            <a:off x="2651760" y="3913631"/>
            <a:ext cx="411480" cy="164592"/>
          </a:xfrm>
          <a:prstGeom prst="rect">
            <a:avLst/>
          </a:prstGeom>
          <a:noFill/>
        </p:spPr>
        <p:txBody>
          <a:bodyPr wrap="square" lIns="0" tIns="0" rIns="0" bIns="0" anchor="ctr">
            <a:spAutoFit/>
          </a:bodyPr>
          <a:lstStyle/>
          <a:p>
            <a:pPr algn="ctr"/>
            <a:r>
              <a:rPr sz="850" b="1">
                <a:solidFill>
                  <a:srgbClr val="2E9E57"/>
                </a:solidFill>
                <a:latin typeface="맑은 고딕"/>
                <a:ea typeface="맑은 고딕"/>
                <a:cs typeface="맑은 고딕"/>
              </a:rPr>
              <a:t>N</a:t>
            </a:r>
          </a:p>
        </p:txBody>
      </p:sp>
      <p:cxnSp>
        <p:nvCxnSpPr>
          <p:cNvPr id="170" name="Connector 169"/>
          <p:cNvCxnSpPr/>
          <p:nvPr/>
        </p:nvCxnSpPr>
        <p:spPr>
          <a:xfrm>
            <a:off x="5715000" y="1938528"/>
            <a:ext cx="457200" cy="0"/>
          </a:xfrm>
          <a:prstGeom prst="line">
            <a:avLst/>
          </a:prstGeom>
          <a:ln w="15875">
            <a:solidFill>
              <a:srgbClr val="C8412E"/>
            </a:solidFill>
            <a:prstDash val="dash"/>
            <a:headEnd type="oval" w="med" len="med"/>
            <a:tailEnd type="arrow" w="med" len="med"/>
          </a:ln>
        </p:spPr>
        <p:style>
          <a:lnRef idx="2">
            <a:schemeClr val="accent1"/>
          </a:lnRef>
          <a:fillRef idx="0">
            <a:schemeClr val="accent1"/>
          </a:fillRef>
          <a:effectRef idx="1">
            <a:schemeClr val="accent1"/>
          </a:effectRef>
          <a:fontRef idx="minor">
            <a:schemeClr val="tx1"/>
          </a:fontRef>
        </p:style>
      </p:cxnSp>
      <p:sp>
        <p:nvSpPr>
          <p:cNvPr id="171" name="TextBox 170"/>
          <p:cNvSpPr txBox="1"/>
          <p:nvPr/>
        </p:nvSpPr>
        <p:spPr>
          <a:xfrm>
            <a:off x="5605272" y="1700784"/>
            <a:ext cx="411480" cy="164592"/>
          </a:xfrm>
          <a:prstGeom prst="rect">
            <a:avLst/>
          </a:prstGeom>
          <a:noFill/>
        </p:spPr>
        <p:txBody>
          <a:bodyPr wrap="square" lIns="0" tIns="0" rIns="0" bIns="0" anchor="ctr">
            <a:spAutoFit/>
          </a:bodyPr>
          <a:lstStyle/>
          <a:p>
            <a:pPr algn="ctr"/>
            <a:r>
              <a:rPr sz="850" b="1">
                <a:solidFill>
                  <a:srgbClr val="C8412E"/>
                </a:solidFill>
                <a:latin typeface="맑은 고딕"/>
                <a:ea typeface="맑은 고딕"/>
                <a:cs typeface="맑은 고딕"/>
              </a:rPr>
              <a:t>1</a:t>
            </a:r>
          </a:p>
        </p:txBody>
      </p:sp>
      <p:sp>
        <p:nvSpPr>
          <p:cNvPr id="172" name="TextBox 171"/>
          <p:cNvSpPr txBox="1"/>
          <p:nvPr/>
        </p:nvSpPr>
        <p:spPr>
          <a:xfrm>
            <a:off x="5870448" y="1975104"/>
            <a:ext cx="411480" cy="164592"/>
          </a:xfrm>
          <a:prstGeom prst="rect">
            <a:avLst/>
          </a:prstGeom>
          <a:noFill/>
        </p:spPr>
        <p:txBody>
          <a:bodyPr wrap="square" lIns="0" tIns="0" rIns="0" bIns="0" anchor="ctr">
            <a:spAutoFit/>
          </a:bodyPr>
          <a:lstStyle/>
          <a:p>
            <a:pPr algn="ctr"/>
            <a:r>
              <a:rPr sz="850" b="1">
                <a:solidFill>
                  <a:srgbClr val="C8412E"/>
                </a:solidFill>
                <a:latin typeface="맑은 고딕"/>
                <a:ea typeface="맑은 고딕"/>
                <a:cs typeface="맑은 고딕"/>
              </a:rPr>
              <a:t>N</a:t>
            </a:r>
          </a:p>
        </p:txBody>
      </p:sp>
      <p:cxnSp>
        <p:nvCxnSpPr>
          <p:cNvPr id="173" name="Connector 172"/>
          <p:cNvCxnSpPr/>
          <p:nvPr/>
        </p:nvCxnSpPr>
        <p:spPr>
          <a:xfrm flipH="1">
            <a:off x="8677656" y="2121408"/>
            <a:ext cx="128016" cy="0"/>
          </a:xfrm>
          <a:prstGeom prst="line">
            <a:avLst/>
          </a:prstGeom>
          <a:ln w="15875">
            <a:solidFill>
              <a:srgbClr val="C8412E"/>
            </a:solidFill>
            <a:prstDash val="dash"/>
            <a:headEnd type="oval" w="med" len="med"/>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8677656" y="2121408"/>
            <a:ext cx="0" cy="182880"/>
          </a:xfrm>
          <a:prstGeom prst="line">
            <a:avLst/>
          </a:prstGeom>
          <a:ln w="15875">
            <a:solidFill>
              <a:srgbClr val="C8412E"/>
            </a:solidFill>
            <a:prstDash val="dash"/>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H="1">
            <a:off x="8549640" y="2304288"/>
            <a:ext cx="128016" cy="0"/>
          </a:xfrm>
          <a:prstGeom prst="line">
            <a:avLst/>
          </a:prstGeom>
          <a:ln w="15875">
            <a:solidFill>
              <a:srgbClr val="C8412E"/>
            </a:solidFill>
            <a:prstDash val="dash"/>
            <a:tailEnd type="arrow" w="med" len="med"/>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8476488" y="1847088"/>
            <a:ext cx="329184" cy="164592"/>
          </a:xfrm>
          <a:prstGeom prst="rect">
            <a:avLst/>
          </a:prstGeom>
          <a:noFill/>
        </p:spPr>
        <p:txBody>
          <a:bodyPr wrap="square" lIns="0" tIns="0" rIns="0" bIns="0" anchor="ctr">
            <a:spAutoFit/>
          </a:bodyPr>
          <a:lstStyle/>
          <a:p>
            <a:pPr algn="ctr"/>
            <a:r>
              <a:rPr sz="850" b="1">
                <a:solidFill>
                  <a:srgbClr val="C8412E"/>
                </a:solidFill>
                <a:latin typeface="맑은 고딕"/>
                <a:ea typeface="맑은 고딕"/>
                <a:cs typeface="맑은 고딕"/>
              </a:rPr>
              <a:t>0..1</a:t>
            </a:r>
          </a:p>
        </p:txBody>
      </p:sp>
      <p:sp>
        <p:nvSpPr>
          <p:cNvPr id="177" name="TextBox 176"/>
          <p:cNvSpPr txBox="1"/>
          <p:nvPr/>
        </p:nvSpPr>
        <p:spPr>
          <a:xfrm>
            <a:off x="8503919" y="2340864"/>
            <a:ext cx="411480" cy="164592"/>
          </a:xfrm>
          <a:prstGeom prst="rect">
            <a:avLst/>
          </a:prstGeom>
          <a:noFill/>
        </p:spPr>
        <p:txBody>
          <a:bodyPr wrap="square" lIns="0" tIns="0" rIns="0" bIns="0" anchor="ctr">
            <a:spAutoFit/>
          </a:bodyPr>
          <a:lstStyle/>
          <a:p>
            <a:pPr algn="ctr"/>
            <a:r>
              <a:rPr sz="850" b="1">
                <a:solidFill>
                  <a:srgbClr val="C8412E"/>
                </a:solidFill>
                <a:latin typeface="맑은 고딕"/>
                <a:ea typeface="맑은 고딕"/>
                <a:cs typeface="맑은 고딕"/>
              </a:rPr>
              <a:t>N</a:t>
            </a:r>
          </a:p>
        </p:txBody>
      </p:sp>
      <p:sp>
        <p:nvSpPr>
          <p:cNvPr id="178" name="Rounded Rectangle 177"/>
          <p:cNvSpPr/>
          <p:nvPr/>
        </p:nvSpPr>
        <p:spPr>
          <a:xfrm>
            <a:off x="548640" y="3429000"/>
            <a:ext cx="2148840" cy="2240280"/>
          </a:xfrm>
          <a:prstGeom prst="roundRect">
            <a:avLst>
              <a:gd name="adj" fmla="val 5000"/>
            </a:avLst>
          </a:prstGeom>
          <a:solidFill>
            <a:srgbClr val="F6F8FA"/>
          </a:solidFill>
          <a:ln w="9525">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TextBox 178"/>
          <p:cNvSpPr txBox="1"/>
          <p:nvPr/>
        </p:nvSpPr>
        <p:spPr>
          <a:xfrm>
            <a:off x="713232" y="3557016"/>
            <a:ext cx="1819656" cy="274320"/>
          </a:xfrm>
          <a:prstGeom prst="rect">
            <a:avLst/>
          </a:prstGeom>
          <a:noFill/>
        </p:spPr>
        <p:txBody>
          <a:bodyPr wrap="square" lIns="0" tIns="0" rIns="0" bIns="0" anchor="t">
            <a:spAutoFit/>
          </a:bodyPr>
          <a:lstStyle/>
          <a:p>
            <a:pPr algn="l"/>
            <a:r>
              <a:rPr sz="1150" b="1">
                <a:solidFill>
                  <a:srgbClr val="14304A"/>
                </a:solidFill>
                <a:latin typeface="맑은 고딕"/>
                <a:ea typeface="맑은 고딕"/>
                <a:cs typeface="맑은 고딕"/>
              </a:rPr>
              <a:t>월별 ↔ 일별</a:t>
            </a:r>
          </a:p>
        </p:txBody>
      </p:sp>
      <p:sp>
        <p:nvSpPr>
          <p:cNvPr id="180" name="TextBox 179"/>
          <p:cNvSpPr txBox="1"/>
          <p:nvPr/>
        </p:nvSpPr>
        <p:spPr>
          <a:xfrm>
            <a:off x="713232" y="3886200"/>
            <a:ext cx="1819656" cy="1691640"/>
          </a:xfrm>
          <a:prstGeom prst="rect">
            <a:avLst/>
          </a:prstGeom>
          <a:noFill/>
        </p:spPr>
        <p:txBody>
          <a:bodyPr wrap="square" lIns="0" tIns="0" rIns="0" bIns="0" anchor="t">
            <a:spAutoFit/>
          </a:bodyPr>
          <a:lstStyle/>
          <a:p>
            <a:pPr algn="l"/>
            <a:r>
              <a:rPr sz="1000" b="0">
                <a:solidFill>
                  <a:srgbClr val="1F2A36"/>
                </a:solidFill>
                <a:latin typeface="맑은 고딕"/>
                <a:ea typeface="맑은 고딕"/>
                <a:cs typeface="맑은 고딕"/>
              </a:rPr>
              <a:t>같은 구간명 4개</a:t>
            </a:r>
          </a:p>
          <a:p>
            <a:pPr algn="l"/>
            <a:r>
              <a:rPr sz="1000" b="0">
                <a:solidFill>
                  <a:srgbClr val="1F2A36"/>
                </a:solidFill>
                <a:latin typeface="맑은 고딕"/>
                <a:ea typeface="맑은 고딕"/>
                <a:cs typeface="맑은 고딕"/>
              </a:rPr>
              <a:t>2022_H1 · pre ·</a:t>
            </a:r>
          </a:p>
          <a:p>
            <a:pPr algn="l"/>
            <a:r>
              <a:rPr sz="1000" b="0">
                <a:solidFill>
                  <a:srgbClr val="1F2A36"/>
                </a:solidFill>
                <a:latin typeface="맑은 고딕"/>
                <a:ea typeface="맑은 고딕"/>
                <a:cs typeface="맑은 고딕"/>
              </a:rPr>
              <a:t>stress · recovery</a:t>
            </a:r>
          </a:p>
          <a:p>
            <a:pPr algn="l"/>
            <a:endParaRPr sz="1000" b="0">
              <a:solidFill>
                <a:srgbClr val="1F2A36"/>
              </a:solidFill>
              <a:latin typeface="맑은 고딕"/>
              <a:ea typeface="맑은 고딕"/>
              <a:cs typeface="맑은 고딕"/>
            </a:endParaRPr>
          </a:p>
          <a:p>
            <a:pPr algn="l"/>
            <a:r>
              <a:rPr sz="1000" b="0">
                <a:solidFill>
                  <a:srgbClr val="1F2A36"/>
                </a:solidFill>
                <a:latin typeface="맑은 고딕"/>
                <a:ea typeface="맑은 고딕"/>
                <a:cs typeface="맑은 고딕"/>
              </a:rPr>
              <a:t>월별 값이 월평균인지</a:t>
            </a:r>
          </a:p>
          <a:p>
            <a:pPr algn="l"/>
            <a:r>
              <a:rPr sz="1000" b="0">
                <a:solidFill>
                  <a:srgbClr val="1F2A36"/>
                </a:solidFill>
                <a:latin typeface="맑은 고딕"/>
                <a:ea typeface="맑은 고딕"/>
                <a:cs typeface="맑은 고딕"/>
              </a:rPr>
              <a:t>일별 자료로 교차 확인</a:t>
            </a:r>
          </a:p>
          <a:p>
            <a:pPr algn="l"/>
            <a:r>
              <a:rPr sz="1000" b="0">
                <a:solidFill>
                  <a:srgbClr val="1F2A36"/>
                </a:solidFill>
                <a:latin typeface="맑은 고딕"/>
                <a:ea typeface="맑은 고딕"/>
                <a:cs typeface="맑은 고딕"/>
              </a:rPr>
              <a:t>(차이 0.01%p)</a:t>
            </a:r>
          </a:p>
        </p:txBody>
      </p:sp>
      <p:sp>
        <p:nvSpPr>
          <p:cNvPr id="181" name="Rounded Rectangle 180"/>
          <p:cNvSpPr/>
          <p:nvPr/>
        </p:nvSpPr>
        <p:spPr>
          <a:xfrm>
            <a:off x="6172200" y="3291840"/>
            <a:ext cx="2377440" cy="2514600"/>
          </a:xfrm>
          <a:prstGeom prst="roundRect">
            <a:avLst>
              <a:gd name="adj" fmla="val 5000"/>
            </a:avLst>
          </a:prstGeom>
          <a:solidFill>
            <a:srgbClr val="F6F8FA"/>
          </a:solidFill>
          <a:ln w="9525">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6336792" y="3419856"/>
            <a:ext cx="2048256" cy="274320"/>
          </a:xfrm>
          <a:prstGeom prst="rect">
            <a:avLst/>
          </a:prstGeom>
          <a:noFill/>
        </p:spPr>
        <p:txBody>
          <a:bodyPr wrap="square" lIns="0" tIns="0" rIns="0" bIns="0" anchor="t">
            <a:spAutoFit/>
          </a:bodyPr>
          <a:lstStyle/>
          <a:p>
            <a:pPr algn="l"/>
            <a:r>
              <a:rPr sz="1150" b="1">
                <a:solidFill>
                  <a:srgbClr val="C8412E"/>
                </a:solidFill>
                <a:latin typeface="맑은 고딕"/>
                <a:ea typeface="맑은 고딕"/>
                <a:cs typeface="맑은 고딕"/>
              </a:rPr>
              <a:t>점선 = 일부만 대응</a:t>
            </a:r>
          </a:p>
        </p:txBody>
      </p:sp>
      <p:sp>
        <p:nvSpPr>
          <p:cNvPr id="183" name="TextBox 182"/>
          <p:cNvSpPr txBox="1"/>
          <p:nvPr/>
        </p:nvSpPr>
        <p:spPr>
          <a:xfrm>
            <a:off x="6336792" y="3749039"/>
            <a:ext cx="2048256" cy="1965960"/>
          </a:xfrm>
          <a:prstGeom prst="rect">
            <a:avLst/>
          </a:prstGeom>
          <a:noFill/>
        </p:spPr>
        <p:txBody>
          <a:bodyPr wrap="square" lIns="0" tIns="0" rIns="0" bIns="0" anchor="t">
            <a:spAutoFit/>
          </a:bodyPr>
          <a:lstStyle/>
          <a:p>
            <a:pPr algn="l"/>
            <a:r>
              <a:rPr sz="1000" b="0">
                <a:solidFill>
                  <a:srgbClr val="1F2A36"/>
                </a:solidFill>
                <a:latin typeface="맑은 고딕"/>
                <a:ea typeface="맑은 고딕"/>
                <a:cs typeface="맑은 고딕"/>
              </a:rPr>
              <a:t>· 10.23 대책일은 일요일</a:t>
            </a:r>
          </a:p>
          <a:p>
            <a:pPr algn="l"/>
            <a:r>
              <a:rPr sz="1000" b="0">
                <a:solidFill>
                  <a:srgbClr val="1F2A36"/>
                </a:solidFill>
                <a:latin typeface="맑은 고딕"/>
                <a:ea typeface="맑은 고딕"/>
                <a:cs typeface="맑은 고딕"/>
              </a:rPr>
              <a:t>  → ecos_daily에 행 없음</a:t>
            </a:r>
          </a:p>
          <a:p>
            <a:pPr algn="l"/>
            <a:endParaRPr sz="1000" b="0">
              <a:solidFill>
                <a:srgbClr val="1F2A36"/>
              </a:solidFill>
              <a:latin typeface="맑은 고딕"/>
              <a:ea typeface="맑은 고딕"/>
              <a:cs typeface="맑은 고딕"/>
            </a:endParaRPr>
          </a:p>
          <a:p>
            <a:pPr algn="l"/>
            <a:r>
              <a:rPr sz="1000" b="0">
                <a:solidFill>
                  <a:srgbClr val="1F2A36"/>
                </a:solidFill>
                <a:latin typeface="맑은 고딕"/>
                <a:ea typeface="맑은 고딕"/>
                <a:cs typeface="맑은 고딕"/>
              </a:rPr>
              <a:t>· 지표명 7개 중 5개만</a:t>
            </a:r>
          </a:p>
          <a:p>
            <a:pPr algn="l"/>
            <a:r>
              <a:rPr sz="1000" b="0">
                <a:solidFill>
                  <a:srgbClr val="1F2A36"/>
                </a:solidFill>
                <a:latin typeface="맑은 고딕"/>
                <a:ea typeface="맑은 고딕"/>
                <a:cs typeface="맑은 고딕"/>
              </a:rPr>
              <a:t>  indicator_summary에 있음</a:t>
            </a:r>
          </a:p>
          <a:p>
            <a:pPr algn="l"/>
            <a:endParaRPr sz="1000" b="0">
              <a:solidFill>
                <a:srgbClr val="1F2A36"/>
              </a:solidFill>
              <a:latin typeface="맑은 고딕"/>
              <a:ea typeface="맑은 고딕"/>
              <a:cs typeface="맑은 고딕"/>
            </a:endParaRPr>
          </a:p>
          <a:p>
            <a:pPr algn="l"/>
            <a:r>
              <a:rPr sz="1000" b="0">
                <a:solidFill>
                  <a:srgbClr val="1F2A36"/>
                </a:solidFill>
                <a:latin typeface="맑은 고딕"/>
                <a:ea typeface="맑은 고딕"/>
                <a:cs typeface="맑은 고딕"/>
              </a:rPr>
              <a:t>· indicator 값은 ecos_daily</a:t>
            </a:r>
          </a:p>
          <a:p>
            <a:pPr algn="l"/>
            <a:r>
              <a:rPr sz="1000" b="0">
                <a:solidFill>
                  <a:srgbClr val="1F2A36"/>
                </a:solidFill>
                <a:latin typeface="맑은 고딕"/>
                <a:ea typeface="맑은 고딕"/>
                <a:cs typeface="맑은 고딕"/>
              </a:rPr>
              <a:t>  열 이름 (spread_aa_bp 등)</a:t>
            </a:r>
          </a:p>
        </p:txBody>
      </p:sp>
      <p:sp>
        <p:nvSpPr>
          <p:cNvPr id="184" name="TextBox 183"/>
          <p:cNvSpPr txBox="1"/>
          <p:nvPr/>
        </p:nvSpPr>
        <p:spPr>
          <a:xfrm>
            <a:off x="548640" y="6473952"/>
            <a:ext cx="10543032" cy="228600"/>
          </a:xfrm>
          <a:prstGeom prst="rect">
            <a:avLst/>
          </a:prstGeom>
          <a:noFill/>
        </p:spPr>
        <p:txBody>
          <a:bodyPr wrap="square" lIns="0" tIns="0" rIns="0" bIns="0" anchor="t">
            <a:spAutoFit/>
          </a:bodyPr>
          <a:lstStyle/>
          <a:p>
            <a:pPr algn="l"/>
            <a:r>
              <a:rPr sz="900" b="0">
                <a:solidFill>
                  <a:srgbClr val="5B6B7A"/>
                </a:solidFill>
                <a:latin typeface="맑은 고딕"/>
                <a:ea typeface="맑은 고딕"/>
                <a:cs typeface="맑은 고딕"/>
              </a:rPr>
              <a:t>db/legoland.sqlite · 표 12개 중 일별 3개 + 공유 1개  |  PK 기본키 · UK 데이터상 유일 · FK 논리 관계(DB 제약 없음) · 점선은 일부 값만 대응</a:t>
            </a:r>
          </a:p>
        </p:txBody>
      </p:sp>
      <p:sp>
        <p:nvSpPr>
          <p:cNvPr id="185" name="TextBox 184"/>
          <p:cNvSpPr txBox="1"/>
          <p:nvPr/>
        </p:nvSpPr>
        <p:spPr>
          <a:xfrm>
            <a:off x="11274552" y="6473952"/>
            <a:ext cx="365760" cy="228600"/>
          </a:xfrm>
          <a:prstGeom prst="rect">
            <a:avLst/>
          </a:prstGeom>
          <a:noFill/>
        </p:spPr>
        <p:txBody>
          <a:bodyPr wrap="square" lIns="0" tIns="0" rIns="0" bIns="0" anchor="t">
            <a:spAutoFit/>
          </a:bodyPr>
          <a:lstStyle/>
          <a:p>
            <a:pPr algn="r"/>
            <a:r>
              <a:rPr sz="900" b="0">
                <a:solidFill>
                  <a:srgbClr val="5B6B7A"/>
                </a:solidFill>
                <a:latin typeface="맑은 고딕"/>
                <a:ea typeface="맑은 고딕"/>
                <a:cs typeface="맑은 고딕"/>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C8412E"/>
          </a:solidFill>
          <a:ln w="12700">
            <a:solidFill>
              <a:srgbClr val="C8412E"/>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ko-KR" altLang="en-US" sz="1600" b="1" dirty="0">
                <a:solidFill>
                  <a:srgbClr val="FFFFFF"/>
                </a:solidFill>
                <a:latin typeface="맑은 고딕" panose="020B0503020000020004" pitchFamily="50" charset="-127"/>
                <a:ea typeface="맑은 고딕" panose="020B0503020000020004" pitchFamily="50" charset="-127"/>
                <a:cs typeface="맑은 고딕" pitchFamily="34" charset="-120"/>
              </a:rPr>
              <a:t>Q1</a:t>
            </a:r>
            <a:endParaRPr lang="ko-KR" altLang="en-US" sz="1600" dirty="0"/>
          </a:p>
        </p:txBody>
      </p:sp>
      <p:sp>
        <p:nvSpPr>
          <p:cNvPr id="4" name="Text 2"/>
          <p:cNvSpPr txBox="1"/>
          <p:nvPr/>
        </p:nvSpPr>
        <p:spPr>
          <a:xfrm>
            <a:off x="1298448" y="384048"/>
            <a:ext cx="10344607"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스프레드는 코로나 때의 2.2배까지 벌어졌다</a:t>
            </a:r>
            <a:endParaRPr lang="ko-KR" altLang="en-US" sz="2800" dirty="0"/>
          </a:p>
        </p:txBody>
      </p:sp>
      <p:graphicFrame>
        <p:nvGraphicFramePr>
          <p:cNvPr id="5" name="Chart 0"/>
          <p:cNvGraphicFramePr/>
          <p:nvPr/>
        </p:nvGraphicFramePr>
        <p:xfrm>
          <a:off x="548640" y="1188720"/>
          <a:ext cx="76809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49640" y="1490472"/>
            <a:ext cx="274320" cy="274320"/>
          </a:xfrm>
          <a:prstGeom prst="ellipse">
            <a:avLst/>
          </a:prstGeom>
          <a:solidFill>
            <a:srgbClr val="2E9E57"/>
          </a:solidFill>
          <a:ln w="12700">
            <a:solidFill>
              <a:srgbClr val="2E9E57"/>
            </a:solidFill>
            <a:prstDash val="solid"/>
          </a:ln>
        </p:spPr>
      </p:sp>
      <p:sp>
        <p:nvSpPr>
          <p:cNvPr id="7" name="Text 4"/>
          <p:cNvSpPr txBox="1"/>
          <p:nvPr/>
        </p:nvSpPr>
        <p:spPr>
          <a:xfrm>
            <a:off x="9006840" y="1325880"/>
            <a:ext cx="2743200" cy="566928"/>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46bp</a:t>
            </a:r>
            <a:endParaRPr lang="ko-KR" altLang="en-US" sz="3000" dirty="0"/>
          </a:p>
        </p:txBody>
      </p:sp>
      <p:sp>
        <p:nvSpPr>
          <p:cNvPr id="8" name="Text 5"/>
          <p:cNvSpPr txBox="1"/>
          <p:nvPr/>
        </p:nvSpPr>
        <p:spPr>
          <a:xfrm>
            <a:off x="9006840" y="1929384"/>
            <a:ext cx="2743200" cy="365760"/>
          </a:xfrm>
          <a:prstGeom prst="rect">
            <a:avLst/>
          </a:prstGeom>
          <a:noFill/>
          <a:ln/>
        </p:spPr>
        <p:txBody>
          <a:bodyPr wrap="square" lIns="0" tIns="0" rIns="0" bIns="0" rtlCol="0" anchor="t"/>
          <a:lstStyle/>
          <a:p>
            <a:pPr marL="0" indent="0">
              <a:buNone/>
            </a:pPr>
            <a:r>
              <a:rPr lang="ko-KR" altLang="en-US" sz="1300" dirty="0">
                <a:solidFill>
                  <a:srgbClr val="5B6B7A"/>
                </a:solidFill>
                <a:latin typeface="맑은 고딕" panose="020B0503020000020004" pitchFamily="50" charset="-127"/>
                <a:ea typeface="맑은 고딕" panose="020B0503020000020004" pitchFamily="50" charset="-127"/>
                <a:cs typeface="맑은 고딕" pitchFamily="34" charset="-120"/>
              </a:rPr>
              <a:t>평소 (2019–21 평균)</a:t>
            </a:r>
            <a:endParaRPr lang="ko-KR" altLang="en-US" sz="1300" dirty="0"/>
          </a:p>
        </p:txBody>
      </p:sp>
      <p:sp>
        <p:nvSpPr>
          <p:cNvPr id="9" name="Shape 6"/>
          <p:cNvSpPr/>
          <p:nvPr/>
        </p:nvSpPr>
        <p:spPr>
          <a:xfrm>
            <a:off x="8549640" y="2660904"/>
            <a:ext cx="274320" cy="274320"/>
          </a:xfrm>
          <a:prstGeom prst="ellipse">
            <a:avLst/>
          </a:prstGeom>
          <a:solidFill>
            <a:srgbClr val="E0A020"/>
          </a:solidFill>
          <a:ln w="12700">
            <a:solidFill>
              <a:srgbClr val="E0A020"/>
            </a:solidFill>
            <a:prstDash val="solid"/>
          </a:ln>
        </p:spPr>
      </p:sp>
      <p:sp>
        <p:nvSpPr>
          <p:cNvPr id="10" name="Text 7"/>
          <p:cNvSpPr txBox="1"/>
          <p:nvPr/>
        </p:nvSpPr>
        <p:spPr>
          <a:xfrm>
            <a:off x="9006840" y="2496312"/>
            <a:ext cx="2743200" cy="566928"/>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76bp</a:t>
            </a:r>
            <a:endParaRPr lang="ko-KR" altLang="en-US" sz="3000" dirty="0"/>
          </a:p>
        </p:txBody>
      </p:sp>
      <p:sp>
        <p:nvSpPr>
          <p:cNvPr id="11" name="Text 8"/>
          <p:cNvSpPr txBox="1"/>
          <p:nvPr/>
        </p:nvSpPr>
        <p:spPr>
          <a:xfrm>
            <a:off x="9006840" y="3099816"/>
            <a:ext cx="2743200" cy="365760"/>
          </a:xfrm>
          <a:prstGeom prst="rect">
            <a:avLst/>
          </a:prstGeom>
          <a:noFill/>
          <a:ln/>
        </p:spPr>
        <p:txBody>
          <a:bodyPr wrap="square" lIns="0" tIns="0" rIns="0" bIns="0" rtlCol="0" anchor="t"/>
          <a:lstStyle/>
          <a:p>
            <a:pPr marL="0" indent="0">
              <a:buNone/>
            </a:pPr>
            <a:r>
              <a:rPr lang="ko-KR" altLang="en-US" sz="1300" dirty="0">
                <a:solidFill>
                  <a:srgbClr val="5B6B7A"/>
                </a:solidFill>
                <a:latin typeface="맑은 고딕" panose="020B0503020000020004" pitchFamily="50" charset="-127"/>
                <a:ea typeface="맑은 고딕" panose="020B0503020000020004" pitchFamily="50" charset="-127"/>
                <a:cs typeface="맑은 고딕" pitchFamily="34" charset="-120"/>
              </a:rPr>
              <a:t>코로나 정점 (2020.05)</a:t>
            </a:r>
            <a:endParaRPr lang="ko-KR" altLang="en-US" sz="1300" dirty="0"/>
          </a:p>
        </p:txBody>
      </p:sp>
      <p:sp>
        <p:nvSpPr>
          <p:cNvPr id="12" name="Shape 9"/>
          <p:cNvSpPr/>
          <p:nvPr/>
        </p:nvSpPr>
        <p:spPr>
          <a:xfrm>
            <a:off x="8549640" y="3831336"/>
            <a:ext cx="274320" cy="274320"/>
          </a:xfrm>
          <a:prstGeom prst="ellipse">
            <a:avLst/>
          </a:prstGeom>
          <a:solidFill>
            <a:srgbClr val="C8412E"/>
          </a:solidFill>
          <a:ln w="12700">
            <a:solidFill>
              <a:srgbClr val="C8412E"/>
            </a:solidFill>
            <a:prstDash val="solid"/>
          </a:ln>
        </p:spPr>
      </p:sp>
      <p:sp>
        <p:nvSpPr>
          <p:cNvPr id="13" name="Text 10"/>
          <p:cNvSpPr txBox="1"/>
          <p:nvPr/>
        </p:nvSpPr>
        <p:spPr>
          <a:xfrm>
            <a:off x="9006840" y="3666744"/>
            <a:ext cx="2743200" cy="566928"/>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167bp</a:t>
            </a:r>
            <a:endParaRPr lang="ko-KR" altLang="en-US" sz="3000" dirty="0"/>
          </a:p>
        </p:txBody>
      </p:sp>
      <p:sp>
        <p:nvSpPr>
          <p:cNvPr id="14" name="Text 11"/>
          <p:cNvSpPr txBox="1"/>
          <p:nvPr/>
        </p:nvSpPr>
        <p:spPr>
          <a:xfrm>
            <a:off x="9006840" y="4270248"/>
            <a:ext cx="2743200" cy="365760"/>
          </a:xfrm>
          <a:prstGeom prst="rect">
            <a:avLst/>
          </a:prstGeom>
          <a:noFill/>
          <a:ln/>
        </p:spPr>
        <p:txBody>
          <a:bodyPr wrap="square" lIns="0" tIns="0" rIns="0" bIns="0" rtlCol="0" anchor="t"/>
          <a:lstStyle/>
          <a:p>
            <a:pPr marL="0" indent="0">
              <a:buNone/>
            </a:pPr>
            <a:r>
              <a:rPr lang="ko-KR" altLang="en-US" sz="1300" dirty="0">
                <a:solidFill>
                  <a:srgbClr val="5B6B7A"/>
                </a:solidFill>
                <a:latin typeface="맑은 고딕" panose="020B0503020000020004" pitchFamily="50" charset="-127"/>
                <a:ea typeface="맑은 고딕" panose="020B0503020000020004" pitchFamily="50" charset="-127"/>
                <a:cs typeface="맑은 고딕" pitchFamily="34" charset="-120"/>
              </a:rPr>
              <a:t>레고랜드 정점 (2022.12)</a:t>
            </a:r>
            <a:endParaRPr lang="ko-KR" altLang="en-US" sz="1300" dirty="0"/>
          </a:p>
        </p:txBody>
      </p:sp>
      <p:sp>
        <p:nvSpPr>
          <p:cNvPr id="15" name="Shape 12"/>
          <p:cNvSpPr/>
          <p:nvPr/>
        </p:nvSpPr>
        <p:spPr>
          <a:xfrm>
            <a:off x="8549640" y="5001768"/>
            <a:ext cx="274320" cy="274320"/>
          </a:xfrm>
          <a:prstGeom prst="ellipse">
            <a:avLst/>
          </a:prstGeom>
          <a:solidFill>
            <a:srgbClr val="14304A"/>
          </a:solidFill>
          <a:ln w="12700">
            <a:solidFill>
              <a:srgbClr val="14304A"/>
            </a:solidFill>
            <a:prstDash val="solid"/>
          </a:ln>
        </p:spPr>
      </p:sp>
      <p:sp>
        <p:nvSpPr>
          <p:cNvPr id="16" name="Text 13"/>
          <p:cNvSpPr txBox="1"/>
          <p:nvPr/>
        </p:nvSpPr>
        <p:spPr>
          <a:xfrm>
            <a:off x="9006840" y="4837176"/>
            <a:ext cx="2743200" cy="566928"/>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78bp</a:t>
            </a:r>
            <a:endParaRPr lang="ko-KR" altLang="en-US" sz="3000" dirty="0"/>
          </a:p>
        </p:txBody>
      </p:sp>
      <p:sp>
        <p:nvSpPr>
          <p:cNvPr id="17" name="Text 14"/>
          <p:cNvSpPr txBox="1"/>
          <p:nvPr/>
        </p:nvSpPr>
        <p:spPr>
          <a:xfrm>
            <a:off x="9006840" y="5440680"/>
            <a:ext cx="2743200" cy="365760"/>
          </a:xfrm>
          <a:prstGeom prst="rect">
            <a:avLst/>
          </a:prstGeom>
          <a:noFill/>
          <a:ln/>
        </p:spPr>
        <p:txBody>
          <a:bodyPr wrap="square" lIns="0" tIns="0" rIns="0" bIns="0" rtlCol="0" anchor="t"/>
          <a:lstStyle/>
          <a:p>
            <a:pPr marL="0" indent="0">
              <a:buNone/>
            </a:pPr>
            <a:r>
              <a:rPr lang="ko-KR" altLang="en-US" sz="1300" dirty="0">
                <a:solidFill>
                  <a:srgbClr val="5B6B7A"/>
                </a:solidFill>
                <a:latin typeface="맑은 고딕" panose="020B0503020000020004" pitchFamily="50" charset="-127"/>
                <a:ea typeface="맑은 고딕" panose="020B0503020000020004" pitchFamily="50" charset="-127"/>
                <a:cs typeface="맑은 고딕" pitchFamily="34" charset="-120"/>
              </a:rPr>
              <a:t>2023 하반기 = 평소의 1.7배</a:t>
            </a:r>
            <a:endParaRPr lang="ko-KR" altLang="en-US" sz="1300" dirty="0"/>
          </a:p>
        </p:txBody>
      </p:sp>
      <p:sp>
        <p:nvSpPr>
          <p:cNvPr id="18" name="Text 15"/>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출처: e-나라지표 시장금리 추이(1073), 월평균  |  2023년은 금리 수준이 높아 bp 스프레드가 커지는 경향 → "완전 회복 아님"까지만 해석</a:t>
            </a:r>
            <a:endParaRPr lang="ko-KR" altLang="en-US" sz="900" dirty="0"/>
          </a:p>
        </p:txBody>
      </p:sp>
      <p:sp>
        <p:nvSpPr>
          <p:cNvPr id="19" name="Text 16"/>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9</a:t>
            </a:r>
            <a:endParaRPr lang="ko-KR" altLang="en-US" sz="900" dirty="0"/>
          </a:p>
        </p:txBody>
      </p:sp>
      <p:sp>
        <p:nvSpPr>
          <p:cNvPr id="20" name="TextBox 19"/>
          <p:cNvSpPr txBox="1"/>
          <p:nvPr/>
        </p:nvSpPr>
        <p:spPr>
          <a:xfrm>
            <a:off x="548640" y="6053328"/>
            <a:ext cx="7680960" cy="274320"/>
          </a:xfrm>
          <a:prstGeom prst="rect">
            <a:avLst/>
          </a:prstGeom>
          <a:noFill/>
        </p:spPr>
        <p:txBody>
          <a:bodyPr wrap="square" lIns="0" tIns="0" rIns="0" bIns="0">
            <a:spAutoFit/>
          </a:bodyPr>
          <a:lstStyle/>
          <a:p>
            <a:r>
              <a:rPr sz="1100">
                <a:solidFill>
                  <a:srgbClr val="5B6B7A"/>
                </a:solidFill>
                <a:latin typeface="맑은 고딕"/>
                <a:ea typeface="맑은 고딕"/>
                <a:cs typeface="맑은 고딕"/>
              </a:rPr>
              <a:t>※ 사건 직전(22.07–09) 평균 96bp는 평상시가 아니라 이미 '긴장' 구간 → 평상시 비교는 2019–21년(46bp) 기준</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C8412E"/>
          </a:solidFill>
          <a:ln w="12700">
            <a:solidFill>
              <a:srgbClr val="C8412E"/>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ko-KR" altLang="en-US" sz="1600" b="1" dirty="0">
                <a:solidFill>
                  <a:srgbClr val="FFFFFF"/>
                </a:solidFill>
                <a:latin typeface="맑은 고딕" panose="020B0503020000020004" pitchFamily="50" charset="-127"/>
                <a:ea typeface="맑은 고딕" panose="020B0503020000020004" pitchFamily="50" charset="-127"/>
                <a:cs typeface="맑은 고딕" pitchFamily="34" charset="-120"/>
              </a:rPr>
              <a:t>Q2</a:t>
            </a:r>
            <a:endParaRPr lang="ko-KR" altLang="en-US" sz="1600" dirty="0"/>
          </a:p>
        </p:txBody>
      </p:sp>
      <p:sp>
        <p:nvSpPr>
          <p:cNvPr id="4" name="Text 2"/>
          <p:cNvSpPr txBox="1"/>
          <p:nvPr/>
        </p:nvSpPr>
        <p:spPr>
          <a:xfrm>
            <a:off x="1298448" y="384048"/>
            <a:ext cx="10344607"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금리는 내렸는데, 기업이 더 내는 이자는 늘었다</a:t>
            </a:r>
            <a:endParaRPr lang="ko-KR" altLang="en-US" sz="2800" dirty="0"/>
          </a:p>
        </p:txBody>
      </p:sp>
      <p:graphicFrame>
        <p:nvGraphicFramePr>
          <p:cNvPr id="5" name="Chart 0"/>
          <p:cNvGraphicFramePr/>
          <p:nvPr/>
        </p:nvGraphicFramePr>
        <p:xfrm>
          <a:off x="6035040" y="1188720"/>
          <a:ext cx="55778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48640" y="1371600"/>
            <a:ext cx="5120640" cy="1371600"/>
          </a:xfrm>
          <a:prstGeom prst="rect">
            <a:avLst/>
          </a:prstGeom>
          <a:noFill/>
          <a:ln/>
        </p:spPr>
        <p:txBody>
          <a:bodyPr wrap="square" lIns="0" tIns="0" rIns="0" bIns="0" rtlCol="0" anchor="t"/>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스프레드 변화 = 회사채 변화 − 국고채 변화</a:t>
            </a:r>
            <a:endParaRPr lang="ko-KR" altLang="en-US" sz="1600" dirty="0"/>
          </a:p>
          <a:p>
            <a:pPr marL="0" indent="0">
              <a:buNone/>
            </a:pPr>
            <a:r>
              <a:rPr lang="ko-KR" altLang="en-US" sz="2600" b="1" dirty="0">
                <a:solidFill>
                  <a:srgbClr val="C8412E"/>
                </a:solidFill>
                <a:latin typeface="맑은 고딕" panose="020B0503020000020004" pitchFamily="50" charset="-127"/>
                <a:ea typeface="맑은 고딕" panose="020B0503020000020004" pitchFamily="50" charset="-127"/>
                <a:cs typeface="맑은 고딕" pitchFamily="34" charset="-120"/>
              </a:rPr>
              <a:t>+47 = (-14) − (-61)</a:t>
            </a:r>
            <a:endParaRPr lang="ko-KR" altLang="en-US" sz="1600" dirty="0"/>
          </a:p>
        </p:txBody>
      </p:sp>
      <p:sp>
        <p:nvSpPr>
          <p:cNvPr id="7" name="Text 4"/>
          <p:cNvSpPr txBox="1"/>
          <p:nvPr/>
        </p:nvSpPr>
        <p:spPr>
          <a:xfrm>
            <a:off x="548640" y="2926080"/>
            <a:ext cx="5120640" cy="2926080"/>
          </a:xfrm>
          <a:prstGeom prst="rect">
            <a:avLst/>
          </a:prstGeom>
          <a:noFill/>
          <a:ln/>
        </p:spPr>
        <p:txBody>
          <a:bodyPr wrap="square" lIns="0" tIns="0" rIns="0" bIns="0" rtlCol="0" anchor="t"/>
          <a:lstStyle/>
          <a:p>
            <a:pPr marL="342900" indent="-342900">
              <a:spcAft>
                <a:spcPts val="1200"/>
              </a:spcAft>
              <a:buSzPct val="100000"/>
              <a:buChar char="•"/>
            </a:pPr>
            <a:r>
              <a:rPr lang="ko-KR" altLang="en-US" sz="1500" dirty="0">
                <a:solidFill>
                  <a:srgbClr val="1F2A36"/>
                </a:solidFill>
                <a:latin typeface="맑은 고딕" panose="020B0503020000020004" pitchFamily="50" charset="-127"/>
                <a:ea typeface="맑은 고딕" panose="020B0503020000020004" pitchFamily="50" charset="-127"/>
                <a:cs typeface="맑은 고딕" pitchFamily="34" charset="-120"/>
              </a:rPr>
              <a:t>국고채 금리가 61bp 내리는 동안 회사채는 14bp밖에 내리지 않았다.</a:t>
            </a:r>
            <a:endParaRPr lang="ko-KR" altLang="en-US" sz="1500" dirty="0"/>
          </a:p>
          <a:p>
            <a:pPr marL="342900" indent="-342900">
              <a:spcAft>
                <a:spcPts val="1200"/>
              </a:spcAft>
              <a:buSzPct val="100000"/>
              <a:buChar char="•"/>
            </a:pPr>
            <a:r>
              <a:rPr lang="ko-KR" altLang="en-US" sz="1500" dirty="0">
                <a:solidFill>
                  <a:srgbClr val="1F2A36"/>
                </a:solidFill>
                <a:latin typeface="맑은 고딕" panose="020B0503020000020004" pitchFamily="50" charset="-127"/>
                <a:ea typeface="맑은 고딕" panose="020B0503020000020004" pitchFamily="50" charset="-127"/>
                <a:cs typeface="맑은 고딕" pitchFamily="34" charset="-120"/>
              </a:rPr>
              <a:t>"금리가 내렸으니 안정됐다"고 보면 틀린다. 기업의 신용 프리미엄은 오히려 47bp 커졌다.</a:t>
            </a:r>
            <a:endParaRPr lang="ko-KR" altLang="en-US" sz="1500" dirty="0"/>
          </a:p>
          <a:p>
            <a:pPr marL="342900" indent="-342900">
              <a:spcAft>
                <a:spcPts val="1200"/>
              </a:spcAft>
              <a:buSzPct val="100000"/>
              <a:buChar char="•"/>
            </a:pPr>
            <a:r>
              <a:rPr lang="ko-KR" altLang="en-US" sz="1500" dirty="0">
                <a:solidFill>
                  <a:srgbClr val="1F2A36"/>
                </a:solidFill>
                <a:latin typeface="맑은 고딕" panose="020B0503020000020004" pitchFamily="50" charset="-127"/>
                <a:ea typeface="맑은 고딕" panose="020B0503020000020004" pitchFamily="50" charset="-127"/>
                <a:cs typeface="맑은 고딕" pitchFamily="34" charset="-120"/>
              </a:rPr>
              <a:t>금리와 스프레드를 함께 봐야 하는 이유. 1,000억 원 조달 시 사건 전 대비 확대분(53bp)만으로 연 약 5.3억 원을 더 낸다.</a:t>
            </a:r>
            <a:endParaRPr lang="ko-KR" altLang="en-US" sz="1500" dirty="0"/>
          </a:p>
        </p:txBody>
      </p:sp>
      <p:sp>
        <p:nvSpPr>
          <p:cNvPr id="8" name="Text 5"/>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출처: e-나라지표 시장금리 추이(1073), 월평균  |  5.3억 원은 다른 조건을 고정한 단순 시나리오</a:t>
            </a:r>
            <a:endParaRPr lang="ko-KR" altLang="en-US" sz="900" dirty="0"/>
          </a:p>
        </p:txBody>
      </p:sp>
      <p:sp>
        <p:nvSpPr>
          <p:cNvPr id="9" name="Text 6"/>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10</a:t>
            </a:r>
            <a:endParaRPr lang="ko-KR" alt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C8412E"/>
          </a:solidFill>
          <a:ln w="12700">
            <a:solidFill>
              <a:srgbClr val="C8412E"/>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ko-KR" altLang="en-US" sz="1600" b="1" dirty="0">
                <a:solidFill>
                  <a:srgbClr val="FFFFFF"/>
                </a:solidFill>
                <a:latin typeface="맑은 고딕" panose="020B0503020000020004" pitchFamily="50" charset="-127"/>
                <a:ea typeface="맑은 고딕" panose="020B0503020000020004" pitchFamily="50" charset="-127"/>
                <a:cs typeface="맑은 고딕" pitchFamily="34" charset="-120"/>
              </a:rPr>
              <a:t>Q3</a:t>
            </a:r>
            <a:endParaRPr lang="ko-KR" altLang="en-US" sz="1600" dirty="0"/>
          </a:p>
        </p:txBody>
      </p:sp>
      <p:sp>
        <p:nvSpPr>
          <p:cNvPr id="4" name="Text 2"/>
          <p:cNvSpPr txBox="1"/>
          <p:nvPr/>
        </p:nvSpPr>
        <p:spPr>
          <a:xfrm>
            <a:off x="1298448" y="384048"/>
            <a:ext cx="10344607"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단기자금시장은 늦게, 더 크게, 더 오래 흔들렸다</a:t>
            </a:r>
            <a:endParaRPr lang="ko-KR" altLang="en-US" sz="2800" dirty="0"/>
          </a:p>
        </p:txBody>
      </p:sp>
      <p:graphicFrame>
        <p:nvGraphicFramePr>
          <p:cNvPr id="5" name="Chart 0"/>
          <p:cNvGraphicFramePr/>
          <p:nvPr/>
        </p:nvGraphicFramePr>
        <p:xfrm>
          <a:off x="548640" y="1188720"/>
          <a:ext cx="667512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44384" y="1417320"/>
            <a:ext cx="0" cy="4526280"/>
          </a:xfrm>
          <a:prstGeom prst="line">
            <a:avLst/>
          </a:prstGeom>
          <a:noFill/>
          <a:ln w="19050">
            <a:solidFill>
              <a:srgbClr val="D5DEE7"/>
            </a:solidFill>
            <a:prstDash val="solid"/>
          </a:ln>
        </p:spPr>
      </p:sp>
      <p:sp>
        <p:nvSpPr>
          <p:cNvPr id="7" name="Shape 4"/>
          <p:cNvSpPr/>
          <p:nvPr/>
        </p:nvSpPr>
        <p:spPr>
          <a:xfrm>
            <a:off x="7511796" y="1321308"/>
            <a:ext cx="265176" cy="265176"/>
          </a:xfrm>
          <a:prstGeom prst="ellipse">
            <a:avLst/>
          </a:prstGeom>
          <a:solidFill>
            <a:srgbClr val="5B6B7A"/>
          </a:solidFill>
          <a:ln w="19050">
            <a:solidFill>
              <a:srgbClr val="FFFFFF"/>
            </a:solidFill>
            <a:prstDash val="solid"/>
          </a:ln>
        </p:spPr>
        <p:txBody>
          <a:bodyPr wrap="none" lIns="0" tIns="0" rIns="0" bIns="0" anchor="ctr" rtlCol="0"/>
          <a:lstStyle/>
          <a:p>
            <a:pPr algn="ctr"/>
            <a:r>
              <a:rPr lang="ko-KR" altLang="en-US" sz="1000" b="1">
                <a:solidFill>
                  <a:srgbClr val="FFFFFF"/>
                </a:solidFill>
                <a:latin typeface="맑은 고딕" panose="020B0503020000020004" pitchFamily="50" charset="-127"/>
                <a:ea typeface="맑은 고딕" panose="020B0503020000020004" pitchFamily="50" charset="-127"/>
              </a:rPr>
              <a:t>1</a:t>
            </a:r>
          </a:p>
        </p:txBody>
      </p:sp>
      <p:sp>
        <p:nvSpPr>
          <p:cNvPr id="8" name="Text 5"/>
          <p:cNvSpPr txBox="1"/>
          <p:nvPr/>
        </p:nvSpPr>
        <p:spPr>
          <a:xfrm>
            <a:off x="7891272" y="1280160"/>
            <a:ext cx="960120" cy="320040"/>
          </a:xfrm>
          <a:prstGeom prst="rect">
            <a:avLst/>
          </a:prstGeom>
          <a:noFill/>
          <a:ln/>
        </p:spPr>
        <p:txBody>
          <a:bodyPr wrap="square" lIns="0" tIns="0" rIns="0" bIns="0" rtlCol="0" anchor="t"/>
          <a:lstStyle/>
          <a:p>
            <a:pPr marL="0" indent="0">
              <a:buNone/>
            </a:pPr>
            <a:r>
              <a:rPr lang="ko-KR" altLang="en-US" sz="1200" b="1" dirty="0">
                <a:solidFill>
                  <a:srgbClr val="5B6B7A"/>
                </a:solidFill>
                <a:latin typeface="맑은 고딕" panose="020B0503020000020004" pitchFamily="50" charset="-127"/>
                <a:ea typeface="맑은 고딕" panose="020B0503020000020004" pitchFamily="50" charset="-127"/>
                <a:cs typeface="맑은 고딕" pitchFamily="34" charset="-120"/>
              </a:rPr>
              <a:t>09.28</a:t>
            </a:r>
            <a:endParaRPr lang="ko-KR" altLang="en-US" sz="1200" dirty="0"/>
          </a:p>
        </p:txBody>
      </p:sp>
      <p:sp>
        <p:nvSpPr>
          <p:cNvPr id="9" name="Text 6"/>
          <p:cNvSpPr txBox="1"/>
          <p:nvPr/>
        </p:nvSpPr>
        <p:spPr>
          <a:xfrm>
            <a:off x="8869680" y="1280160"/>
            <a:ext cx="2788920" cy="320040"/>
          </a:xfrm>
          <a:prstGeom prst="rect">
            <a:avLst/>
          </a:prstGeom>
          <a:noFill/>
          <a:ln/>
        </p:spPr>
        <p:txBody>
          <a:bodyPr wrap="square" lIns="0" tIns="0" rIns="0" bIns="0" rtlCol="0" anchor="t"/>
          <a:lstStyle/>
          <a:p>
            <a:pPr marL="0" indent="0">
              <a:buNone/>
            </a:pPr>
            <a:r>
              <a:rPr lang="ko-KR" altLang="en-US" sz="1250" b="1" dirty="0">
                <a:solidFill>
                  <a:srgbClr val="1F2A36"/>
                </a:solidFill>
                <a:latin typeface="맑은 고딕" panose="020B0503020000020004" pitchFamily="50" charset="-127"/>
                <a:ea typeface="맑은 고딕" panose="020B0503020000020004" pitchFamily="50" charset="-127"/>
                <a:cs typeface="맑은 고딕" pitchFamily="34" charset="-120"/>
              </a:rPr>
              <a:t>회생신청 발표</a:t>
            </a:r>
            <a:endParaRPr lang="ko-KR" altLang="en-US" sz="1250" dirty="0"/>
          </a:p>
        </p:txBody>
      </p:sp>
      <p:sp>
        <p:nvSpPr>
          <p:cNvPr id="10" name="Shape 7"/>
          <p:cNvSpPr/>
          <p:nvPr/>
        </p:nvSpPr>
        <p:spPr>
          <a:xfrm>
            <a:off x="7511796" y="1988820"/>
            <a:ext cx="265176" cy="265176"/>
          </a:xfrm>
          <a:prstGeom prst="ellipse">
            <a:avLst/>
          </a:prstGeom>
          <a:solidFill>
            <a:srgbClr val="14304A"/>
          </a:solidFill>
          <a:ln w="19050">
            <a:solidFill>
              <a:srgbClr val="FFFFFF"/>
            </a:solidFill>
            <a:prstDash val="solid"/>
          </a:ln>
        </p:spPr>
        <p:txBody>
          <a:bodyPr wrap="none" lIns="0" tIns="0" rIns="0" bIns="0" anchor="ctr" rtlCol="0"/>
          <a:lstStyle/>
          <a:p>
            <a:pPr algn="ctr"/>
            <a:r>
              <a:rPr lang="ko-KR" altLang="en-US" sz="1000" b="1">
                <a:solidFill>
                  <a:srgbClr val="FFFFFF"/>
                </a:solidFill>
                <a:latin typeface="맑은 고딕" panose="020B0503020000020004" pitchFamily="50" charset="-127"/>
                <a:ea typeface="맑은 고딕" panose="020B0503020000020004" pitchFamily="50" charset="-127"/>
              </a:rPr>
              <a:t>2</a:t>
            </a:r>
          </a:p>
        </p:txBody>
      </p:sp>
      <p:sp>
        <p:nvSpPr>
          <p:cNvPr id="11" name="Text 8"/>
          <p:cNvSpPr txBox="1"/>
          <p:nvPr/>
        </p:nvSpPr>
        <p:spPr>
          <a:xfrm>
            <a:off x="7891272" y="1947672"/>
            <a:ext cx="960120" cy="320040"/>
          </a:xfrm>
          <a:prstGeom prst="rect">
            <a:avLst/>
          </a:prstGeom>
          <a:noFill/>
          <a:ln/>
        </p:spPr>
        <p:txBody>
          <a:bodyPr wrap="square" lIns="0" tIns="0" rIns="0" bIns="0" rtlCol="0" anchor="t"/>
          <a:lstStyle/>
          <a:p>
            <a:pPr marL="0" indent="0">
              <a:buNone/>
            </a:pPr>
            <a:r>
              <a:rPr lang="ko-KR" altLang="en-US" sz="1200" b="1" dirty="0">
                <a:solidFill>
                  <a:srgbClr val="14304A"/>
                </a:solidFill>
                <a:latin typeface="맑은 고딕" panose="020B0503020000020004" pitchFamily="50" charset="-127"/>
                <a:ea typeface="맑은 고딕" panose="020B0503020000020004" pitchFamily="50" charset="-127"/>
                <a:cs typeface="맑은 고딕" pitchFamily="34" charset="-120"/>
              </a:rPr>
              <a:t>09.29</a:t>
            </a:r>
            <a:endParaRPr lang="ko-KR" altLang="en-US" sz="1200" dirty="0"/>
          </a:p>
        </p:txBody>
      </p:sp>
      <p:sp>
        <p:nvSpPr>
          <p:cNvPr id="12" name="Text 9"/>
          <p:cNvSpPr txBox="1"/>
          <p:nvPr/>
        </p:nvSpPr>
        <p:spPr>
          <a:xfrm>
            <a:off x="8869680" y="1947672"/>
            <a:ext cx="2788920" cy="320040"/>
          </a:xfrm>
          <a:prstGeom prst="rect">
            <a:avLst/>
          </a:prstGeom>
          <a:noFill/>
          <a:ln/>
        </p:spPr>
        <p:txBody>
          <a:bodyPr wrap="square" lIns="0" tIns="0" rIns="0" bIns="0" rtlCol="0" anchor="t"/>
          <a:lstStyle/>
          <a:p>
            <a:pPr marL="0" indent="0">
              <a:buNone/>
            </a:pPr>
            <a:r>
              <a:rPr lang="ko-KR" altLang="en-US" sz="1250" b="1" dirty="0">
                <a:solidFill>
                  <a:srgbClr val="1F2A36"/>
                </a:solidFill>
                <a:latin typeface="맑은 고딕" panose="020B0503020000020004" pitchFamily="50" charset="-127"/>
                <a:ea typeface="맑은 고딕" panose="020B0503020000020004" pitchFamily="50" charset="-127"/>
                <a:cs typeface="맑은 고딕" pitchFamily="34" charset="-120"/>
              </a:rPr>
              <a:t>AA− 하루 +7.1bp</a:t>
            </a:r>
            <a:endParaRPr lang="ko-KR" altLang="en-US" sz="1250" dirty="0"/>
          </a:p>
        </p:txBody>
      </p:sp>
      <p:sp>
        <p:nvSpPr>
          <p:cNvPr id="13" name="Text 10"/>
          <p:cNvSpPr txBox="1"/>
          <p:nvPr/>
        </p:nvSpPr>
        <p:spPr>
          <a:xfrm>
            <a:off x="8869680" y="2249424"/>
            <a:ext cx="2788920" cy="301752"/>
          </a:xfrm>
          <a:prstGeom prst="rect">
            <a:avLst/>
          </a:prstGeom>
          <a:noFill/>
          <a:ln/>
        </p:spPr>
        <p:txBody>
          <a:bodyPr wrap="square" lIns="0" tIns="0" rIns="0" bIns="0" rtlCol="0" anchor="t"/>
          <a:lstStyle/>
          <a:p>
            <a:pPr marL="0" indent="0">
              <a:buNone/>
            </a:pPr>
            <a:r>
              <a:rPr lang="ko-KR" altLang="en-US" sz="1050" dirty="0">
                <a:solidFill>
                  <a:srgbClr val="5B6B7A"/>
                </a:solidFill>
                <a:latin typeface="맑은 고딕" panose="020B0503020000020004" pitchFamily="50" charset="-127"/>
                <a:ea typeface="맑은 고딕" panose="020B0503020000020004" pitchFamily="50" charset="-127"/>
                <a:cs typeface="맑은 고딕" pitchFamily="34" charset="-120"/>
              </a:rPr>
              <a:t>사건 전 하루 변화의 9σ, 추세로는 22영업일치</a:t>
            </a:r>
            <a:endParaRPr lang="ko-KR" altLang="en-US" sz="1050" dirty="0"/>
          </a:p>
        </p:txBody>
      </p:sp>
      <p:sp>
        <p:nvSpPr>
          <p:cNvPr id="14" name="Shape 11"/>
          <p:cNvSpPr/>
          <p:nvPr/>
        </p:nvSpPr>
        <p:spPr>
          <a:xfrm>
            <a:off x="7511796" y="2656332"/>
            <a:ext cx="265176" cy="265176"/>
          </a:xfrm>
          <a:prstGeom prst="ellipse">
            <a:avLst/>
          </a:prstGeom>
          <a:solidFill>
            <a:srgbClr val="C8412E"/>
          </a:solidFill>
          <a:ln w="19050">
            <a:solidFill>
              <a:srgbClr val="FFFFFF"/>
            </a:solidFill>
            <a:prstDash val="solid"/>
          </a:ln>
        </p:spPr>
        <p:txBody>
          <a:bodyPr wrap="none" lIns="0" tIns="0" rIns="0" bIns="0" anchor="ctr" rtlCol="0"/>
          <a:lstStyle/>
          <a:p>
            <a:pPr algn="ctr"/>
            <a:r>
              <a:rPr lang="ko-KR" altLang="en-US" sz="1000" b="1">
                <a:solidFill>
                  <a:srgbClr val="FFFFFF"/>
                </a:solidFill>
                <a:latin typeface="맑은 고딕" panose="020B0503020000020004" pitchFamily="50" charset="-127"/>
                <a:ea typeface="맑은 고딕" panose="020B0503020000020004" pitchFamily="50" charset="-127"/>
              </a:rPr>
              <a:t>3</a:t>
            </a:r>
          </a:p>
        </p:txBody>
      </p:sp>
      <p:sp>
        <p:nvSpPr>
          <p:cNvPr id="15" name="Text 12"/>
          <p:cNvSpPr txBox="1"/>
          <p:nvPr/>
        </p:nvSpPr>
        <p:spPr>
          <a:xfrm>
            <a:off x="7891272" y="2615184"/>
            <a:ext cx="960120" cy="320040"/>
          </a:xfrm>
          <a:prstGeom prst="rect">
            <a:avLst/>
          </a:prstGeom>
          <a:noFill/>
          <a:ln/>
        </p:spPr>
        <p:txBody>
          <a:bodyPr wrap="square" lIns="0" tIns="0" rIns="0" bIns="0" rtlCol="0" anchor="t"/>
          <a:lstStyle/>
          <a:p>
            <a:pPr marL="0" indent="0">
              <a:buNone/>
            </a:pPr>
            <a:r>
              <a:rPr lang="ko-KR" altLang="en-US" sz="1200" b="1" dirty="0">
                <a:solidFill>
                  <a:srgbClr val="C8412E"/>
                </a:solidFill>
                <a:latin typeface="맑은 고딕" panose="020B0503020000020004" pitchFamily="50" charset="-127"/>
                <a:ea typeface="맑은 고딕" panose="020B0503020000020004" pitchFamily="50" charset="-127"/>
                <a:cs typeface="맑은 고딕" pitchFamily="34" charset="-120"/>
              </a:rPr>
              <a:t>10.21</a:t>
            </a:r>
            <a:endParaRPr lang="ko-KR" altLang="en-US" sz="1200" dirty="0"/>
          </a:p>
        </p:txBody>
      </p:sp>
      <p:sp>
        <p:nvSpPr>
          <p:cNvPr id="16" name="Text 13"/>
          <p:cNvSpPr txBox="1"/>
          <p:nvPr/>
        </p:nvSpPr>
        <p:spPr>
          <a:xfrm>
            <a:off x="8869680" y="2615184"/>
            <a:ext cx="2788920" cy="320040"/>
          </a:xfrm>
          <a:prstGeom prst="rect">
            <a:avLst/>
          </a:prstGeom>
          <a:noFill/>
          <a:ln/>
        </p:spPr>
        <p:txBody>
          <a:bodyPr wrap="square" lIns="0" tIns="0" rIns="0" bIns="0" rtlCol="0" anchor="t"/>
          <a:lstStyle/>
          <a:p>
            <a:pPr marL="0" indent="0">
              <a:buNone/>
            </a:pPr>
            <a:r>
              <a:rPr lang="ko-KR" altLang="en-US" sz="1250" b="1" dirty="0">
                <a:solidFill>
                  <a:srgbClr val="1F2A36"/>
                </a:solidFill>
                <a:latin typeface="맑은 고딕" panose="020B0503020000020004" pitchFamily="50" charset="-127"/>
                <a:ea typeface="맑은 고딕" panose="020B0503020000020004" pitchFamily="50" charset="-127"/>
                <a:cs typeface="맑은 고딕" pitchFamily="34" charset="-120"/>
              </a:rPr>
              <a:t>CP − CD 이탈 (23일 뒤)</a:t>
            </a:r>
            <a:endParaRPr lang="ko-KR" altLang="en-US" sz="1250" dirty="0"/>
          </a:p>
        </p:txBody>
      </p:sp>
      <p:sp>
        <p:nvSpPr>
          <p:cNvPr id="17" name="Text 14"/>
          <p:cNvSpPr txBox="1"/>
          <p:nvPr/>
        </p:nvSpPr>
        <p:spPr>
          <a:xfrm>
            <a:off x="8869680" y="2916936"/>
            <a:ext cx="2788920" cy="301752"/>
          </a:xfrm>
          <a:prstGeom prst="rect">
            <a:avLst/>
          </a:prstGeom>
          <a:noFill/>
          <a:ln/>
        </p:spPr>
        <p:txBody>
          <a:bodyPr wrap="square" lIns="0" tIns="0" rIns="0" bIns="0" rtlCol="0" anchor="t"/>
          <a:lstStyle/>
          <a:p>
            <a:pPr marL="0" indent="0">
              <a:buNone/>
            </a:pPr>
            <a:r>
              <a:rPr lang="ko-KR" altLang="en-US" sz="1050" dirty="0">
                <a:solidFill>
                  <a:srgbClr val="5B6B7A"/>
                </a:solidFill>
                <a:latin typeface="맑은 고딕" panose="020B0503020000020004" pitchFamily="50" charset="-127"/>
                <a:ea typeface="맑은 고딕" panose="020B0503020000020004" pitchFamily="50" charset="-127"/>
                <a:cs typeface="맑은 고딕" pitchFamily="34" charset="-120"/>
              </a:rPr>
              <a:t>15영업일 · 금리 기대를 뺀 신용 불안</a:t>
            </a:r>
            <a:endParaRPr lang="ko-KR" altLang="en-US" sz="1050" dirty="0"/>
          </a:p>
        </p:txBody>
      </p:sp>
      <p:sp>
        <p:nvSpPr>
          <p:cNvPr id="18" name="Shape 15"/>
          <p:cNvSpPr/>
          <p:nvPr/>
        </p:nvSpPr>
        <p:spPr>
          <a:xfrm>
            <a:off x="7511796" y="3323844"/>
            <a:ext cx="265176" cy="265176"/>
          </a:xfrm>
          <a:prstGeom prst="ellipse">
            <a:avLst/>
          </a:prstGeom>
          <a:solidFill>
            <a:srgbClr val="C8412E"/>
          </a:solidFill>
          <a:ln w="19050">
            <a:solidFill>
              <a:srgbClr val="FFFFFF"/>
            </a:solidFill>
            <a:prstDash val="solid"/>
          </a:ln>
        </p:spPr>
        <p:txBody>
          <a:bodyPr wrap="none" lIns="0" tIns="0" rIns="0" bIns="0" anchor="ctr" rtlCol="0"/>
          <a:lstStyle/>
          <a:p>
            <a:pPr algn="ctr"/>
            <a:r>
              <a:rPr lang="ko-KR" altLang="en-US" sz="1000" b="1">
                <a:solidFill>
                  <a:srgbClr val="FFFFFF"/>
                </a:solidFill>
                <a:latin typeface="맑은 고딕" panose="020B0503020000020004" pitchFamily="50" charset="-127"/>
                <a:ea typeface="맑은 고딕" panose="020B0503020000020004" pitchFamily="50" charset="-127"/>
              </a:rPr>
              <a:t>4</a:t>
            </a:r>
          </a:p>
        </p:txBody>
      </p:sp>
      <p:sp>
        <p:nvSpPr>
          <p:cNvPr id="19" name="Text 16"/>
          <p:cNvSpPr txBox="1"/>
          <p:nvPr/>
        </p:nvSpPr>
        <p:spPr>
          <a:xfrm>
            <a:off x="7891272" y="3282696"/>
            <a:ext cx="960120" cy="320040"/>
          </a:xfrm>
          <a:prstGeom prst="rect">
            <a:avLst/>
          </a:prstGeom>
          <a:noFill/>
          <a:ln/>
        </p:spPr>
        <p:txBody>
          <a:bodyPr wrap="square" lIns="0" tIns="0" rIns="0" bIns="0" rtlCol="0" anchor="t"/>
          <a:lstStyle/>
          <a:p>
            <a:pPr marL="0" indent="0">
              <a:buNone/>
            </a:pPr>
            <a:r>
              <a:rPr lang="ko-KR" altLang="en-US" sz="1200" b="1" dirty="0">
                <a:solidFill>
                  <a:srgbClr val="C8412E"/>
                </a:solidFill>
                <a:latin typeface="맑은 고딕" panose="020B0503020000020004" pitchFamily="50" charset="-127"/>
                <a:ea typeface="맑은 고딕" panose="020B0503020000020004" pitchFamily="50" charset="-127"/>
                <a:cs typeface="맑은 고딕" pitchFamily="34" charset="-120"/>
              </a:rPr>
              <a:t>10.23~</a:t>
            </a:r>
            <a:endParaRPr lang="ko-KR" altLang="en-US" sz="1200" dirty="0"/>
          </a:p>
        </p:txBody>
      </p:sp>
      <p:sp>
        <p:nvSpPr>
          <p:cNvPr id="20" name="Text 17"/>
          <p:cNvSpPr txBox="1"/>
          <p:nvPr/>
        </p:nvSpPr>
        <p:spPr>
          <a:xfrm>
            <a:off x="8869680" y="3282696"/>
            <a:ext cx="2788920" cy="320040"/>
          </a:xfrm>
          <a:prstGeom prst="rect">
            <a:avLst/>
          </a:prstGeom>
          <a:noFill/>
          <a:ln/>
        </p:spPr>
        <p:txBody>
          <a:bodyPr wrap="square" lIns="0" tIns="0" rIns="0" bIns="0" rtlCol="0" anchor="t"/>
          <a:lstStyle/>
          <a:p>
            <a:pPr marL="0" indent="0">
              <a:buNone/>
            </a:pPr>
            <a:r>
              <a:rPr lang="ko-KR" altLang="en-US" sz="1250" b="1" dirty="0">
                <a:solidFill>
                  <a:srgbClr val="1F2A36"/>
                </a:solidFill>
                <a:latin typeface="맑은 고딕" panose="020B0503020000020004" pitchFamily="50" charset="-127"/>
                <a:ea typeface="맑은 고딕" panose="020B0503020000020004" pitchFamily="50" charset="-127"/>
                <a:cs typeface="맑은 고딕" pitchFamily="34" charset="-120"/>
              </a:rPr>
              <a:t>50조원+α 대책 직후에도</a:t>
            </a:r>
            <a:endParaRPr lang="ko-KR" altLang="en-US" sz="1250" dirty="0"/>
          </a:p>
        </p:txBody>
      </p:sp>
      <p:sp>
        <p:nvSpPr>
          <p:cNvPr id="21" name="Text 18"/>
          <p:cNvSpPr txBox="1"/>
          <p:nvPr/>
        </p:nvSpPr>
        <p:spPr>
          <a:xfrm>
            <a:off x="8869680" y="3584448"/>
            <a:ext cx="2788920" cy="301752"/>
          </a:xfrm>
          <a:prstGeom prst="rect">
            <a:avLst/>
          </a:prstGeom>
          <a:noFill/>
          <a:ln/>
        </p:spPr>
        <p:txBody>
          <a:bodyPr wrap="square" lIns="0" tIns="0" rIns="0" bIns="0" rtlCol="0" anchor="t"/>
          <a:lstStyle/>
          <a:p>
            <a:pPr marL="0" indent="0">
              <a:buNone/>
            </a:pPr>
            <a:r>
              <a:rPr lang="ko-KR" altLang="en-US" sz="1050" dirty="0">
                <a:solidFill>
                  <a:srgbClr val="5B6B7A"/>
                </a:solidFill>
                <a:latin typeface="맑은 고딕" panose="020B0503020000020004" pitchFamily="50" charset="-127"/>
                <a:ea typeface="맑은 고딕" panose="020B0503020000020004" pitchFamily="50" charset="-127"/>
                <a:cs typeface="맑은 고딕" pitchFamily="34" charset="-120"/>
              </a:rPr>
              <a:t>CP − CD +34bp 추가 확대</a:t>
            </a:r>
            <a:endParaRPr lang="ko-KR" altLang="en-US" sz="1050" dirty="0"/>
          </a:p>
        </p:txBody>
      </p:sp>
      <p:sp>
        <p:nvSpPr>
          <p:cNvPr id="22" name="Shape 19"/>
          <p:cNvSpPr/>
          <p:nvPr/>
        </p:nvSpPr>
        <p:spPr>
          <a:xfrm>
            <a:off x="7511796" y="3991356"/>
            <a:ext cx="265176" cy="265176"/>
          </a:xfrm>
          <a:prstGeom prst="ellipse">
            <a:avLst/>
          </a:prstGeom>
          <a:solidFill>
            <a:srgbClr val="C8412E"/>
          </a:solidFill>
          <a:ln w="19050">
            <a:solidFill>
              <a:srgbClr val="FFFFFF"/>
            </a:solidFill>
            <a:prstDash val="solid"/>
          </a:ln>
        </p:spPr>
        <p:txBody>
          <a:bodyPr wrap="none" lIns="0" tIns="0" rIns="0" bIns="0" anchor="ctr" rtlCol="0"/>
          <a:lstStyle/>
          <a:p>
            <a:pPr algn="ctr"/>
            <a:r>
              <a:rPr lang="ko-KR" altLang="en-US" sz="1000" b="1">
                <a:solidFill>
                  <a:srgbClr val="FFFFFF"/>
                </a:solidFill>
                <a:latin typeface="맑은 고딕" panose="020B0503020000020004" pitchFamily="50" charset="-127"/>
                <a:ea typeface="맑은 고딕" panose="020B0503020000020004" pitchFamily="50" charset="-127"/>
              </a:rPr>
              <a:t>5</a:t>
            </a:r>
          </a:p>
        </p:txBody>
      </p:sp>
      <p:sp>
        <p:nvSpPr>
          <p:cNvPr id="23" name="Text 20"/>
          <p:cNvSpPr txBox="1"/>
          <p:nvPr/>
        </p:nvSpPr>
        <p:spPr>
          <a:xfrm>
            <a:off x="7891272" y="3950208"/>
            <a:ext cx="960120" cy="320040"/>
          </a:xfrm>
          <a:prstGeom prst="rect">
            <a:avLst/>
          </a:prstGeom>
          <a:noFill/>
          <a:ln/>
        </p:spPr>
        <p:txBody>
          <a:bodyPr wrap="square" lIns="0" tIns="0" rIns="0" bIns="0" rtlCol="0" anchor="t"/>
          <a:lstStyle/>
          <a:p>
            <a:pPr marL="0" indent="0">
              <a:buNone/>
            </a:pPr>
            <a:r>
              <a:rPr lang="ko-KR" altLang="en-US" sz="1200" b="1" dirty="0">
                <a:solidFill>
                  <a:srgbClr val="C8412E"/>
                </a:solidFill>
                <a:latin typeface="맑은 고딕" panose="020B0503020000020004" pitchFamily="50" charset="-127"/>
                <a:ea typeface="맑은 고딕" panose="020B0503020000020004" pitchFamily="50" charset="-127"/>
                <a:cs typeface="맑은 고딕" pitchFamily="34" charset="-120"/>
              </a:rPr>
              <a:t>12.01</a:t>
            </a:r>
            <a:endParaRPr lang="ko-KR" altLang="en-US" sz="1200" dirty="0"/>
          </a:p>
        </p:txBody>
      </p:sp>
      <p:sp>
        <p:nvSpPr>
          <p:cNvPr id="24" name="Text 21"/>
          <p:cNvSpPr txBox="1"/>
          <p:nvPr/>
        </p:nvSpPr>
        <p:spPr>
          <a:xfrm>
            <a:off x="8869680" y="3950208"/>
            <a:ext cx="2788920" cy="320040"/>
          </a:xfrm>
          <a:prstGeom prst="rect">
            <a:avLst/>
          </a:prstGeom>
          <a:noFill/>
          <a:ln/>
        </p:spPr>
        <p:txBody>
          <a:bodyPr wrap="square" lIns="0" tIns="0" rIns="0" bIns="0" rtlCol="0" anchor="t"/>
          <a:lstStyle/>
          <a:p>
            <a:pPr marL="0" indent="0">
              <a:buNone/>
            </a:pPr>
            <a:r>
              <a:rPr lang="ko-KR" altLang="en-US" sz="1250" b="1" dirty="0">
                <a:solidFill>
                  <a:srgbClr val="1F2A36"/>
                </a:solidFill>
                <a:latin typeface="맑은 고딕" panose="020B0503020000020004" pitchFamily="50" charset="-127"/>
                <a:ea typeface="맑은 고딕" panose="020B0503020000020004" pitchFamily="50" charset="-127"/>
                <a:cs typeface="맑은 고딕" pitchFamily="34" charset="-120"/>
              </a:rPr>
              <a:t>CP − CD 정점 159bp</a:t>
            </a:r>
            <a:endParaRPr lang="ko-KR" altLang="en-US" sz="1250" dirty="0"/>
          </a:p>
        </p:txBody>
      </p:sp>
      <p:sp>
        <p:nvSpPr>
          <p:cNvPr id="25" name="Text 22"/>
          <p:cNvSpPr txBox="1"/>
          <p:nvPr/>
        </p:nvSpPr>
        <p:spPr>
          <a:xfrm>
            <a:off x="8869680" y="4251960"/>
            <a:ext cx="2788920" cy="301752"/>
          </a:xfrm>
          <a:prstGeom prst="rect">
            <a:avLst/>
          </a:prstGeom>
          <a:noFill/>
          <a:ln/>
        </p:spPr>
        <p:txBody>
          <a:bodyPr wrap="square" lIns="0" tIns="0" rIns="0" bIns="0" rtlCol="0" anchor="t"/>
          <a:lstStyle/>
          <a:p>
            <a:pPr marL="0" indent="0">
              <a:buNone/>
            </a:pPr>
            <a:r>
              <a:rPr lang="ko-KR" altLang="en-US" sz="1050" dirty="0">
                <a:solidFill>
                  <a:srgbClr val="5B6B7A"/>
                </a:solidFill>
                <a:latin typeface="맑은 고딕" panose="020B0503020000020004" pitchFamily="50" charset="-127"/>
                <a:ea typeface="맑은 고딕" panose="020B0503020000020004" pitchFamily="50" charset="-127"/>
                <a:cs typeface="맑은 고딕" pitchFamily="34" charset="-120"/>
              </a:rPr>
              <a:t>CP 금리 49영업일 연속 상승</a:t>
            </a:r>
            <a:endParaRPr lang="ko-KR" altLang="en-US" sz="1050" dirty="0"/>
          </a:p>
        </p:txBody>
      </p:sp>
      <p:sp>
        <p:nvSpPr>
          <p:cNvPr id="26" name="Shape 23"/>
          <p:cNvSpPr/>
          <p:nvPr/>
        </p:nvSpPr>
        <p:spPr>
          <a:xfrm>
            <a:off x="7511796" y="4658868"/>
            <a:ext cx="265176" cy="265176"/>
          </a:xfrm>
          <a:prstGeom prst="ellipse">
            <a:avLst/>
          </a:prstGeom>
          <a:solidFill>
            <a:srgbClr val="14304A"/>
          </a:solidFill>
          <a:ln w="19050">
            <a:solidFill>
              <a:srgbClr val="FFFFFF"/>
            </a:solidFill>
            <a:prstDash val="solid"/>
          </a:ln>
        </p:spPr>
        <p:txBody>
          <a:bodyPr wrap="none" lIns="0" tIns="0" rIns="0" bIns="0" anchor="ctr" rtlCol="0"/>
          <a:lstStyle/>
          <a:p>
            <a:pPr algn="ctr"/>
            <a:r>
              <a:rPr lang="ko-KR" altLang="en-US" sz="1000" b="1">
                <a:solidFill>
                  <a:srgbClr val="FFFFFF"/>
                </a:solidFill>
                <a:latin typeface="맑은 고딕" panose="020B0503020000020004" pitchFamily="50" charset="-127"/>
                <a:ea typeface="맑은 고딕" panose="020B0503020000020004" pitchFamily="50" charset="-127"/>
              </a:rPr>
              <a:t>6</a:t>
            </a:r>
          </a:p>
        </p:txBody>
      </p:sp>
      <p:sp>
        <p:nvSpPr>
          <p:cNvPr id="27" name="Text 24"/>
          <p:cNvSpPr txBox="1"/>
          <p:nvPr/>
        </p:nvSpPr>
        <p:spPr>
          <a:xfrm>
            <a:off x="7891272" y="4617720"/>
            <a:ext cx="960120" cy="320040"/>
          </a:xfrm>
          <a:prstGeom prst="rect">
            <a:avLst/>
          </a:prstGeom>
          <a:noFill/>
          <a:ln/>
        </p:spPr>
        <p:txBody>
          <a:bodyPr wrap="square" lIns="0" tIns="0" rIns="0" bIns="0" rtlCol="0" anchor="t"/>
          <a:lstStyle/>
          <a:p>
            <a:pPr marL="0" indent="0">
              <a:buNone/>
            </a:pPr>
            <a:r>
              <a:rPr lang="ko-KR" altLang="en-US" sz="1200" b="1" dirty="0">
                <a:solidFill>
                  <a:srgbClr val="14304A"/>
                </a:solidFill>
                <a:latin typeface="맑은 고딕" panose="020B0503020000020004" pitchFamily="50" charset="-127"/>
                <a:ea typeface="맑은 고딕" panose="020B0503020000020004" pitchFamily="50" charset="-127"/>
                <a:cs typeface="맑은 고딕" pitchFamily="34" charset="-120"/>
              </a:rPr>
              <a:t>23.01.30</a:t>
            </a:r>
            <a:endParaRPr lang="ko-KR" altLang="en-US" sz="1200" dirty="0"/>
          </a:p>
        </p:txBody>
      </p:sp>
      <p:sp>
        <p:nvSpPr>
          <p:cNvPr id="28" name="Text 25"/>
          <p:cNvSpPr txBox="1"/>
          <p:nvPr/>
        </p:nvSpPr>
        <p:spPr>
          <a:xfrm>
            <a:off x="8869680" y="4617720"/>
            <a:ext cx="2788920" cy="320040"/>
          </a:xfrm>
          <a:prstGeom prst="rect">
            <a:avLst/>
          </a:prstGeom>
          <a:noFill/>
          <a:ln/>
        </p:spPr>
        <p:txBody>
          <a:bodyPr wrap="square" lIns="0" tIns="0" rIns="0" bIns="0" rtlCol="0" anchor="t"/>
          <a:lstStyle/>
          <a:p>
            <a:pPr marL="0" indent="0">
              <a:buNone/>
            </a:pPr>
            <a:r>
              <a:rPr lang="ko-KR" altLang="en-US" sz="1250" b="1" dirty="0">
                <a:solidFill>
                  <a:srgbClr val="1F2A36"/>
                </a:solidFill>
                <a:latin typeface="맑은 고딕" panose="020B0503020000020004" pitchFamily="50" charset="-127"/>
                <a:ea typeface="맑은 고딕" panose="020B0503020000020004" pitchFamily="50" charset="-127"/>
                <a:cs typeface="맑은 고딕" pitchFamily="34" charset="-120"/>
              </a:rPr>
              <a:t>AA− 사건 직전 범위 복귀</a:t>
            </a:r>
            <a:endParaRPr lang="ko-KR" altLang="en-US" sz="1250" dirty="0"/>
          </a:p>
        </p:txBody>
      </p:sp>
      <p:sp>
        <p:nvSpPr>
          <p:cNvPr id="29" name="Text 26"/>
          <p:cNvSpPr txBox="1"/>
          <p:nvPr/>
        </p:nvSpPr>
        <p:spPr>
          <a:xfrm>
            <a:off x="8869680" y="4919472"/>
            <a:ext cx="2788920" cy="301752"/>
          </a:xfrm>
          <a:prstGeom prst="rect">
            <a:avLst/>
          </a:prstGeom>
          <a:noFill/>
          <a:ln/>
        </p:spPr>
        <p:txBody>
          <a:bodyPr wrap="square" lIns="0" tIns="0" rIns="0" bIns="0" rtlCol="0" anchor="t"/>
          <a:lstStyle/>
          <a:p>
            <a:pPr marL="0" indent="0">
              <a:buNone/>
            </a:pPr>
            <a:r>
              <a:rPr lang="ko-KR" altLang="en-US" sz="1050" dirty="0">
                <a:solidFill>
                  <a:srgbClr val="5B6B7A"/>
                </a:solidFill>
                <a:latin typeface="맑은 고딕" panose="020B0503020000020004" pitchFamily="50" charset="-127"/>
                <a:ea typeface="맑은 고딕" panose="020B0503020000020004" pitchFamily="50" charset="-127"/>
                <a:cs typeface="맑은 고딕" pitchFamily="34" charset="-120"/>
              </a:rPr>
              <a:t>5영업일 연속 기준</a:t>
            </a:r>
            <a:endParaRPr lang="ko-KR" altLang="en-US" sz="1050" dirty="0"/>
          </a:p>
        </p:txBody>
      </p:sp>
      <p:sp>
        <p:nvSpPr>
          <p:cNvPr id="30" name="Shape 27"/>
          <p:cNvSpPr/>
          <p:nvPr/>
        </p:nvSpPr>
        <p:spPr>
          <a:xfrm>
            <a:off x="7511796" y="5326380"/>
            <a:ext cx="265176" cy="265176"/>
          </a:xfrm>
          <a:prstGeom prst="ellipse">
            <a:avLst/>
          </a:prstGeom>
          <a:solidFill>
            <a:srgbClr val="C8412E"/>
          </a:solidFill>
          <a:ln w="19050">
            <a:solidFill>
              <a:srgbClr val="FFFFFF"/>
            </a:solidFill>
            <a:prstDash val="solid"/>
          </a:ln>
        </p:spPr>
        <p:txBody>
          <a:bodyPr wrap="none" lIns="0" tIns="0" rIns="0" bIns="0" anchor="ctr" rtlCol="0"/>
          <a:lstStyle/>
          <a:p>
            <a:pPr algn="ctr"/>
            <a:r>
              <a:rPr lang="ko-KR" altLang="en-US" sz="1000" b="1">
                <a:solidFill>
                  <a:srgbClr val="FFFFFF"/>
                </a:solidFill>
                <a:latin typeface="맑은 고딕" panose="020B0503020000020004" pitchFamily="50" charset="-127"/>
                <a:ea typeface="맑은 고딕" panose="020B0503020000020004" pitchFamily="50" charset="-127"/>
              </a:rPr>
              <a:t>7</a:t>
            </a:r>
          </a:p>
        </p:txBody>
      </p:sp>
      <p:sp>
        <p:nvSpPr>
          <p:cNvPr id="31" name="Text 28"/>
          <p:cNvSpPr txBox="1"/>
          <p:nvPr/>
        </p:nvSpPr>
        <p:spPr>
          <a:xfrm>
            <a:off x="7891272" y="5285232"/>
            <a:ext cx="960120" cy="320040"/>
          </a:xfrm>
          <a:prstGeom prst="rect">
            <a:avLst/>
          </a:prstGeom>
          <a:noFill/>
          <a:ln/>
        </p:spPr>
        <p:txBody>
          <a:bodyPr wrap="square" lIns="0" tIns="0" rIns="0" bIns="0" rtlCol="0" anchor="t"/>
          <a:lstStyle/>
          <a:p>
            <a:pPr marL="0" indent="0">
              <a:buNone/>
            </a:pPr>
            <a:r>
              <a:rPr lang="ko-KR" altLang="en-US" sz="1200" b="1" dirty="0">
                <a:solidFill>
                  <a:srgbClr val="C8412E"/>
                </a:solidFill>
                <a:latin typeface="맑은 고딕" panose="020B0503020000020004" pitchFamily="50" charset="-127"/>
                <a:ea typeface="맑은 고딕" panose="020B0503020000020004" pitchFamily="50" charset="-127"/>
                <a:cs typeface="맑은 고딕" pitchFamily="34" charset="-120"/>
              </a:rPr>
              <a:t>23.05.24</a:t>
            </a:r>
            <a:endParaRPr lang="ko-KR" altLang="en-US" sz="1200" dirty="0"/>
          </a:p>
        </p:txBody>
      </p:sp>
      <p:sp>
        <p:nvSpPr>
          <p:cNvPr id="32" name="Text 29"/>
          <p:cNvSpPr txBox="1"/>
          <p:nvPr/>
        </p:nvSpPr>
        <p:spPr>
          <a:xfrm>
            <a:off x="8869680" y="5285232"/>
            <a:ext cx="2788920" cy="320040"/>
          </a:xfrm>
          <a:prstGeom prst="rect">
            <a:avLst/>
          </a:prstGeom>
          <a:noFill/>
          <a:ln/>
        </p:spPr>
        <p:txBody>
          <a:bodyPr wrap="square" lIns="0" tIns="0" rIns="0" bIns="0" rtlCol="0" anchor="t"/>
          <a:lstStyle/>
          <a:p>
            <a:pPr marL="0" indent="0">
              <a:buNone/>
            </a:pPr>
            <a:r>
              <a:rPr lang="ko-KR" altLang="en-US" sz="1250" b="1" dirty="0">
                <a:solidFill>
                  <a:srgbClr val="1F2A36"/>
                </a:solidFill>
                <a:latin typeface="맑은 고딕" panose="020B0503020000020004" pitchFamily="50" charset="-127"/>
                <a:ea typeface="맑은 고딕" panose="020B0503020000020004" pitchFamily="50" charset="-127"/>
                <a:cs typeface="맑은 고딕" pitchFamily="34" charset="-120"/>
              </a:rPr>
              <a:t>CP − CD 복귀</a:t>
            </a:r>
            <a:endParaRPr lang="ko-KR" altLang="en-US" sz="1250" dirty="0"/>
          </a:p>
        </p:txBody>
      </p:sp>
      <p:sp>
        <p:nvSpPr>
          <p:cNvPr id="33" name="Text 30"/>
          <p:cNvSpPr txBox="1"/>
          <p:nvPr/>
        </p:nvSpPr>
        <p:spPr>
          <a:xfrm>
            <a:off x="8869680" y="5586984"/>
            <a:ext cx="2788920" cy="301752"/>
          </a:xfrm>
          <a:prstGeom prst="rect">
            <a:avLst/>
          </a:prstGeom>
          <a:noFill/>
          <a:ln/>
        </p:spPr>
        <p:txBody>
          <a:bodyPr wrap="square" lIns="0" tIns="0" rIns="0" bIns="0" rtlCol="0" anchor="t"/>
          <a:lstStyle/>
          <a:p>
            <a:pPr marL="0" indent="0">
              <a:buNone/>
            </a:pPr>
            <a:r>
              <a:rPr lang="ko-KR" altLang="en-US" sz="1050" dirty="0">
                <a:solidFill>
                  <a:srgbClr val="5B6B7A"/>
                </a:solidFill>
                <a:latin typeface="맑은 고딕" panose="020B0503020000020004" pitchFamily="50" charset="-127"/>
                <a:ea typeface="맑은 고딕" panose="020B0503020000020004" pitchFamily="50" charset="-127"/>
                <a:cs typeface="맑은 고딕" pitchFamily="34" charset="-120"/>
              </a:rPr>
              <a:t>AA−보다 약 4개월 늦게</a:t>
            </a:r>
            <a:endParaRPr lang="ko-KR" altLang="en-US" sz="1050" dirty="0"/>
          </a:p>
        </p:txBody>
      </p:sp>
      <p:sp>
        <p:nvSpPr>
          <p:cNvPr id="34" name="Text 31"/>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출처: 한국은행 ECOS(817Y002 시장금리 일별)  |  사건 직전 범위 = 22.07.01–09.27 평균 + 2σ (계기판 기준과 다름)  |  CP·CD − 기준금리는 금리 인상 기대가 섞여 근거에서 제외</a:t>
            </a:r>
            <a:endParaRPr lang="ko-KR" altLang="en-US" sz="900" dirty="0"/>
          </a:p>
        </p:txBody>
      </p:sp>
      <p:sp>
        <p:nvSpPr>
          <p:cNvPr id="35" name="Text 32"/>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11</a:t>
            </a:r>
            <a:endParaRPr lang="ko-KR" alt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C8412E"/>
          </a:solidFill>
          <a:ln w="12700">
            <a:solidFill>
              <a:srgbClr val="C8412E"/>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ko-KR" altLang="en-US" sz="1600" b="1" dirty="0">
                <a:solidFill>
                  <a:srgbClr val="FFFFFF"/>
                </a:solidFill>
                <a:latin typeface="맑은 고딕" panose="020B0503020000020004" pitchFamily="50" charset="-127"/>
                <a:ea typeface="맑은 고딕" panose="020B0503020000020004" pitchFamily="50" charset="-127"/>
                <a:cs typeface="맑은 고딕" pitchFamily="34" charset="-120"/>
              </a:rPr>
              <a:t>Q4</a:t>
            </a:r>
            <a:endParaRPr lang="ko-KR" altLang="en-US" sz="1600" dirty="0"/>
          </a:p>
        </p:txBody>
      </p:sp>
      <p:sp>
        <p:nvSpPr>
          <p:cNvPr id="4" name="Text 2"/>
          <p:cNvSpPr txBox="1"/>
          <p:nvPr/>
        </p:nvSpPr>
        <p:spPr>
          <a:xfrm>
            <a:off x="1298448" y="384048"/>
            <a:ext cx="10344607"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스프레드 계기판: 과거 기준으로 지금을 판정한다</a:t>
            </a:r>
            <a:endParaRPr lang="ko-KR" altLang="en-US" sz="2800" dirty="0"/>
          </a:p>
        </p:txBody>
      </p:sp>
      <p:pic>
        <p:nvPicPr>
          <p:cNvPr id="5" name="Image 0" descr="/tmp/claude-0/-home-claude/c0a18938-3191-585a-a421-daa9130c6a79/scratchpad/ppt/spread_gauge.png"/>
          <p:cNvPicPr>
            <a:picLocks noChangeAspect="1"/>
          </p:cNvPicPr>
          <p:nvPr/>
        </p:nvPicPr>
        <p:blipFill>
          <a:blip r:embed="rId3"/>
          <a:stretch>
            <a:fillRect/>
          </a:stretch>
        </p:blipFill>
        <p:spPr>
          <a:xfrm>
            <a:off x="548640" y="1143000"/>
            <a:ext cx="11094415" cy="2440771"/>
          </a:xfrm>
          <a:prstGeom prst="rect">
            <a:avLst/>
          </a:prstGeom>
        </p:spPr>
      </p:pic>
      <p:sp>
        <p:nvSpPr>
          <p:cNvPr id="6" name="Shape 3"/>
          <p:cNvSpPr/>
          <p:nvPr/>
        </p:nvSpPr>
        <p:spPr>
          <a:xfrm>
            <a:off x="548640" y="3840480"/>
            <a:ext cx="3515258" cy="2240280"/>
          </a:xfrm>
          <a:prstGeom prst="roundRect">
            <a:avLst>
              <a:gd name="adj" fmla="val 3265"/>
            </a:avLst>
          </a:prstGeom>
          <a:solidFill>
            <a:srgbClr val="F6F8FA"/>
          </a:solidFill>
          <a:ln w="9525">
            <a:solidFill>
              <a:srgbClr val="D5DEE7"/>
            </a:solidFill>
            <a:prstDash val="solid"/>
          </a:ln>
        </p:spPr>
      </p:sp>
      <p:sp>
        <p:nvSpPr>
          <p:cNvPr id="7" name="Text 4"/>
          <p:cNvSpPr txBox="1"/>
          <p:nvPr/>
        </p:nvSpPr>
        <p:spPr>
          <a:xfrm>
            <a:off x="822960" y="4069080"/>
            <a:ext cx="2966618" cy="411480"/>
          </a:xfrm>
          <a:prstGeom prst="rect">
            <a:avLst/>
          </a:prstGeom>
          <a:noFill/>
          <a:ln/>
        </p:spPr>
        <p:txBody>
          <a:bodyPr wrap="square" lIns="0" tIns="0" rIns="0" bIns="0" rtlCol="0" anchor="t"/>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기준값은 분석 기간 밖에서</a:t>
            </a:r>
            <a:endParaRPr lang="ko-KR" altLang="en-US" sz="1600" dirty="0"/>
          </a:p>
        </p:txBody>
      </p:sp>
      <p:sp>
        <p:nvSpPr>
          <p:cNvPr id="8" name="Text 5"/>
          <p:cNvSpPr txBox="1"/>
          <p:nvPr/>
        </p:nvSpPr>
        <p:spPr>
          <a:xfrm>
            <a:off x="822960" y="4572000"/>
            <a:ext cx="2966618" cy="1371600"/>
          </a:xfrm>
          <a:prstGeom prst="rect">
            <a:avLst/>
          </a:prstGeom>
          <a:noFill/>
          <a:ln/>
        </p:spPr>
        <p:txBody>
          <a:bodyPr wrap="square" lIns="0" tIns="0" rIns="0" bIns="0" rtlCol="0" anchor="t"/>
          <a:lstStyle/>
          <a:p>
            <a:pPr marL="0" indent="0">
              <a:spcAft>
                <a:spcPts val="400"/>
              </a:spcAft>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2019–21년 36개월 평균 45.9bp, 표준편차 13.4bp</a:t>
            </a:r>
            <a:endParaRPr lang="ko-KR" altLang="en-US" sz="1300" dirty="0"/>
          </a:p>
          <a:p>
            <a:pPr marL="0" indent="0">
              <a:spcAft>
                <a:spcPts val="400"/>
              </a:spcAft>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평온 ≤ 평균+2σ = 72.7bp</a:t>
            </a:r>
            <a:endParaRPr lang="ko-KR" altLang="en-US" sz="1300" dirty="0"/>
          </a:p>
          <a:p>
            <a:pPr marL="0" indent="0">
              <a:spcAft>
                <a:spcPts val="400"/>
              </a:spcAft>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경색 &gt; 평균+4σ = 99.5bp</a:t>
            </a:r>
            <a:endParaRPr lang="ko-KR" altLang="en-US" sz="1300" dirty="0"/>
          </a:p>
        </p:txBody>
      </p:sp>
      <p:sp>
        <p:nvSpPr>
          <p:cNvPr id="9" name="Shape 6"/>
          <p:cNvSpPr/>
          <p:nvPr/>
        </p:nvSpPr>
        <p:spPr>
          <a:xfrm>
            <a:off x="4338218" y="3840480"/>
            <a:ext cx="3515258" cy="2240280"/>
          </a:xfrm>
          <a:prstGeom prst="roundRect">
            <a:avLst>
              <a:gd name="adj" fmla="val 3265"/>
            </a:avLst>
          </a:prstGeom>
          <a:solidFill>
            <a:srgbClr val="F6F8FA"/>
          </a:solidFill>
          <a:ln w="9525">
            <a:solidFill>
              <a:srgbClr val="D5DEE7"/>
            </a:solidFill>
            <a:prstDash val="solid"/>
          </a:ln>
        </p:spPr>
      </p:sp>
      <p:sp>
        <p:nvSpPr>
          <p:cNvPr id="10" name="Text 7"/>
          <p:cNvSpPr txBox="1"/>
          <p:nvPr/>
        </p:nvSpPr>
        <p:spPr>
          <a:xfrm>
            <a:off x="4612538" y="4069080"/>
            <a:ext cx="2966618" cy="411480"/>
          </a:xfrm>
          <a:prstGeom prst="rect">
            <a:avLst/>
          </a:prstGeom>
          <a:noFill/>
          <a:ln/>
        </p:spPr>
        <p:txBody>
          <a:bodyPr wrap="square" lIns="0" tIns="0" rIns="0" bIns="0" rtlCol="0" anchor="t"/>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2022–23년에 적용한 결과</a:t>
            </a:r>
            <a:endParaRPr lang="ko-KR" altLang="en-US" sz="1600" dirty="0"/>
          </a:p>
        </p:txBody>
      </p:sp>
      <p:sp>
        <p:nvSpPr>
          <p:cNvPr id="11" name="Text 8"/>
          <p:cNvSpPr txBox="1"/>
          <p:nvPr/>
        </p:nvSpPr>
        <p:spPr>
          <a:xfrm>
            <a:off x="4612538" y="4572000"/>
            <a:ext cx="2966618" cy="1371600"/>
          </a:xfrm>
          <a:prstGeom prst="rect">
            <a:avLst/>
          </a:prstGeom>
          <a:noFill/>
          <a:ln/>
        </p:spPr>
        <p:txBody>
          <a:bodyPr wrap="square" lIns="0" tIns="0" rIns="0" bIns="0" rtlCol="0" anchor="t"/>
          <a:lstStyle/>
          <a:p>
            <a:pPr marL="0" indent="0">
              <a:spcAft>
                <a:spcPts val="400"/>
              </a:spcAft>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경색 2022.09 ~ 2023.01 (5개월)</a:t>
            </a:r>
            <a:endParaRPr lang="ko-KR" altLang="en-US" sz="1300" dirty="0"/>
          </a:p>
          <a:p>
            <a:pPr marL="0" indent="0">
              <a:spcAft>
                <a:spcPts val="400"/>
              </a:spcAft>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평온 복귀 2023.03</a:t>
            </a:r>
            <a:endParaRPr lang="ko-KR" altLang="en-US" sz="1300" dirty="0"/>
          </a:p>
          <a:p>
            <a:pPr marL="0" indent="0">
              <a:spcAft>
                <a:spcPts val="400"/>
              </a:spcAft>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일별: 경색 진입 22.09.27, 평온 복귀 23.02.17</a:t>
            </a:r>
            <a:endParaRPr lang="ko-KR" altLang="en-US" sz="1300" dirty="0"/>
          </a:p>
          <a:p>
            <a:pPr marL="0" indent="0">
              <a:spcAft>
                <a:spcPts val="400"/>
              </a:spcAft>
              <a:buNone/>
            </a:pPr>
            <a:r>
              <a:rPr lang="ko-KR" altLang="en-US" sz="1300" dirty="0">
                <a:solidFill>
                  <a:srgbClr val="C0392B"/>
                </a:solidFill>
                <a:latin typeface="맑은 고딕" panose="020B0503020000020004" pitchFamily="50" charset="-127"/>
                <a:ea typeface="맑은 고딕" panose="020B0503020000020004" pitchFamily="50" charset="-127"/>
                <a:cs typeface="맑은 고딕" pitchFamily="34" charset="-120"/>
              </a:rPr>
              <a:t>※ 일별 경색 진입이 발표 전날 → 원인은 구분 못 하는 수준 지표</a:t>
            </a:r>
            <a:endParaRPr lang="ko-KR" altLang="en-US" sz="1300" dirty="0"/>
          </a:p>
        </p:txBody>
      </p:sp>
      <p:sp>
        <p:nvSpPr>
          <p:cNvPr id="12" name="Shape 9"/>
          <p:cNvSpPr/>
          <p:nvPr/>
        </p:nvSpPr>
        <p:spPr>
          <a:xfrm>
            <a:off x="8127797" y="3840480"/>
            <a:ext cx="3515258" cy="2240280"/>
          </a:xfrm>
          <a:prstGeom prst="roundRect">
            <a:avLst>
              <a:gd name="adj" fmla="val 3265"/>
            </a:avLst>
          </a:prstGeom>
          <a:solidFill>
            <a:srgbClr val="F6F8FA"/>
          </a:solidFill>
          <a:ln w="9525">
            <a:solidFill>
              <a:srgbClr val="D5DEE7"/>
            </a:solidFill>
            <a:prstDash val="solid"/>
          </a:ln>
        </p:spPr>
      </p:sp>
      <p:sp>
        <p:nvSpPr>
          <p:cNvPr id="13" name="Text 10"/>
          <p:cNvSpPr txBox="1"/>
          <p:nvPr/>
        </p:nvSpPr>
        <p:spPr>
          <a:xfrm>
            <a:off x="8402117" y="4069080"/>
            <a:ext cx="2966618" cy="411480"/>
          </a:xfrm>
          <a:prstGeom prst="rect">
            <a:avLst/>
          </a:prstGeom>
          <a:noFill/>
          <a:ln/>
        </p:spPr>
        <p:txBody>
          <a:bodyPr wrap="square" lIns="0" tIns="0" rIns="0" bIns="0" rtlCol="0" anchor="t"/>
          <a:lstStyle/>
          <a:p>
            <a:pPr marL="0" indent="0">
              <a:buNone/>
            </a:pPr>
            <a:r>
              <a:rPr lang="ko-KR" altLang="en-US" sz="1600" b="1" dirty="0">
                <a:solidFill>
                  <a:srgbClr val="14304A"/>
                </a:solidFill>
                <a:latin typeface="맑은 고딕" panose="020B0503020000020004" pitchFamily="50" charset="-127"/>
                <a:ea typeface="맑은 고딕" panose="020B0503020000020004" pitchFamily="50" charset="-127"/>
                <a:cs typeface="맑은 고딕" pitchFamily="34" charset="-120"/>
              </a:rPr>
              <a:t>기준을 바꿔도 결론 유지</a:t>
            </a:r>
            <a:endParaRPr lang="ko-KR" altLang="en-US" sz="1600" dirty="0"/>
          </a:p>
        </p:txBody>
      </p:sp>
      <p:sp>
        <p:nvSpPr>
          <p:cNvPr id="14" name="Text 11"/>
          <p:cNvSpPr txBox="1"/>
          <p:nvPr/>
        </p:nvSpPr>
        <p:spPr>
          <a:xfrm>
            <a:off x="8402117" y="4572000"/>
            <a:ext cx="2966618" cy="1371600"/>
          </a:xfrm>
          <a:prstGeom prst="rect">
            <a:avLst/>
          </a:prstGeom>
          <a:noFill/>
          <a:ln/>
        </p:spPr>
        <p:txBody>
          <a:bodyPr wrap="square" lIns="0" tIns="0" rIns="0" bIns="0" rtlCol="0" anchor="t"/>
          <a:lstStyle/>
          <a:p>
            <a:pPr marL="0" indent="0">
              <a:spcAft>
                <a:spcPts val="400"/>
              </a:spcAft>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경색 기준을 3σ · 4σ · 5σ로 바꿔도</a:t>
            </a:r>
            <a:endParaRPr lang="ko-KR" altLang="en-US" sz="1300" dirty="0"/>
          </a:p>
          <a:p>
            <a:pPr marL="0" indent="0">
              <a:spcAft>
                <a:spcPts val="400"/>
              </a:spcAft>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경색 시기(22년 하반기~23.01)와</a:t>
            </a:r>
            <a:endParaRPr lang="ko-KR" altLang="en-US" sz="1300" dirty="0"/>
          </a:p>
          <a:p>
            <a:pPr marL="0" indent="0">
              <a:spcAft>
                <a:spcPts val="400"/>
              </a:spcAft>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"경색 매수 초과수익 +" 결론이 같다</a:t>
            </a:r>
            <a:endParaRPr lang="ko-KR" altLang="en-US" sz="1300" dirty="0"/>
          </a:p>
        </p:txBody>
      </p:sp>
      <p:sp>
        <p:nvSpPr>
          <p:cNvPr id="15" name="Text 12"/>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gauge() · output/gauge_validation.csv · gauge_sensitivity.csv  |  기준값을 정한 기간과 검증 기간이 겹치지 않는다(표본 밖 기준)</a:t>
            </a:r>
            <a:endParaRPr lang="ko-KR" altLang="en-US" sz="900" dirty="0"/>
          </a:p>
        </p:txBody>
      </p:sp>
      <p:sp>
        <p:nvSpPr>
          <p:cNvPr id="16" name="Text 13"/>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12</a:t>
            </a:r>
            <a:endParaRPr lang="ko-KR" alt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C8412E"/>
          </a:solidFill>
          <a:ln w="12700">
            <a:solidFill>
              <a:srgbClr val="C8412E"/>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marL="0" indent="0" algn="ctr">
              <a:buNone/>
            </a:pPr>
            <a:r>
              <a:rPr lang="ko-KR" altLang="en-US" sz="1600" b="1" dirty="0">
                <a:solidFill>
                  <a:srgbClr val="FFFFFF"/>
                </a:solidFill>
                <a:latin typeface="맑은 고딕" panose="020B0503020000020004" pitchFamily="50" charset="-127"/>
                <a:ea typeface="맑은 고딕" panose="020B0503020000020004" pitchFamily="50" charset="-127"/>
                <a:cs typeface="맑은 고딕" pitchFamily="34" charset="-120"/>
              </a:rPr>
              <a:t>Q4</a:t>
            </a:r>
            <a:endParaRPr lang="ko-KR" altLang="en-US" sz="1600" dirty="0"/>
          </a:p>
        </p:txBody>
      </p:sp>
      <p:sp>
        <p:nvSpPr>
          <p:cNvPr id="4" name="Text 2"/>
          <p:cNvSpPr txBox="1"/>
          <p:nvPr/>
        </p:nvSpPr>
        <p:spPr>
          <a:xfrm>
            <a:off x="1298448" y="384048"/>
            <a:ext cx="10344607"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경색 신호가 켜졌을 때 샀다면?</a:t>
            </a:r>
            <a:endParaRPr lang="ko-KR" altLang="en-US" sz="2800" dirty="0"/>
          </a:p>
        </p:txBody>
      </p:sp>
      <p:graphicFrame>
        <p:nvGraphicFramePr>
          <p:cNvPr id="5" name="Chart 0"/>
          <p:cNvGraphicFramePr/>
          <p:nvPr/>
        </p:nvGraphicFramePr>
        <p:xfrm>
          <a:off x="548640" y="1188720"/>
          <a:ext cx="749808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412480" y="1508760"/>
            <a:ext cx="274320" cy="274320"/>
          </a:xfrm>
          <a:prstGeom prst="ellipse">
            <a:avLst/>
          </a:prstGeom>
          <a:solidFill>
            <a:srgbClr val="C8412E"/>
          </a:solidFill>
          <a:ln w="12700">
            <a:solidFill>
              <a:srgbClr val="C8412E"/>
            </a:solidFill>
            <a:prstDash val="solid"/>
          </a:ln>
        </p:spPr>
      </p:sp>
      <p:sp>
        <p:nvSpPr>
          <p:cNvPr id="7" name="Text 4"/>
          <p:cNvSpPr txBox="1"/>
          <p:nvPr/>
        </p:nvSpPr>
        <p:spPr>
          <a:xfrm>
            <a:off x="8869680" y="1325880"/>
            <a:ext cx="2560320" cy="566928"/>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+221bp</a:t>
            </a:r>
            <a:endParaRPr lang="ko-KR" altLang="en-US" sz="3000" dirty="0"/>
          </a:p>
        </p:txBody>
      </p:sp>
      <p:sp>
        <p:nvSpPr>
          <p:cNvPr id="8" name="Text 5"/>
          <p:cNvSpPr txBox="1"/>
          <p:nvPr/>
        </p:nvSpPr>
        <p:spPr>
          <a:xfrm>
            <a:off x="8869680" y="1911096"/>
            <a:ext cx="2743200" cy="32004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경색에 매수, 평균 (5회)</a:t>
            </a:r>
            <a:endParaRPr lang="ko-KR" altLang="en-US" sz="1250" dirty="0"/>
          </a:p>
        </p:txBody>
      </p:sp>
      <p:sp>
        <p:nvSpPr>
          <p:cNvPr id="9" name="Shape 6"/>
          <p:cNvSpPr/>
          <p:nvPr/>
        </p:nvSpPr>
        <p:spPr>
          <a:xfrm>
            <a:off x="8412480" y="2532888"/>
            <a:ext cx="274320" cy="274320"/>
          </a:xfrm>
          <a:prstGeom prst="ellipse">
            <a:avLst/>
          </a:prstGeom>
          <a:solidFill>
            <a:srgbClr val="E0A020"/>
          </a:solidFill>
          <a:ln w="12700">
            <a:solidFill>
              <a:srgbClr val="E0A020"/>
            </a:solidFill>
            <a:prstDash val="solid"/>
          </a:ln>
        </p:spPr>
      </p:sp>
      <p:sp>
        <p:nvSpPr>
          <p:cNvPr id="10" name="Text 7"/>
          <p:cNvSpPr txBox="1"/>
          <p:nvPr/>
        </p:nvSpPr>
        <p:spPr>
          <a:xfrm>
            <a:off x="8869680" y="2350008"/>
            <a:ext cx="2560320" cy="566928"/>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-22bp</a:t>
            </a:r>
            <a:endParaRPr lang="ko-KR" altLang="en-US" sz="3000" dirty="0"/>
          </a:p>
        </p:txBody>
      </p:sp>
      <p:sp>
        <p:nvSpPr>
          <p:cNvPr id="11" name="Text 8"/>
          <p:cNvSpPr txBox="1"/>
          <p:nvPr/>
        </p:nvSpPr>
        <p:spPr>
          <a:xfrm>
            <a:off x="8869680" y="2935224"/>
            <a:ext cx="2743200" cy="32004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긴장에 매수, 평균 (8회)</a:t>
            </a:r>
            <a:endParaRPr lang="ko-KR" altLang="en-US" sz="1250" dirty="0"/>
          </a:p>
        </p:txBody>
      </p:sp>
      <p:sp>
        <p:nvSpPr>
          <p:cNvPr id="12" name="Shape 9"/>
          <p:cNvSpPr/>
          <p:nvPr/>
        </p:nvSpPr>
        <p:spPr>
          <a:xfrm>
            <a:off x="8412480" y="3557016"/>
            <a:ext cx="274320" cy="274320"/>
          </a:xfrm>
          <a:prstGeom prst="ellipse">
            <a:avLst/>
          </a:prstGeom>
          <a:solidFill>
            <a:srgbClr val="2E9E57"/>
          </a:solidFill>
          <a:ln w="12700">
            <a:solidFill>
              <a:srgbClr val="2E9E57"/>
            </a:solidFill>
            <a:prstDash val="solid"/>
          </a:ln>
        </p:spPr>
      </p:sp>
      <p:sp>
        <p:nvSpPr>
          <p:cNvPr id="13" name="Text 10"/>
          <p:cNvSpPr txBox="1"/>
          <p:nvPr/>
        </p:nvSpPr>
        <p:spPr>
          <a:xfrm>
            <a:off x="8869680" y="3374136"/>
            <a:ext cx="2560320" cy="566928"/>
          </a:xfrm>
          <a:prstGeom prst="rect">
            <a:avLst/>
          </a:prstGeom>
          <a:noFill/>
          <a:ln/>
        </p:spPr>
        <p:txBody>
          <a:bodyPr wrap="square" lIns="0" tIns="0" rIns="0" bIns="0" rtlCol="0" anchor="t"/>
          <a:lstStyle/>
          <a:p>
            <a:pPr marL="0" indent="0">
              <a:buNone/>
            </a:pPr>
            <a:r>
              <a:rPr lang="ko-KR" altLang="en-US" sz="3000" b="1" dirty="0">
                <a:solidFill>
                  <a:srgbClr val="14304A"/>
                </a:solidFill>
                <a:latin typeface="맑은 고딕" panose="020B0503020000020004" pitchFamily="50" charset="-127"/>
                <a:ea typeface="맑은 고딕" panose="020B0503020000020004" pitchFamily="50" charset="-127"/>
                <a:cs typeface="맑은 고딕" pitchFamily="34" charset="-120"/>
              </a:rPr>
              <a:t>-58bp</a:t>
            </a:r>
            <a:endParaRPr lang="ko-KR" altLang="en-US" sz="3000" dirty="0"/>
          </a:p>
        </p:txBody>
      </p:sp>
      <p:sp>
        <p:nvSpPr>
          <p:cNvPr id="14" name="Text 11"/>
          <p:cNvSpPr txBox="1"/>
          <p:nvPr/>
        </p:nvSpPr>
        <p:spPr>
          <a:xfrm>
            <a:off x="8869680" y="3959352"/>
            <a:ext cx="2743200" cy="320040"/>
          </a:xfrm>
          <a:prstGeom prst="rect">
            <a:avLst/>
          </a:prstGeom>
          <a:noFill/>
          <a:ln/>
        </p:spPr>
        <p:txBody>
          <a:bodyPr wrap="square" lIns="0" tIns="0" rIns="0" bIns="0" rtlCol="0" anchor="t"/>
          <a:lstStyle/>
          <a:p>
            <a:pPr marL="0" indent="0">
              <a:buNone/>
            </a:pPr>
            <a:r>
              <a:rPr lang="ko-KR" altLang="en-US" sz="1250" dirty="0">
                <a:solidFill>
                  <a:srgbClr val="5B6B7A"/>
                </a:solidFill>
                <a:latin typeface="맑은 고딕" panose="020B0503020000020004" pitchFamily="50" charset="-127"/>
                <a:ea typeface="맑은 고딕" panose="020B0503020000020004" pitchFamily="50" charset="-127"/>
                <a:cs typeface="맑은 고딕" pitchFamily="34" charset="-120"/>
              </a:rPr>
              <a:t>평온에 매수, 평균 (5회)</a:t>
            </a:r>
            <a:endParaRPr lang="ko-KR" altLang="en-US" sz="1250" dirty="0"/>
          </a:p>
        </p:txBody>
      </p:sp>
      <p:sp>
        <p:nvSpPr>
          <p:cNvPr id="15" name="Text 12"/>
          <p:cNvSpPr txBox="1"/>
          <p:nvPr/>
        </p:nvSpPr>
        <p:spPr>
          <a:xfrm>
            <a:off x="8412480" y="4480560"/>
            <a:ext cx="3230575" cy="1463040"/>
          </a:xfrm>
          <a:prstGeom prst="rect">
            <a:avLst/>
          </a:prstGeom>
          <a:noFill/>
          <a:ln/>
        </p:spPr>
        <p:txBody>
          <a:bodyPr wrap="square" lIns="0" tIns="0" rIns="0" bIns="0" rtlCol="0" anchor="t"/>
          <a:lstStyle/>
          <a:p>
            <a:pPr marL="0" indent="0">
              <a:buNone/>
            </a:pPr>
            <a:r>
              <a:rPr lang="ko-KR" altLang="en-US" sz="1150" dirty="0">
                <a:solidFill>
                  <a:srgbClr val="5B6B7A"/>
                </a:solidFill>
                <a:latin typeface="맑은 고딕" panose="020B0503020000020004" pitchFamily="50" charset="-127"/>
                <a:ea typeface="맑은 고딕" panose="020B0503020000020004" pitchFamily="50" charset="-127"/>
                <a:cs typeface="맑은 고딕" pitchFamily="34" charset="-120"/>
              </a:rPr>
              <a:t>계산: 스프레드 × 0.5년 − 듀레이션 2.8 × 6개월 스프레드 변화. 월평균 지표 근사치, 부도손실·거래비용 미반영. 판정 다음 달에 사도 경색 +205 · 평온 −81bp. 경색 매수 5회는 한 위기 안의 겹치는 기간이라 매수 신호로 단정하지 않는다.</a:t>
            </a:r>
            <a:endParaRPr lang="ko-KR" altLang="en-US" sz="1150" dirty="0"/>
          </a:p>
        </p:txBody>
      </p:sp>
      <p:sp>
        <p:nvSpPr>
          <p:cNvPr id="16" name="Text 13"/>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output/gauge_zones_monthly.csv (excess_6m_bp)  |  출처: e-나라지표 시장금리 추이(1073)</a:t>
            </a:r>
            <a:endParaRPr lang="ko-KR" altLang="en-US" sz="900" dirty="0"/>
          </a:p>
        </p:txBody>
      </p:sp>
      <p:sp>
        <p:nvSpPr>
          <p:cNvPr id="17" name="Text 14"/>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13</a:t>
            </a:r>
            <a:endParaRPr lang="ko-KR" alt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금융·비즈니스 인사이트</a:t>
            </a:r>
            <a:endParaRPr lang="ko-KR" altLang="en-US" sz="2800" dirty="0"/>
          </a:p>
        </p:txBody>
      </p:sp>
      <p:sp>
        <p:nvSpPr>
          <p:cNvPr id="3" name="Shape 1"/>
          <p:cNvSpPr/>
          <p:nvPr/>
        </p:nvSpPr>
        <p:spPr>
          <a:xfrm>
            <a:off x="548640" y="1280160"/>
            <a:ext cx="5364328" cy="2240280"/>
          </a:xfrm>
          <a:prstGeom prst="roundRect">
            <a:avLst>
              <a:gd name="adj" fmla="val 3265"/>
            </a:avLst>
          </a:prstGeom>
          <a:solidFill>
            <a:srgbClr val="F6F8FA"/>
          </a:solidFill>
          <a:ln w="9525">
            <a:solidFill>
              <a:srgbClr val="D5DEE7"/>
            </a:solidFill>
            <a:prstDash val="solid"/>
          </a:ln>
        </p:spPr>
      </p:sp>
      <p:sp>
        <p:nvSpPr>
          <p:cNvPr id="4" name="Shape 2"/>
          <p:cNvSpPr/>
          <p:nvPr/>
        </p:nvSpPr>
        <p:spPr>
          <a:xfrm>
            <a:off x="822960" y="1572768"/>
            <a:ext cx="274320" cy="274320"/>
          </a:xfrm>
          <a:prstGeom prst="ellipse">
            <a:avLst/>
          </a:prstGeom>
          <a:solidFill>
            <a:srgbClr val="14304A"/>
          </a:solidFill>
          <a:ln w="12700">
            <a:solidFill>
              <a:srgbClr val="14304A"/>
            </a:solidFill>
            <a:prstDash val="solid"/>
          </a:ln>
        </p:spPr>
      </p:sp>
      <p:sp>
        <p:nvSpPr>
          <p:cNvPr id="5" name="Text 3"/>
          <p:cNvSpPr txBox="1"/>
          <p:nvPr/>
        </p:nvSpPr>
        <p:spPr>
          <a:xfrm>
            <a:off x="1234440" y="1527048"/>
            <a:ext cx="4449928" cy="365760"/>
          </a:xfrm>
          <a:prstGeom prst="rect">
            <a:avLst/>
          </a:prstGeom>
          <a:noFill/>
          <a:ln/>
        </p:spPr>
        <p:txBody>
          <a:bodyPr wrap="square" lIns="0" tIns="0" rIns="0" bIns="0" rtlCol="0" anchor="t"/>
          <a:lstStyle/>
          <a:p>
            <a:pPr marL="0" indent="0">
              <a:buNone/>
            </a:pPr>
            <a:r>
              <a:rPr lang="ko-KR" altLang="en-US" sz="1300" b="1" dirty="0">
                <a:solidFill>
                  <a:srgbClr val="5B6B7A"/>
                </a:solidFill>
                <a:latin typeface="맑은 고딕" panose="020B0503020000020004" pitchFamily="50" charset="-127"/>
                <a:ea typeface="맑은 고딕" panose="020B0503020000020004" pitchFamily="50" charset="-127"/>
                <a:cs typeface="맑은 고딕" pitchFamily="34" charset="-120"/>
              </a:rPr>
              <a:t>기업 재무</a:t>
            </a:r>
            <a:endParaRPr lang="ko-KR" altLang="en-US" sz="1300" dirty="0"/>
          </a:p>
        </p:txBody>
      </p:sp>
      <p:sp>
        <p:nvSpPr>
          <p:cNvPr id="6" name="Text 4"/>
          <p:cNvSpPr txBox="1"/>
          <p:nvPr/>
        </p:nvSpPr>
        <p:spPr>
          <a:xfrm>
            <a:off x="822960" y="2011680"/>
            <a:ext cx="4815688" cy="457200"/>
          </a:xfrm>
          <a:prstGeom prst="rect">
            <a:avLst/>
          </a:prstGeom>
          <a:noFill/>
          <a:ln/>
        </p:spPr>
        <p:txBody>
          <a:bodyPr wrap="square" lIns="0" tIns="0" rIns="0" bIns="0" rtlCol="0" anchor="t"/>
          <a:lstStyle/>
          <a:p>
            <a:pPr marL="0" indent="0">
              <a:buNone/>
            </a:pPr>
            <a:r>
              <a:rPr lang="ko-KR" altLang="en-US" sz="1900" b="1" dirty="0">
                <a:solidFill>
                  <a:srgbClr val="14304A"/>
                </a:solidFill>
                <a:latin typeface="맑은 고딕" panose="020B0503020000020004" pitchFamily="50" charset="-127"/>
                <a:ea typeface="맑은 고딕" panose="020B0503020000020004" pitchFamily="50" charset="-127"/>
                <a:cs typeface="맑은 고딕" pitchFamily="34" charset="-120"/>
              </a:rPr>
              <a:t>우량 등급도 안전하지 않다</a:t>
            </a:r>
            <a:endParaRPr lang="ko-KR" altLang="en-US" sz="1900" dirty="0"/>
          </a:p>
        </p:txBody>
      </p:sp>
      <p:sp>
        <p:nvSpPr>
          <p:cNvPr id="7" name="Text 5"/>
          <p:cNvSpPr txBox="1"/>
          <p:nvPr/>
        </p:nvSpPr>
        <p:spPr>
          <a:xfrm>
            <a:off x="822960" y="2514600"/>
            <a:ext cx="4815688" cy="914400"/>
          </a:xfrm>
          <a:prstGeom prst="rect">
            <a:avLst/>
          </a:prstGeom>
          <a:noFill/>
          <a:ln/>
        </p:spPr>
        <p:txBody>
          <a:bodyPr wrap="square" lIns="0" tIns="0" rIns="0" bIns="0" rtlCol="0" anchor="t"/>
          <a:lstStyle/>
          <a:p>
            <a:pPr marL="0" indent="0">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AA−에서 코로나의 2.2배 충격. 1,000억 원 조달 시 연 약 5.3억 원 추가 이자 → 만기 분산·선제 조달·유동성 한도 확보</a:t>
            </a:r>
            <a:endParaRPr lang="ko-KR" altLang="en-US" sz="1300" dirty="0"/>
          </a:p>
        </p:txBody>
      </p:sp>
      <p:sp>
        <p:nvSpPr>
          <p:cNvPr id="8" name="Shape 6"/>
          <p:cNvSpPr/>
          <p:nvPr/>
        </p:nvSpPr>
        <p:spPr>
          <a:xfrm>
            <a:off x="6278728" y="1280160"/>
            <a:ext cx="5364328" cy="2240280"/>
          </a:xfrm>
          <a:prstGeom prst="roundRect">
            <a:avLst>
              <a:gd name="adj" fmla="val 3265"/>
            </a:avLst>
          </a:prstGeom>
          <a:solidFill>
            <a:srgbClr val="F6F8FA"/>
          </a:solidFill>
          <a:ln w="9525">
            <a:solidFill>
              <a:srgbClr val="D5DEE7"/>
            </a:solidFill>
            <a:prstDash val="solid"/>
          </a:ln>
        </p:spPr>
      </p:sp>
      <p:sp>
        <p:nvSpPr>
          <p:cNvPr id="9" name="Shape 7"/>
          <p:cNvSpPr/>
          <p:nvPr/>
        </p:nvSpPr>
        <p:spPr>
          <a:xfrm>
            <a:off x="6553048" y="1572768"/>
            <a:ext cx="274320" cy="274320"/>
          </a:xfrm>
          <a:prstGeom prst="ellipse">
            <a:avLst/>
          </a:prstGeom>
          <a:solidFill>
            <a:srgbClr val="C8412E"/>
          </a:solidFill>
          <a:ln w="12700">
            <a:solidFill>
              <a:srgbClr val="C8412E"/>
            </a:solidFill>
            <a:prstDash val="solid"/>
          </a:ln>
        </p:spPr>
      </p:sp>
      <p:sp>
        <p:nvSpPr>
          <p:cNvPr id="10" name="Text 8"/>
          <p:cNvSpPr txBox="1"/>
          <p:nvPr/>
        </p:nvSpPr>
        <p:spPr>
          <a:xfrm>
            <a:off x="6964528" y="1527048"/>
            <a:ext cx="4449928" cy="365760"/>
          </a:xfrm>
          <a:prstGeom prst="rect">
            <a:avLst/>
          </a:prstGeom>
          <a:noFill/>
          <a:ln/>
        </p:spPr>
        <p:txBody>
          <a:bodyPr wrap="square" lIns="0" tIns="0" rIns="0" bIns="0" rtlCol="0" anchor="t"/>
          <a:lstStyle/>
          <a:p>
            <a:pPr marL="0" indent="0">
              <a:buNone/>
            </a:pPr>
            <a:r>
              <a:rPr lang="ko-KR" altLang="en-US" sz="1300" b="1" dirty="0">
                <a:solidFill>
                  <a:srgbClr val="5B6B7A"/>
                </a:solidFill>
                <a:latin typeface="맑은 고딕" panose="020B0503020000020004" pitchFamily="50" charset="-127"/>
                <a:ea typeface="맑은 고딕" panose="020B0503020000020004" pitchFamily="50" charset="-127"/>
                <a:cs typeface="맑은 고딕" pitchFamily="34" charset="-120"/>
              </a:rPr>
              <a:t>채권 투자 · WM</a:t>
            </a:r>
            <a:endParaRPr lang="ko-KR" altLang="en-US" sz="1300" dirty="0"/>
          </a:p>
        </p:txBody>
      </p:sp>
      <p:sp>
        <p:nvSpPr>
          <p:cNvPr id="11" name="Text 9"/>
          <p:cNvSpPr txBox="1"/>
          <p:nvPr/>
        </p:nvSpPr>
        <p:spPr>
          <a:xfrm>
            <a:off x="6553048" y="2011680"/>
            <a:ext cx="4815688" cy="457200"/>
          </a:xfrm>
          <a:prstGeom prst="rect">
            <a:avLst/>
          </a:prstGeom>
          <a:noFill/>
          <a:ln/>
        </p:spPr>
        <p:txBody>
          <a:bodyPr wrap="square" lIns="0" tIns="0" rIns="0" bIns="0" rtlCol="0" anchor="t"/>
          <a:lstStyle/>
          <a:p>
            <a:pPr marL="0" indent="0">
              <a:buNone/>
            </a:pPr>
            <a:r>
              <a:rPr lang="ko-KR" altLang="en-US" sz="1900" b="1" dirty="0">
                <a:solidFill>
                  <a:srgbClr val="14304A"/>
                </a:solidFill>
                <a:latin typeface="맑은 고딕" panose="020B0503020000020004" pitchFamily="50" charset="-127"/>
                <a:ea typeface="맑은 고딕" panose="020B0503020000020004" pitchFamily="50" charset="-127"/>
                <a:cs typeface="맑은 고딕" pitchFamily="34" charset="-120"/>
              </a:rPr>
              <a:t>금리가 아니라 스프레드를 본다</a:t>
            </a:r>
            <a:endParaRPr lang="ko-KR" altLang="en-US" sz="1900" dirty="0"/>
          </a:p>
        </p:txBody>
      </p:sp>
      <p:sp>
        <p:nvSpPr>
          <p:cNvPr id="12" name="Text 10"/>
          <p:cNvSpPr txBox="1"/>
          <p:nvPr/>
        </p:nvSpPr>
        <p:spPr>
          <a:xfrm>
            <a:off x="6553048" y="2514600"/>
            <a:ext cx="4815688" cy="914400"/>
          </a:xfrm>
          <a:prstGeom prst="rect">
            <a:avLst/>
          </a:prstGeom>
          <a:noFill/>
          <a:ln/>
        </p:spPr>
        <p:txBody>
          <a:bodyPr wrap="square" lIns="0" tIns="0" rIns="0" bIns="0" rtlCol="0" anchor="t"/>
          <a:lstStyle/>
          <a:p>
            <a:pPr marL="0" indent="0">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금리 하락기에도 스프레드는 커질 수 있다. 계기판이 경색이면 발행사 등급부터 확인하고 우량채를 검토 대상에 올린다(사후 관찰 1회)</a:t>
            </a:r>
            <a:endParaRPr lang="ko-KR" altLang="en-US" sz="1300" dirty="0"/>
          </a:p>
        </p:txBody>
      </p:sp>
      <p:sp>
        <p:nvSpPr>
          <p:cNvPr id="13" name="Shape 11"/>
          <p:cNvSpPr/>
          <p:nvPr/>
        </p:nvSpPr>
        <p:spPr>
          <a:xfrm>
            <a:off x="548640" y="3794760"/>
            <a:ext cx="5364328" cy="2240280"/>
          </a:xfrm>
          <a:prstGeom prst="roundRect">
            <a:avLst>
              <a:gd name="adj" fmla="val 3265"/>
            </a:avLst>
          </a:prstGeom>
          <a:solidFill>
            <a:srgbClr val="F6F8FA"/>
          </a:solidFill>
          <a:ln w="9525">
            <a:solidFill>
              <a:srgbClr val="D5DEE7"/>
            </a:solidFill>
            <a:prstDash val="solid"/>
          </a:ln>
        </p:spPr>
      </p:sp>
      <p:sp>
        <p:nvSpPr>
          <p:cNvPr id="14" name="Shape 12"/>
          <p:cNvSpPr/>
          <p:nvPr/>
        </p:nvSpPr>
        <p:spPr>
          <a:xfrm>
            <a:off x="822960" y="4087368"/>
            <a:ext cx="274320" cy="274320"/>
          </a:xfrm>
          <a:prstGeom prst="ellipse">
            <a:avLst/>
          </a:prstGeom>
          <a:solidFill>
            <a:srgbClr val="E0A020"/>
          </a:solidFill>
          <a:ln w="12700">
            <a:solidFill>
              <a:srgbClr val="E0A020"/>
            </a:solidFill>
            <a:prstDash val="solid"/>
          </a:ln>
        </p:spPr>
      </p:sp>
      <p:sp>
        <p:nvSpPr>
          <p:cNvPr id="15" name="Text 13"/>
          <p:cNvSpPr txBox="1"/>
          <p:nvPr/>
        </p:nvSpPr>
        <p:spPr>
          <a:xfrm>
            <a:off x="1234440" y="4041648"/>
            <a:ext cx="4449928" cy="365760"/>
          </a:xfrm>
          <a:prstGeom prst="rect">
            <a:avLst/>
          </a:prstGeom>
          <a:noFill/>
          <a:ln/>
        </p:spPr>
        <p:txBody>
          <a:bodyPr wrap="square" lIns="0" tIns="0" rIns="0" bIns="0" rtlCol="0" anchor="t"/>
          <a:lstStyle/>
          <a:p>
            <a:pPr marL="0" indent="0">
              <a:buNone/>
            </a:pPr>
            <a:r>
              <a:rPr lang="ko-KR" altLang="en-US" sz="1300" b="1" dirty="0">
                <a:solidFill>
                  <a:srgbClr val="5B6B7A"/>
                </a:solidFill>
                <a:latin typeface="맑은 고딕" panose="020B0503020000020004" pitchFamily="50" charset="-127"/>
                <a:ea typeface="맑은 고딕" panose="020B0503020000020004" pitchFamily="50" charset="-127"/>
                <a:cs typeface="맑은 고딕" pitchFamily="34" charset="-120"/>
              </a:rPr>
              <a:t>단기자금 관리</a:t>
            </a:r>
            <a:endParaRPr lang="ko-KR" altLang="en-US" sz="1300" dirty="0"/>
          </a:p>
        </p:txBody>
      </p:sp>
      <p:sp>
        <p:nvSpPr>
          <p:cNvPr id="16" name="Text 14"/>
          <p:cNvSpPr txBox="1"/>
          <p:nvPr/>
        </p:nvSpPr>
        <p:spPr>
          <a:xfrm>
            <a:off x="822960" y="4526280"/>
            <a:ext cx="4815688" cy="457200"/>
          </a:xfrm>
          <a:prstGeom prst="rect">
            <a:avLst/>
          </a:prstGeom>
          <a:noFill/>
          <a:ln/>
        </p:spPr>
        <p:txBody>
          <a:bodyPr wrap="square" lIns="0" tIns="0" rIns="0" bIns="0" rtlCol="0" anchor="t"/>
          <a:lstStyle/>
          <a:p>
            <a:pPr marL="0" indent="0">
              <a:buNone/>
            </a:pPr>
            <a:r>
              <a:rPr lang="ko-KR" altLang="en-US" sz="1900" b="1" dirty="0">
                <a:solidFill>
                  <a:srgbClr val="14304A"/>
                </a:solidFill>
                <a:latin typeface="맑은 고딕" panose="020B0503020000020004" pitchFamily="50" charset="-127"/>
                <a:ea typeface="맑은 고딕" panose="020B0503020000020004" pitchFamily="50" charset="-127"/>
                <a:cs typeface="맑은 고딕" pitchFamily="34" charset="-120"/>
              </a:rPr>
              <a:t>채권이 풀려도 CP는 늦게 풀린다</a:t>
            </a:r>
            <a:endParaRPr lang="ko-KR" altLang="en-US" sz="1900" dirty="0"/>
          </a:p>
        </p:txBody>
      </p:sp>
      <p:sp>
        <p:nvSpPr>
          <p:cNvPr id="17" name="Text 15"/>
          <p:cNvSpPr txBox="1"/>
          <p:nvPr/>
        </p:nvSpPr>
        <p:spPr>
          <a:xfrm>
            <a:off x="822960" y="5029200"/>
            <a:ext cx="4815688" cy="914400"/>
          </a:xfrm>
          <a:prstGeom prst="rect">
            <a:avLst/>
          </a:prstGeom>
          <a:noFill/>
          <a:ln/>
        </p:spPr>
        <p:txBody>
          <a:bodyPr wrap="square" lIns="0" tIns="0" rIns="0" bIns="0" rtlCol="0" anchor="t"/>
          <a:lstStyle/>
          <a:p>
            <a:pPr marL="0" indent="0">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CP − CD는 AA−보다 약 4개월 늦게 복귀. CP·전단채로 차환하는 기업은 단기 조달 비용이 오래 남는 것에 대비</a:t>
            </a:r>
            <a:endParaRPr lang="ko-KR" altLang="en-US" sz="1300" dirty="0"/>
          </a:p>
        </p:txBody>
      </p:sp>
      <p:sp>
        <p:nvSpPr>
          <p:cNvPr id="18" name="Shape 16"/>
          <p:cNvSpPr/>
          <p:nvPr/>
        </p:nvSpPr>
        <p:spPr>
          <a:xfrm>
            <a:off x="6278728" y="3794760"/>
            <a:ext cx="5364328" cy="2240280"/>
          </a:xfrm>
          <a:prstGeom prst="roundRect">
            <a:avLst>
              <a:gd name="adj" fmla="val 3265"/>
            </a:avLst>
          </a:prstGeom>
          <a:solidFill>
            <a:srgbClr val="F6F8FA"/>
          </a:solidFill>
          <a:ln w="9525">
            <a:solidFill>
              <a:srgbClr val="D5DEE7"/>
            </a:solidFill>
            <a:prstDash val="solid"/>
          </a:ln>
        </p:spPr>
      </p:sp>
      <p:sp>
        <p:nvSpPr>
          <p:cNvPr id="19" name="Shape 17"/>
          <p:cNvSpPr/>
          <p:nvPr/>
        </p:nvSpPr>
        <p:spPr>
          <a:xfrm>
            <a:off x="6553048" y="4087368"/>
            <a:ext cx="274320" cy="274320"/>
          </a:xfrm>
          <a:prstGeom prst="ellipse">
            <a:avLst/>
          </a:prstGeom>
          <a:solidFill>
            <a:srgbClr val="2E9E57"/>
          </a:solidFill>
          <a:ln w="12700">
            <a:solidFill>
              <a:srgbClr val="2E9E57"/>
            </a:solidFill>
            <a:prstDash val="solid"/>
          </a:ln>
        </p:spPr>
      </p:sp>
      <p:sp>
        <p:nvSpPr>
          <p:cNvPr id="20" name="Text 18"/>
          <p:cNvSpPr txBox="1"/>
          <p:nvPr/>
        </p:nvSpPr>
        <p:spPr>
          <a:xfrm>
            <a:off x="6964528" y="4041648"/>
            <a:ext cx="4449928" cy="365760"/>
          </a:xfrm>
          <a:prstGeom prst="rect">
            <a:avLst/>
          </a:prstGeom>
          <a:noFill/>
          <a:ln/>
        </p:spPr>
        <p:txBody>
          <a:bodyPr wrap="square" lIns="0" tIns="0" rIns="0" bIns="0" rtlCol="0" anchor="t"/>
          <a:lstStyle/>
          <a:p>
            <a:pPr marL="0" indent="0">
              <a:buNone/>
            </a:pPr>
            <a:r>
              <a:rPr lang="ko-KR" altLang="en-US" sz="1300" b="1" dirty="0">
                <a:solidFill>
                  <a:srgbClr val="5B6B7A"/>
                </a:solidFill>
                <a:latin typeface="맑은 고딕" panose="020B0503020000020004" pitchFamily="50" charset="-127"/>
                <a:ea typeface="맑은 고딕" panose="020B0503020000020004" pitchFamily="50" charset="-127"/>
                <a:cs typeface="맑은 고딕" pitchFamily="34" charset="-120"/>
              </a:rPr>
              <a:t>정책 · 시장 해석</a:t>
            </a:r>
            <a:endParaRPr lang="ko-KR" altLang="en-US" sz="1300" dirty="0"/>
          </a:p>
        </p:txBody>
      </p:sp>
      <p:sp>
        <p:nvSpPr>
          <p:cNvPr id="21" name="Text 19"/>
          <p:cNvSpPr txBox="1"/>
          <p:nvPr/>
        </p:nvSpPr>
        <p:spPr>
          <a:xfrm>
            <a:off x="6553048" y="4526280"/>
            <a:ext cx="4815688" cy="457200"/>
          </a:xfrm>
          <a:prstGeom prst="rect">
            <a:avLst/>
          </a:prstGeom>
          <a:noFill/>
          <a:ln/>
        </p:spPr>
        <p:txBody>
          <a:bodyPr wrap="square" lIns="0" tIns="0" rIns="0" bIns="0" rtlCol="0" anchor="t"/>
          <a:lstStyle/>
          <a:p>
            <a:pPr marL="0" indent="0">
              <a:buNone/>
            </a:pPr>
            <a:r>
              <a:rPr lang="ko-KR" altLang="en-US" sz="1900" b="1" dirty="0">
                <a:solidFill>
                  <a:srgbClr val="14304A"/>
                </a:solidFill>
                <a:latin typeface="맑은 고딕" panose="020B0503020000020004" pitchFamily="50" charset="-127"/>
                <a:ea typeface="맑은 고딕" panose="020B0503020000020004" pitchFamily="50" charset="-127"/>
                <a:cs typeface="맑은 고딕" pitchFamily="34" charset="-120"/>
              </a:rPr>
              <a:t>대책 직후에도 확대는 이어졌다</a:t>
            </a:r>
            <a:endParaRPr lang="ko-KR" altLang="en-US" sz="1900" dirty="0"/>
          </a:p>
        </p:txBody>
      </p:sp>
      <p:sp>
        <p:nvSpPr>
          <p:cNvPr id="22" name="Text 20"/>
          <p:cNvSpPr txBox="1"/>
          <p:nvPr/>
        </p:nvSpPr>
        <p:spPr>
          <a:xfrm>
            <a:off x="6553048" y="5029200"/>
            <a:ext cx="4815688" cy="914400"/>
          </a:xfrm>
          <a:prstGeom prst="rect">
            <a:avLst/>
          </a:prstGeom>
          <a:noFill/>
          <a:ln/>
        </p:spPr>
        <p:txBody>
          <a:bodyPr wrap="square" lIns="0" tIns="0" rIns="0" bIns="0" rtlCol="0" anchor="t"/>
          <a:lstStyle/>
          <a:p>
            <a:pPr marL="0" indent="0">
              <a:buNone/>
            </a:pPr>
            <a:r>
              <a:rPr lang="ko-KR" altLang="en-US" sz="1300" dirty="0">
                <a:solidFill>
                  <a:srgbClr val="1F2A36"/>
                </a:solidFill>
                <a:latin typeface="맑은 고딕" panose="020B0503020000020004" pitchFamily="50" charset="-127"/>
                <a:ea typeface="맑은 고딕" panose="020B0503020000020004" pitchFamily="50" charset="-127"/>
                <a:cs typeface="맑은 고딕" pitchFamily="34" charset="-120"/>
              </a:rPr>
              <a:t>50조원+α 대책 직후에도 CP − CD +34bp(금리 인상과 겹쳐 효과 분리 안 함). 2023 하반기 스프레드는 평소의 1.7배 → '평소'를 다시 잡아야 한다</a:t>
            </a:r>
            <a:endParaRPr lang="ko-KR" altLang="en-US" sz="1300" dirty="0"/>
          </a:p>
        </p:txBody>
      </p:sp>
      <p:sp>
        <p:nvSpPr>
          <p:cNvPr id="23" name="Text 21"/>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인과관계가 아닌 관찰 결과. 같은 시기 기준금리 인상(10.12, 11.24)·흥국생명 콜옵션 미행사(11.1)가 겹침</a:t>
            </a:r>
            <a:endParaRPr lang="ko-KR" altLang="en-US" sz="900" dirty="0"/>
          </a:p>
        </p:txBody>
      </p:sp>
      <p:sp>
        <p:nvSpPr>
          <p:cNvPr id="24" name="Text 22"/>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14</a:t>
            </a:r>
            <a:endParaRPr lang="ko-KR" alt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한계와 다음 단계</a:t>
            </a:r>
            <a:endParaRPr lang="ko-KR" altLang="en-US" sz="2800" dirty="0"/>
          </a:p>
        </p:txBody>
      </p:sp>
      <p:sp>
        <p:nvSpPr>
          <p:cNvPr id="3" name="Text 1"/>
          <p:cNvSpPr txBox="1"/>
          <p:nvPr/>
        </p:nvSpPr>
        <p:spPr>
          <a:xfrm>
            <a:off x="548640" y="1234440"/>
            <a:ext cx="5943600" cy="411480"/>
          </a:xfrm>
          <a:prstGeom prst="rect">
            <a:avLst/>
          </a:prstGeom>
          <a:noFill/>
          <a:ln/>
        </p:spPr>
        <p:txBody>
          <a:bodyPr wrap="square" lIns="0" tIns="0" rIns="0" bIns="0" rtlCol="0" anchor="t"/>
          <a:lstStyle/>
          <a:p>
            <a:pPr marL="0" indent="0">
              <a:buNone/>
            </a:pPr>
            <a:r>
              <a:rPr lang="ko-KR" altLang="en-US" sz="1800" b="1" dirty="0">
                <a:solidFill>
                  <a:srgbClr val="C8412E"/>
                </a:solidFill>
                <a:latin typeface="맑은 고딕" panose="020B0503020000020004" pitchFamily="50" charset="-127"/>
                <a:ea typeface="맑은 고딕" panose="020B0503020000020004" pitchFamily="50" charset="-127"/>
                <a:cs typeface="맑은 고딕" pitchFamily="34" charset="-120"/>
              </a:rPr>
              <a:t>한계</a:t>
            </a:r>
            <a:endParaRPr lang="ko-KR" altLang="en-US" sz="1800" dirty="0"/>
          </a:p>
        </p:txBody>
      </p:sp>
      <p:sp>
        <p:nvSpPr>
          <p:cNvPr id="4" name="Shape 2"/>
          <p:cNvSpPr/>
          <p:nvPr/>
        </p:nvSpPr>
        <p:spPr>
          <a:xfrm>
            <a:off x="548640" y="1783080"/>
            <a:ext cx="6400800" cy="896112"/>
          </a:xfrm>
          <a:prstGeom prst="roundRect">
            <a:avLst>
              <a:gd name="adj" fmla="val 8163"/>
            </a:avLst>
          </a:prstGeom>
          <a:solidFill>
            <a:srgbClr val="F6F8FA"/>
          </a:solidFill>
          <a:ln w="9525">
            <a:solidFill>
              <a:srgbClr val="D5DEE7"/>
            </a:solidFill>
            <a:prstDash val="solid"/>
          </a:ln>
        </p:spPr>
        <p:txBody>
          <a:bodyPr/>
          <a:p/>
        </p:txBody>
      </p:sp>
      <p:sp>
        <p:nvSpPr>
          <p:cNvPr id="5" name="Text 3"/>
          <p:cNvSpPr txBox="1"/>
          <p:nvPr/>
        </p:nvSpPr>
        <p:spPr>
          <a:xfrm>
            <a:off x="777240" y="1892808"/>
            <a:ext cx="5943600" cy="320040"/>
          </a:xfrm>
          <a:prstGeom prst="rect">
            <a:avLst/>
          </a:prstGeom>
          <a:noFill/>
          <a:ln/>
        </p:spPr>
        <p:txBody>
          <a:bodyPr wrap="square" lIns="0" tIns="0" rIns="0" bIns="0" rtlCol="0" anchor="t"/>
          <a:lstStyle/>
          <a:p>
            <a:pPr marL="0" indent="0">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인과관계가 아니다</a:t>
            </a:r>
            <a:endParaRPr lang="ko-KR" altLang="en-US" sz="1400" dirty="0"/>
          </a:p>
        </p:txBody>
      </p:sp>
      <p:sp>
        <p:nvSpPr>
          <p:cNvPr id="6" name="Text 4"/>
          <p:cNvSpPr txBox="1"/>
          <p:nvPr/>
        </p:nvSpPr>
        <p:spPr>
          <a:xfrm>
            <a:off x="777240" y="2212848"/>
            <a:ext cx="5943600" cy="438912"/>
          </a:xfrm>
          <a:prstGeom prst="rect">
            <a:avLst/>
          </a:prstGeom>
          <a:noFill/>
          <a:ln/>
        </p:spPr>
        <p:txBody>
          <a:bodyPr wrap="square" lIns="0" tIns="0" rIns="0" bIns="0" rtlCol="0" anchor="t"/>
          <a:lstStyle/>
          <a:p>
            <a:pPr marL="0" indent="0">
              <a:buNone/>
            </a:pPr>
            <a:r>
              <a:rPr lang="ko-KR" altLang="en-US" sz="1150" dirty="0">
                <a:solidFill>
                  <a:srgbClr val="1F2A36"/>
                </a:solidFill>
                <a:latin typeface="맑은 고딕" panose="020B0503020000020004" pitchFamily="50" charset="-127"/>
                <a:ea typeface="맑은 고딕" panose="020B0503020000020004" pitchFamily="50" charset="-127"/>
                <a:cs typeface="맑은 고딕" pitchFamily="34" charset="-120"/>
              </a:rPr>
              <a:t>기준금리 인상·흥국생명 사태·글로벌 긴축이 몇 주 안에 겹쳐 레고랜드 단독 효과는 분리하지 않았다</a:t>
            </a:r>
            <a:endParaRPr lang="ko-KR" altLang="en-US" sz="1150" dirty="0"/>
          </a:p>
        </p:txBody>
      </p:sp>
      <p:sp>
        <p:nvSpPr>
          <p:cNvPr id="7" name="Shape 5"/>
          <p:cNvSpPr/>
          <p:nvPr/>
        </p:nvSpPr>
        <p:spPr>
          <a:xfrm>
            <a:off x="548640" y="2807208"/>
            <a:ext cx="6400800" cy="896112"/>
          </a:xfrm>
          <a:prstGeom prst="roundRect">
            <a:avLst>
              <a:gd name="adj" fmla="val 8163"/>
            </a:avLst>
          </a:prstGeom>
          <a:solidFill>
            <a:srgbClr val="F6F8FA"/>
          </a:solidFill>
          <a:ln w="9525">
            <a:solidFill>
              <a:srgbClr val="D5DEE7"/>
            </a:solidFill>
            <a:prstDash val="solid"/>
          </a:ln>
        </p:spPr>
        <p:txBody>
          <a:bodyPr/>
          <a:p/>
        </p:txBody>
      </p:sp>
      <p:sp>
        <p:nvSpPr>
          <p:cNvPr id="8" name="Text 6"/>
          <p:cNvSpPr txBox="1"/>
          <p:nvPr/>
        </p:nvSpPr>
        <p:spPr>
          <a:xfrm>
            <a:off x="777240" y="2916936"/>
            <a:ext cx="5943600" cy="320040"/>
          </a:xfrm>
          <a:prstGeom prst="rect">
            <a:avLst/>
          </a:prstGeom>
          <a:noFill/>
          <a:ln/>
        </p:spPr>
        <p:txBody>
          <a:bodyPr wrap="square" lIns="0" tIns="0" rIns="0" bIns="0" rtlCol="0" anchor="t"/>
          <a:lstStyle/>
          <a:p>
            <a:pPr marL="0" indent="0">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위기는 한 번뿐</a:t>
            </a:r>
            <a:endParaRPr lang="ko-KR" altLang="en-US" sz="1400" dirty="0"/>
          </a:p>
        </p:txBody>
      </p:sp>
      <p:sp>
        <p:nvSpPr>
          <p:cNvPr id="9" name="Text 7"/>
          <p:cNvSpPr txBox="1"/>
          <p:nvPr/>
        </p:nvSpPr>
        <p:spPr>
          <a:xfrm>
            <a:off x="777240" y="3236976"/>
            <a:ext cx="5943600" cy="438912"/>
          </a:xfrm>
          <a:prstGeom prst="rect">
            <a:avLst/>
          </a:prstGeom>
          <a:noFill/>
          <a:ln/>
        </p:spPr>
        <p:txBody>
          <a:bodyPr wrap="square" lIns="0" tIns="0" rIns="0" bIns="0" rtlCol="0" anchor="t"/>
          <a:lstStyle/>
          <a:p>
            <a:pPr marL="0" indent="0">
              <a:buNone/>
            </a:pPr>
            <a:r>
              <a:rPr lang="ko-KR" altLang="en-US" sz="1150" dirty="0">
                <a:solidFill>
                  <a:srgbClr val="1F2A36"/>
                </a:solidFill>
                <a:latin typeface="맑은 고딕" panose="020B0503020000020004" pitchFamily="50" charset="-127"/>
                <a:ea typeface="맑은 고딕" panose="020B0503020000020004" pitchFamily="50" charset="-127"/>
                <a:cs typeface="맑은 고딕" pitchFamily="34" charset="-120"/>
              </a:rPr>
              <a:t>계기판은 5년 자료, 큰 위기 1회로 만든 틀. 금리 수준이 크게 바뀌면 기준값을 다시 계산해야 한다</a:t>
            </a:r>
            <a:endParaRPr lang="ko-KR" altLang="en-US" sz="1150" dirty="0"/>
          </a:p>
        </p:txBody>
      </p:sp>
      <p:sp>
        <p:nvSpPr>
          <p:cNvPr id="10" name="Shape 8"/>
          <p:cNvSpPr/>
          <p:nvPr/>
        </p:nvSpPr>
        <p:spPr>
          <a:xfrm>
            <a:off x="548640" y="3831336"/>
            <a:ext cx="6400800" cy="896112"/>
          </a:xfrm>
          <a:prstGeom prst="roundRect">
            <a:avLst>
              <a:gd name="adj" fmla="val 8163"/>
            </a:avLst>
          </a:prstGeom>
          <a:solidFill>
            <a:srgbClr val="F6F8FA"/>
          </a:solidFill>
          <a:ln w="9525">
            <a:solidFill>
              <a:srgbClr val="D5DEE7"/>
            </a:solidFill>
            <a:prstDash val="solid"/>
          </a:ln>
        </p:spPr>
        <p:txBody>
          <a:bodyPr/>
          <a:p/>
        </p:txBody>
      </p:sp>
      <p:sp>
        <p:nvSpPr>
          <p:cNvPr id="11" name="Text 9"/>
          <p:cNvSpPr txBox="1"/>
          <p:nvPr/>
        </p:nvSpPr>
        <p:spPr>
          <a:xfrm>
            <a:off x="777240" y="3941064"/>
            <a:ext cx="5943600" cy="320040"/>
          </a:xfrm>
          <a:prstGeom prst="rect">
            <a:avLst/>
          </a:prstGeom>
          <a:noFill/>
          <a:ln/>
        </p:spPr>
        <p:txBody>
          <a:bodyPr wrap="square" lIns="0" tIns="0" rIns="0" bIns="0" rtlCol="0" anchor="t"/>
          <a:lstStyle/>
          <a:p>
            <a:pPr marL="0" indent="0">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초과수익은 근사치</a:t>
            </a:r>
            <a:endParaRPr lang="ko-KR" altLang="en-US" sz="1400" dirty="0"/>
          </a:p>
        </p:txBody>
      </p:sp>
      <p:sp>
        <p:nvSpPr>
          <p:cNvPr id="12" name="Text 10"/>
          <p:cNvSpPr txBox="1"/>
          <p:nvPr/>
        </p:nvSpPr>
        <p:spPr>
          <a:xfrm>
            <a:off x="777240" y="4261104"/>
            <a:ext cx="5943600" cy="438912"/>
          </a:xfrm>
          <a:prstGeom prst="rect">
            <a:avLst/>
          </a:prstGeom>
          <a:noFill/>
          <a:ln/>
        </p:spPr>
        <p:txBody>
          <a:bodyPr wrap="square" lIns="0" tIns="0" rIns="0" bIns="0" rtlCol="0" anchor="t"/>
          <a:lstStyle/>
          <a:p>
            <a:pPr marL="0" indent="0">
              <a:buNone/>
            </a:pPr>
            <a:r>
              <a:rPr lang="ko-KR" altLang="en-US" sz="1150" dirty="0">
                <a:solidFill>
                  <a:srgbClr val="1F2A36"/>
                </a:solidFill>
                <a:latin typeface="맑은 고딕" panose="020B0503020000020004" pitchFamily="50" charset="-127"/>
                <a:ea typeface="맑은 고딕" panose="020B0503020000020004" pitchFamily="50" charset="-127"/>
                <a:cs typeface="맑은 고딕" pitchFamily="34" charset="-120"/>
              </a:rPr>
              <a:t>월평균 지표와 고정 듀레이션으로 계산. 개별 채권 수익률과 다를 수 있다</a:t>
            </a:r>
            <a:endParaRPr lang="ko-KR" altLang="en-US" sz="1150" dirty="0"/>
          </a:p>
        </p:txBody>
      </p:sp>
      <p:sp>
        <p:nvSpPr>
          <p:cNvPr id="13" name="Shape 11"/>
          <p:cNvSpPr/>
          <p:nvPr/>
        </p:nvSpPr>
        <p:spPr>
          <a:xfrm>
            <a:off x="548640" y="4855464"/>
            <a:ext cx="6400800" cy="896112"/>
          </a:xfrm>
          <a:prstGeom prst="roundRect">
            <a:avLst>
              <a:gd name="adj" fmla="val 8163"/>
            </a:avLst>
          </a:prstGeom>
          <a:solidFill>
            <a:srgbClr val="F6F8FA"/>
          </a:solidFill>
          <a:ln w="9525">
            <a:solidFill>
              <a:srgbClr val="D5DEE7"/>
            </a:solidFill>
            <a:prstDash val="solid"/>
          </a:ln>
        </p:spPr>
        <p:txBody>
          <a:bodyPr/>
          <a:p/>
        </p:txBody>
      </p:sp>
      <p:sp>
        <p:nvSpPr>
          <p:cNvPr id="14" name="Text 12"/>
          <p:cNvSpPr txBox="1"/>
          <p:nvPr/>
        </p:nvSpPr>
        <p:spPr>
          <a:xfrm>
            <a:off x="777240" y="4965192"/>
            <a:ext cx="5943600" cy="320040"/>
          </a:xfrm>
          <a:prstGeom prst="rect">
            <a:avLst/>
          </a:prstGeom>
          <a:noFill/>
          <a:ln/>
        </p:spPr>
        <p:txBody>
          <a:bodyPr wrap="square" lIns="0" tIns="0" rIns="0" bIns="0" rtlCol="0" anchor="t"/>
          <a:lstStyle/>
          <a:p>
            <a:pPr marL="0" indent="0">
              <a:buNone/>
            </a:pPr>
            <a:r>
              <a:rPr lang="ko-KR" altLang="en-US" sz="1400" b="1" dirty="0">
                <a:solidFill>
                  <a:srgbClr val="14304A"/>
                </a:solidFill>
                <a:latin typeface="맑은 고딕" panose="020B0503020000020004" pitchFamily="50" charset="-127"/>
                <a:ea typeface="맑은 고딕" panose="020B0503020000020004" pitchFamily="50" charset="-127"/>
                <a:cs typeface="맑은 고딕" pitchFamily="34" charset="-120"/>
              </a:rPr>
              <a:t>BBB−는 비교에서 제외</a:t>
            </a:r>
            <a:endParaRPr lang="ko-KR" altLang="en-US" sz="1400" dirty="0"/>
          </a:p>
        </p:txBody>
      </p:sp>
      <p:sp>
        <p:nvSpPr>
          <p:cNvPr id="15" name="Text 13"/>
          <p:cNvSpPr txBox="1"/>
          <p:nvPr/>
        </p:nvSpPr>
        <p:spPr>
          <a:xfrm>
            <a:off x="777240" y="5285232"/>
            <a:ext cx="5943600" cy="438912"/>
          </a:xfrm>
          <a:prstGeom prst="rect">
            <a:avLst/>
          </a:prstGeom>
          <a:noFill/>
          <a:ln/>
        </p:spPr>
        <p:txBody>
          <a:bodyPr wrap="square" lIns="0" tIns="0" rIns="0" bIns="0" rtlCol="0" anchor="t"/>
          <a:lstStyle/>
          <a:p>
            <a:pPr marL="0" indent="0">
              <a:buNone/>
            </a:pPr>
            <a:r>
              <a:rPr lang="ko-KR" altLang="en-US" sz="1150" dirty="0">
                <a:solidFill>
                  <a:srgbClr val="1F2A36"/>
                </a:solidFill>
                <a:latin typeface="맑은 고딕" panose="020B0503020000020004" pitchFamily="50" charset="-127"/>
                <a:ea typeface="맑은 고딕" panose="020B0503020000020004" pitchFamily="50" charset="-127"/>
                <a:cs typeface="맑은 고딕" pitchFamily="34" charset="-120"/>
              </a:rPr>
              <a:t>AA−와의 차이가 2022년 내내 약 585bp로 고정 → 평가 방식 영향으로 보여 등급 간 전이 분석은 하지 않았다</a:t>
            </a:r>
            <a:endParaRPr lang="ko-KR" altLang="en-US" sz="1150" dirty="0"/>
          </a:p>
        </p:txBody>
      </p:sp>
      <p:sp>
        <p:nvSpPr>
          <p:cNvPr id="16" name="Text 14"/>
          <p:cNvSpPr txBox="1"/>
          <p:nvPr/>
        </p:nvSpPr>
        <p:spPr>
          <a:xfrm>
            <a:off x="7498080" y="1234440"/>
            <a:ext cx="4114800" cy="411480"/>
          </a:xfrm>
          <a:prstGeom prst="rect">
            <a:avLst/>
          </a:prstGeom>
          <a:noFill/>
          <a:ln/>
        </p:spPr>
        <p:txBody>
          <a:bodyPr wrap="square" lIns="0" tIns="0" rIns="0" bIns="0" rtlCol="0" anchor="t"/>
          <a:lstStyle/>
          <a:p>
            <a:pPr marL="0" indent="0">
              <a:buNone/>
            </a:pPr>
            <a:r>
              <a:rPr lang="ko-KR" altLang="en-US" sz="1800" b="1" dirty="0">
                <a:solidFill>
                  <a:srgbClr val="2E9E57"/>
                </a:solidFill>
                <a:latin typeface="맑은 고딕" panose="020B0503020000020004" pitchFamily="50" charset="-127"/>
                <a:ea typeface="맑은 고딕" panose="020B0503020000020004" pitchFamily="50" charset="-127"/>
                <a:cs typeface="맑은 고딕" pitchFamily="34" charset="-120"/>
              </a:rPr>
              <a:t>다음 단계</a:t>
            </a:r>
            <a:endParaRPr lang="ko-KR" altLang="en-US" sz="1800" dirty="0"/>
          </a:p>
        </p:txBody>
      </p:sp>
      <p:sp>
        <p:nvSpPr>
          <p:cNvPr id="17" name="Shape 15"/>
          <p:cNvSpPr/>
          <p:nvPr/>
        </p:nvSpPr>
        <p:spPr>
          <a:xfrm>
            <a:off x="7498080" y="1874520"/>
            <a:ext cx="548640" cy="548640"/>
          </a:xfrm>
          <a:prstGeom prst="ellipse">
            <a:avLst/>
          </a:prstGeom>
          <a:solidFill>
            <a:srgbClr val="2E9E57"/>
          </a:solidFill>
          <a:ln w="12700">
            <a:solidFill>
              <a:srgbClr val="2E9E57"/>
            </a:solidFill>
            <a:prstDash val="solid"/>
          </a:ln>
        </p:spPr>
        <p:txBody>
          <a:bodyPr/>
          <a:p/>
        </p:txBody>
      </p:sp>
      <p:sp>
        <p:nvSpPr>
          <p:cNvPr id="18" name="Text 16"/>
          <p:cNvSpPr txBox="1"/>
          <p:nvPr/>
        </p:nvSpPr>
        <p:spPr>
          <a:xfrm>
            <a:off x="7498080" y="1874520"/>
            <a:ext cx="548640" cy="54864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1</a:t>
            </a:r>
            <a:endParaRPr lang="ko-KR" altLang="en-US" sz="1300" dirty="0"/>
          </a:p>
        </p:txBody>
      </p:sp>
      <p:sp>
        <p:nvSpPr>
          <p:cNvPr id="19" name="Text 17"/>
          <p:cNvSpPr txBox="1"/>
          <p:nvPr/>
        </p:nvSpPr>
        <p:spPr>
          <a:xfrm>
            <a:off x="8229600" y="1783080"/>
            <a:ext cx="3413455" cy="411480"/>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개별 회사채 금리 수집</a:t>
            </a:r>
            <a:endParaRPr lang="ko-KR" altLang="en-US" sz="1500" dirty="0"/>
          </a:p>
        </p:txBody>
      </p:sp>
      <p:sp>
        <p:nvSpPr>
          <p:cNvPr id="20" name="Text 18"/>
          <p:cNvSpPr txBox="1"/>
          <p:nvPr/>
        </p:nvSpPr>
        <p:spPr>
          <a:xfrm>
            <a:off x="8229600" y="2221992"/>
            <a:ext cx="3413455" cy="365760"/>
          </a:xfrm>
          <a:prstGeom prst="rect">
            <a:avLst/>
          </a:prstGeom>
          <a:noFill/>
          <a:ln/>
        </p:spPr>
        <p:txBody>
          <a:bodyPr wrap="square" lIns="0" tIns="0" rIns="0" bIns="0" rtlCol="0" anchor="t"/>
          <a:lstStyle/>
          <a:p>
            <a:pPr marL="0" indent="0">
              <a:buNone/>
            </a:pPr>
            <a:r>
              <a:rPr lang="ko-KR" altLang="en-US" sz="1300" dirty="0">
                <a:solidFill>
                  <a:srgbClr val="5B6B7A"/>
                </a:solidFill>
                <a:latin typeface="맑은 고딕" panose="020B0503020000020004" pitchFamily="50" charset="-127"/>
                <a:ea typeface="맑은 고딕" panose="020B0503020000020004" pitchFamily="50" charset="-127"/>
                <a:cs typeface="맑은 고딕" pitchFamily="34" charset="-120"/>
              </a:rPr>
              <a:t>발행사·업종별 계기판</a:t>
            </a:r>
            <a:endParaRPr lang="ko-KR" altLang="en-US" sz="1300" dirty="0"/>
          </a:p>
        </p:txBody>
      </p:sp>
      <p:sp>
        <p:nvSpPr>
          <p:cNvPr id="21" name="Shape 19"/>
          <p:cNvSpPr/>
          <p:nvPr/>
        </p:nvSpPr>
        <p:spPr>
          <a:xfrm>
            <a:off x="7498080" y="3246120"/>
            <a:ext cx="548640" cy="548640"/>
          </a:xfrm>
          <a:prstGeom prst="ellipse">
            <a:avLst/>
          </a:prstGeom>
          <a:solidFill>
            <a:srgbClr val="2E9E57"/>
          </a:solidFill>
          <a:ln w="12700">
            <a:solidFill>
              <a:srgbClr val="2E9E57"/>
            </a:solidFill>
            <a:prstDash val="solid"/>
          </a:ln>
        </p:spPr>
        <p:txBody>
          <a:bodyPr/>
          <a:p/>
        </p:txBody>
      </p:sp>
      <p:sp>
        <p:nvSpPr>
          <p:cNvPr id="22" name="Text 20"/>
          <p:cNvSpPr txBox="1"/>
          <p:nvPr/>
        </p:nvSpPr>
        <p:spPr>
          <a:xfrm>
            <a:off x="7498080" y="3246120"/>
            <a:ext cx="548640" cy="54864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2</a:t>
            </a:r>
            <a:endParaRPr lang="ko-KR" altLang="en-US" sz="1300" dirty="0"/>
          </a:p>
        </p:txBody>
      </p:sp>
      <p:sp>
        <p:nvSpPr>
          <p:cNvPr id="23" name="Text 21"/>
          <p:cNvSpPr txBox="1"/>
          <p:nvPr/>
        </p:nvSpPr>
        <p:spPr>
          <a:xfrm>
            <a:off x="8229600" y="3154680"/>
            <a:ext cx="3413455" cy="411480"/>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2024년 이후 자료로 검증</a:t>
            </a:r>
            <a:endParaRPr lang="ko-KR" altLang="en-US" sz="1500" dirty="0"/>
          </a:p>
        </p:txBody>
      </p:sp>
      <p:sp>
        <p:nvSpPr>
          <p:cNvPr id="24" name="Text 22"/>
          <p:cNvSpPr txBox="1"/>
          <p:nvPr/>
        </p:nvSpPr>
        <p:spPr>
          <a:xfrm>
            <a:off x="8229600" y="3593592"/>
            <a:ext cx="3413455" cy="365760"/>
          </a:xfrm>
          <a:prstGeom prst="rect">
            <a:avLst/>
          </a:prstGeom>
          <a:noFill/>
          <a:ln/>
        </p:spPr>
        <p:txBody>
          <a:bodyPr wrap="square" lIns="0" tIns="0" rIns="0" bIns="0" rtlCol="0" anchor="t"/>
          <a:lstStyle/>
          <a:p>
            <a:pPr marL="0" indent="0">
              <a:buNone/>
            </a:pPr>
            <a:r>
              <a:rPr lang="ko-KR" altLang="en-US" sz="1300" dirty="0">
                <a:solidFill>
                  <a:srgbClr val="5B6B7A"/>
                </a:solidFill>
                <a:latin typeface="맑은 고딕" panose="020B0503020000020004" pitchFamily="50" charset="-127"/>
                <a:ea typeface="맑은 고딕" panose="020B0503020000020004" pitchFamily="50" charset="-127"/>
                <a:cs typeface="맑은 고딕" pitchFamily="34" charset="-120"/>
              </a:rPr>
              <a:t>표본 밖 적중 여부 확인</a:t>
            </a:r>
            <a:endParaRPr lang="ko-KR" altLang="en-US" sz="1300" dirty="0"/>
          </a:p>
        </p:txBody>
      </p:sp>
      <p:sp>
        <p:nvSpPr>
          <p:cNvPr id="25" name="Shape 23"/>
          <p:cNvSpPr/>
          <p:nvPr/>
        </p:nvSpPr>
        <p:spPr>
          <a:xfrm>
            <a:off x="7498080" y="4617720"/>
            <a:ext cx="548640" cy="548640"/>
          </a:xfrm>
          <a:prstGeom prst="ellipse">
            <a:avLst/>
          </a:prstGeom>
          <a:solidFill>
            <a:srgbClr val="2E9E57"/>
          </a:solidFill>
          <a:ln w="12700">
            <a:solidFill>
              <a:srgbClr val="2E9E57"/>
            </a:solidFill>
            <a:prstDash val="solid"/>
          </a:ln>
        </p:spPr>
        <p:txBody>
          <a:bodyPr/>
          <a:p/>
        </p:txBody>
      </p:sp>
      <p:sp>
        <p:nvSpPr>
          <p:cNvPr id="26" name="Text 24"/>
          <p:cNvSpPr txBox="1"/>
          <p:nvPr/>
        </p:nvSpPr>
        <p:spPr>
          <a:xfrm>
            <a:off x="7498080" y="4617720"/>
            <a:ext cx="548640" cy="54864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3</a:t>
            </a:r>
            <a:endParaRPr lang="ko-KR" altLang="en-US" sz="1300" dirty="0"/>
          </a:p>
        </p:txBody>
      </p:sp>
      <p:sp>
        <p:nvSpPr>
          <p:cNvPr id="27" name="Text 25"/>
          <p:cNvSpPr txBox="1"/>
          <p:nvPr/>
        </p:nvSpPr>
        <p:spPr>
          <a:xfrm>
            <a:off x="8229600" y="4526280"/>
            <a:ext cx="3413455" cy="411480"/>
          </a:xfrm>
          <a:prstGeom prst="rect">
            <a:avLst/>
          </a:prstGeom>
          <a:noFill/>
          <a:ln/>
        </p:spPr>
        <p:txBody>
          <a:bodyPr wrap="square" lIns="0" tIns="0" rIns="0" bIns="0" rtlCol="0" anchor="t"/>
          <a:lstStyle/>
          <a:p>
            <a:pPr marL="0" indent="0">
              <a:buNone/>
            </a:pPr>
            <a:r>
              <a:rPr lang="ko-KR" altLang="en-US" sz="1500" b="1" dirty="0">
                <a:solidFill>
                  <a:srgbClr val="14304A"/>
                </a:solidFill>
                <a:latin typeface="맑은 고딕" panose="020B0503020000020004" pitchFamily="50" charset="-127"/>
                <a:ea typeface="맑은 고딕" panose="020B0503020000020004" pitchFamily="50" charset="-127"/>
                <a:cs typeface="맑은 고딕" pitchFamily="34" charset="-120"/>
              </a:rPr>
              <a:t>금리 수준 보정</a:t>
            </a:r>
            <a:endParaRPr lang="ko-KR" altLang="en-US" sz="1500" dirty="0"/>
          </a:p>
        </p:txBody>
      </p:sp>
      <p:sp>
        <p:nvSpPr>
          <p:cNvPr id="28" name="Text 26"/>
          <p:cNvSpPr txBox="1"/>
          <p:nvPr/>
        </p:nvSpPr>
        <p:spPr>
          <a:xfrm>
            <a:off x="8229600" y="4965192"/>
            <a:ext cx="3413455" cy="365760"/>
          </a:xfrm>
          <a:prstGeom prst="rect">
            <a:avLst/>
          </a:prstGeom>
          <a:noFill/>
          <a:ln/>
        </p:spPr>
        <p:txBody>
          <a:bodyPr wrap="square" lIns="0" tIns="0" rIns="0" bIns="0" rtlCol="0" anchor="t"/>
          <a:lstStyle/>
          <a:p>
            <a:pPr marL="0" indent="0">
              <a:buNone/>
            </a:pPr>
            <a:r>
              <a:rPr lang="ko-KR" altLang="en-US" sz="1300" dirty="0">
                <a:solidFill>
                  <a:srgbClr val="5B6B7A"/>
                </a:solidFill>
                <a:latin typeface="맑은 고딕" panose="020B0503020000020004" pitchFamily="50" charset="-127"/>
                <a:ea typeface="맑은 고딕" panose="020B0503020000020004" pitchFamily="50" charset="-127"/>
                <a:cs typeface="맑은 고딕" pitchFamily="34" charset="-120"/>
              </a:rPr>
              <a:t>스프레드 ÷ 국고채 금리 같은 상대 지표</a:t>
            </a:r>
            <a:endParaRPr lang="ko-KR" altLang="en-US" sz="1300" dirty="0"/>
          </a:p>
        </p:txBody>
      </p:sp>
      <p:sp>
        <p:nvSpPr>
          <p:cNvPr id="29" name="Text 27"/>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REPORT 10장 참고</a:t>
            </a:r>
            <a:endParaRPr lang="ko-KR" altLang="en-US" sz="900" dirty="0"/>
          </a:p>
        </p:txBody>
      </p:sp>
      <p:sp>
        <p:nvSpPr>
          <p:cNvPr id="30" name="Text 28"/>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15</a:t>
            </a:r>
            <a:endParaRPr lang="ko-KR" alt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50164" y="269748"/>
            <a:ext cx="11091672" cy="5669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dirty="0" err="1" smtClean="0">
                <a:solidFill>
                  <a:srgbClr val="14304A"/>
                </a:solidFill>
                <a:latin typeface="맑은 고딕" pitchFamily="34" charset="0"/>
                <a:ea typeface="맑은 고딕" pitchFamily="34" charset="-122"/>
                <a:cs typeface="맑은 고딕" pitchFamily="34" charset="-120"/>
              </a:rPr>
              <a:t>트러블슈팅</a:t>
            </a:r>
            <a:r>
              <a:rPr lang="en-US" sz="2800" b="1" dirty="0">
                <a:solidFill>
                  <a:srgbClr val="14304A"/>
                </a:solidFill>
                <a:latin typeface="맑은 고딕" pitchFamily="34" charset="0"/>
                <a:ea typeface="맑은 고딕" pitchFamily="34" charset="-122"/>
                <a:cs typeface="맑은 고딕" pitchFamily="34" charset="-120"/>
              </a:rPr>
              <a:t> </a:t>
            </a:r>
            <a:r>
              <a:rPr lang="ko-KR" altLang="en-US" sz="2800" b="1" dirty="0" smtClean="0">
                <a:solidFill>
                  <a:srgbClr val="14304A"/>
                </a:solidFill>
                <a:latin typeface="맑은 고딕" pitchFamily="34" charset="0"/>
                <a:ea typeface="맑은 고딕" pitchFamily="34" charset="-122"/>
                <a:cs typeface="맑은 고딕" pitchFamily="34" charset="-120"/>
              </a:rPr>
              <a:t>과정</a:t>
            </a:r>
            <a:endParaRPr lang="en-US" sz="2800" dirty="0"/>
          </a:p>
        </p:txBody>
      </p:sp>
      <p:sp>
        <p:nvSpPr>
          <p:cNvPr id="3" name="Text 1"/>
          <p:cNvSpPr txBox="1"/>
          <p:nvPr/>
        </p:nvSpPr>
        <p:spPr>
          <a:xfrm>
            <a:off x="550164" y="873252"/>
            <a:ext cx="11091672"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dirty="0">
                <a:solidFill>
                  <a:srgbClr val="5B6B7A"/>
                </a:solidFill>
                <a:latin typeface="맑은 고딕" pitchFamily="34" charset="0"/>
                <a:ea typeface="맑은 고딕" pitchFamily="34" charset="-122"/>
                <a:cs typeface="맑은 고딕" pitchFamily="34" charset="-120"/>
              </a:rPr>
              <a:t>데이터가 얕다 → 넓혔다  ·  원자료가 헷갈린다 → 다시 읽을 수 있게 했다  ·  기준이 순환한다 → 표본 밖에서 정했다</a:t>
            </a:r>
            <a:endParaRPr lang="en-US" sz="1300" dirty="0"/>
          </a:p>
        </p:txBody>
      </p:sp>
      <p:sp>
        <p:nvSpPr>
          <p:cNvPr id="4" name="Shape 2"/>
          <p:cNvSpPr/>
          <p:nvPr/>
        </p:nvSpPr>
        <p:spPr>
          <a:xfrm>
            <a:off x="550164" y="1367028"/>
            <a:ext cx="3514344" cy="4800600"/>
          </a:xfrm>
          <a:prstGeom prst="roundRect">
            <a:avLst>
              <a:gd name="adj" fmla="val 2082"/>
            </a:avLst>
          </a:prstGeom>
          <a:solidFill>
            <a:srgbClr val="F6F8FA"/>
          </a:solidFill>
          <a:ln w="9525">
            <a:solidFill>
              <a:srgbClr val="D5DEE7"/>
            </a:solidFill>
            <a:prstDash val="solid"/>
          </a:ln>
        </p:spPr>
        <p:txBody>
          <a:bodyPr/>
          <a:lstStyle/>
          <a:p>
            <a:endParaRPr lang="ko-KR" altLang="en-US"/>
          </a:p>
        </p:txBody>
      </p:sp>
      <p:sp>
        <p:nvSpPr>
          <p:cNvPr id="5" name="Shape 3"/>
          <p:cNvSpPr/>
          <p:nvPr/>
        </p:nvSpPr>
        <p:spPr>
          <a:xfrm>
            <a:off x="806196" y="1623060"/>
            <a:ext cx="274320" cy="274320"/>
          </a:xfrm>
          <a:prstGeom prst="ellipse">
            <a:avLst/>
          </a:prstGeom>
          <a:solidFill>
            <a:srgbClr val="14304A"/>
          </a:solidFill>
          <a:ln w="12700">
            <a:solidFill>
              <a:srgbClr val="14304A"/>
            </a:solidFill>
            <a:prstDash val="solid"/>
          </a:ln>
        </p:spPr>
        <p:txBody>
          <a:bodyPr/>
          <a:lstStyle/>
          <a:p>
            <a:endParaRPr lang="ko-KR" altLang="en-US"/>
          </a:p>
        </p:txBody>
      </p:sp>
      <p:sp>
        <p:nvSpPr>
          <p:cNvPr id="6" name="Text 4"/>
          <p:cNvSpPr txBox="1"/>
          <p:nvPr/>
        </p:nvSpPr>
        <p:spPr>
          <a:xfrm>
            <a:off x="806196" y="1623060"/>
            <a:ext cx="27432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7" name="Text 5"/>
          <p:cNvSpPr txBox="1"/>
          <p:nvPr/>
        </p:nvSpPr>
        <p:spPr>
          <a:xfrm>
            <a:off x="1190244" y="1604772"/>
            <a:ext cx="2618232"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5B6B7A"/>
                </a:solidFill>
                <a:latin typeface="맑은 고딕" pitchFamily="34" charset="0"/>
                <a:ea typeface="맑은 고딕" pitchFamily="34" charset="-122"/>
                <a:cs typeface="맑은 고딕" pitchFamily="34" charset="-120"/>
              </a:rPr>
              <a:t>데이터 확장</a:t>
            </a:r>
            <a:endParaRPr lang="en-US" sz="1300" dirty="0"/>
          </a:p>
        </p:txBody>
      </p:sp>
      <p:sp>
        <p:nvSpPr>
          <p:cNvPr id="8" name="Text 6"/>
          <p:cNvSpPr txBox="1"/>
          <p:nvPr/>
        </p:nvSpPr>
        <p:spPr>
          <a:xfrm>
            <a:off x="806196" y="2025396"/>
            <a:ext cx="3002280" cy="4572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14304A"/>
                </a:solidFill>
                <a:latin typeface="맑은 고딕" pitchFamily="34" charset="0"/>
                <a:ea typeface="맑은 고딕" pitchFamily="34" charset="-122"/>
                <a:cs typeface="맑은 고딕" pitchFamily="34" charset="-120"/>
              </a:rPr>
              <a:t>2개·월별 → 6개·일별</a:t>
            </a:r>
            <a:endParaRPr lang="en-US" sz="2000" dirty="0"/>
          </a:p>
        </p:txBody>
      </p:sp>
      <p:sp>
        <p:nvSpPr>
          <p:cNvPr id="9" name="Text 7"/>
          <p:cNvSpPr txBox="1"/>
          <p:nvPr/>
        </p:nvSpPr>
        <p:spPr>
          <a:xfrm>
            <a:off x="806196" y="2628900"/>
            <a:ext cx="4572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4304A"/>
                </a:solidFill>
                <a:latin typeface="맑은 고딕" pitchFamily="34" charset="0"/>
                <a:ea typeface="맑은 고딕" pitchFamily="34" charset="-122"/>
                <a:cs typeface="맑은 고딕" pitchFamily="34" charset="-120"/>
              </a:rPr>
              <a:t>문제</a:t>
            </a:r>
            <a:endParaRPr lang="en-US" sz="1100" dirty="0"/>
          </a:p>
        </p:txBody>
      </p:sp>
      <p:sp>
        <p:nvSpPr>
          <p:cNvPr id="10" name="Text 8"/>
          <p:cNvSpPr txBox="1"/>
          <p:nvPr/>
        </p:nvSpPr>
        <p:spPr>
          <a:xfrm>
            <a:off x="1373124" y="2610612"/>
            <a:ext cx="2435352" cy="786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dirty="0">
                <a:solidFill>
                  <a:srgbClr val="1F2A36"/>
                </a:solidFill>
                <a:latin typeface="맑은 고딕" pitchFamily="34" charset="0"/>
                <a:ea typeface="맑은 고딕" pitchFamily="34" charset="-122"/>
                <a:cs typeface="맑은 고딕" pitchFamily="34" charset="-120"/>
              </a:rPr>
              <a:t>국고채·회사채 2개 지표, 분석 18행으로는 구간 평균 비교밖에 할 수 없었다</a:t>
            </a:r>
            <a:endParaRPr lang="en-US" sz="1150" dirty="0"/>
          </a:p>
        </p:txBody>
      </p:sp>
      <p:sp>
        <p:nvSpPr>
          <p:cNvPr id="11" name="Text 9"/>
          <p:cNvSpPr txBox="1"/>
          <p:nvPr/>
        </p:nvSpPr>
        <p:spPr>
          <a:xfrm>
            <a:off x="806196" y="3488436"/>
            <a:ext cx="4572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4304A"/>
                </a:solidFill>
                <a:latin typeface="맑은 고딕" pitchFamily="34" charset="0"/>
                <a:ea typeface="맑은 고딕" pitchFamily="34" charset="-122"/>
                <a:cs typeface="맑은 고딕" pitchFamily="34" charset="-120"/>
              </a:rPr>
              <a:t>원인</a:t>
            </a:r>
            <a:endParaRPr lang="en-US" sz="1100" dirty="0"/>
          </a:p>
        </p:txBody>
      </p:sp>
      <p:sp>
        <p:nvSpPr>
          <p:cNvPr id="12" name="Text 10"/>
          <p:cNvSpPr txBox="1"/>
          <p:nvPr/>
        </p:nvSpPr>
        <p:spPr>
          <a:xfrm>
            <a:off x="1373124" y="3470148"/>
            <a:ext cx="2435352" cy="786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dirty="0">
                <a:solidFill>
                  <a:srgbClr val="1F2A36"/>
                </a:solidFill>
                <a:latin typeface="맑은 고딕" pitchFamily="34" charset="0"/>
                <a:ea typeface="맑은 고딕" pitchFamily="34" charset="-122"/>
                <a:cs typeface="맑은 고딕" pitchFamily="34" charset="-120"/>
              </a:rPr>
              <a:t>월평균 자료 하나만 사용. 같은 본문에 있던 CD 금리도 버리고 있었다</a:t>
            </a:r>
            <a:endParaRPr lang="en-US" sz="1150" dirty="0"/>
          </a:p>
        </p:txBody>
      </p:sp>
      <p:sp>
        <p:nvSpPr>
          <p:cNvPr id="13" name="Text 11"/>
          <p:cNvSpPr txBox="1"/>
          <p:nvPr/>
        </p:nvSpPr>
        <p:spPr>
          <a:xfrm>
            <a:off x="806196" y="4347972"/>
            <a:ext cx="4572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4304A"/>
                </a:solidFill>
                <a:latin typeface="맑은 고딕" pitchFamily="34" charset="0"/>
                <a:ea typeface="맑은 고딕" pitchFamily="34" charset="-122"/>
                <a:cs typeface="맑은 고딕" pitchFamily="34" charset="-120"/>
              </a:rPr>
              <a:t>해결</a:t>
            </a:r>
            <a:endParaRPr lang="en-US" sz="1100" dirty="0"/>
          </a:p>
        </p:txBody>
      </p:sp>
      <p:sp>
        <p:nvSpPr>
          <p:cNvPr id="14" name="Text 12"/>
          <p:cNvSpPr txBox="1"/>
          <p:nvPr/>
        </p:nvSpPr>
        <p:spPr>
          <a:xfrm>
            <a:off x="1373124" y="4329684"/>
            <a:ext cx="2435352" cy="104241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dirty="0">
                <a:solidFill>
                  <a:srgbClr val="1F2A36"/>
                </a:solidFill>
                <a:latin typeface="맑은 고딕" pitchFamily="34" charset="0"/>
                <a:ea typeface="맑은 고딕" pitchFamily="34" charset="-122"/>
                <a:cs typeface="맑은 고딕" pitchFamily="34" charset="-120"/>
              </a:rPr>
              <a:t>같은 페이지에서 CD 추가 추출 + ECOS API로 CP, BBB−, 기준금리 일별 370영업일 수집 (키는 보안 비밀로만 입력)</a:t>
            </a:r>
            <a:endParaRPr lang="en-US" sz="1150" dirty="0"/>
          </a:p>
        </p:txBody>
      </p:sp>
      <p:sp>
        <p:nvSpPr>
          <p:cNvPr id="15" name="Text 13"/>
          <p:cNvSpPr txBox="1"/>
          <p:nvPr/>
        </p:nvSpPr>
        <p:spPr>
          <a:xfrm>
            <a:off x="806196" y="5463540"/>
            <a:ext cx="457200" cy="256032"/>
          </a:xfrm>
          <a:prstGeom prst="rect">
            <a:avLst/>
          </a:prstGeom>
          <a:solidFill>
            <a:srgbClr val="14304A"/>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p>
        </p:txBody>
      </p:sp>
      <p:sp>
        <p:nvSpPr>
          <p:cNvPr id="16" name="Text 14"/>
          <p:cNvSpPr txBox="1"/>
          <p:nvPr/>
        </p:nvSpPr>
        <p:spPr>
          <a:xfrm>
            <a:off x="1373124" y="5445252"/>
            <a:ext cx="2435352" cy="786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b="1" dirty="0">
                <a:solidFill>
                  <a:srgbClr val="14304A"/>
                </a:solidFill>
                <a:latin typeface="맑은 고딕" pitchFamily="34" charset="0"/>
                <a:ea typeface="맑은 고딕" pitchFamily="34" charset="-122"/>
                <a:cs typeface="맑은 고딕" pitchFamily="34" charset="-120"/>
              </a:rPr>
              <a:t>발표 다음 날 급변(+7.1bp), CP − CD 23일 뒤 이탈처럼 날짜 단위 분석 가능</a:t>
            </a:r>
            <a:endParaRPr lang="en-US" sz="1150" dirty="0"/>
          </a:p>
        </p:txBody>
      </p:sp>
      <p:sp>
        <p:nvSpPr>
          <p:cNvPr id="17" name="Shape 15"/>
          <p:cNvSpPr/>
          <p:nvPr/>
        </p:nvSpPr>
        <p:spPr>
          <a:xfrm>
            <a:off x="4338828" y="1367028"/>
            <a:ext cx="3514344" cy="4800600"/>
          </a:xfrm>
          <a:prstGeom prst="roundRect">
            <a:avLst>
              <a:gd name="adj" fmla="val 2082"/>
            </a:avLst>
          </a:prstGeom>
          <a:solidFill>
            <a:srgbClr val="F6F8FA"/>
          </a:solidFill>
          <a:ln w="9525">
            <a:solidFill>
              <a:srgbClr val="D5DEE7"/>
            </a:solidFill>
            <a:prstDash val="solid"/>
          </a:ln>
        </p:spPr>
        <p:txBody>
          <a:bodyPr/>
          <a:lstStyle/>
          <a:p>
            <a:endParaRPr lang="ko-KR" altLang="en-US"/>
          </a:p>
        </p:txBody>
      </p:sp>
      <p:sp>
        <p:nvSpPr>
          <p:cNvPr id="18" name="Shape 16"/>
          <p:cNvSpPr/>
          <p:nvPr/>
        </p:nvSpPr>
        <p:spPr>
          <a:xfrm>
            <a:off x="4594860" y="1623060"/>
            <a:ext cx="274320" cy="274320"/>
          </a:xfrm>
          <a:prstGeom prst="ellipse">
            <a:avLst/>
          </a:prstGeom>
          <a:solidFill>
            <a:srgbClr val="E0A020"/>
          </a:solidFill>
          <a:ln w="12700">
            <a:solidFill>
              <a:srgbClr val="E0A020"/>
            </a:solidFill>
            <a:prstDash val="solid"/>
          </a:ln>
        </p:spPr>
        <p:txBody>
          <a:bodyPr/>
          <a:lstStyle/>
          <a:p>
            <a:endParaRPr lang="ko-KR" altLang="en-US"/>
          </a:p>
        </p:txBody>
      </p:sp>
      <p:sp>
        <p:nvSpPr>
          <p:cNvPr id="19" name="Text 17"/>
          <p:cNvSpPr txBox="1"/>
          <p:nvPr/>
        </p:nvSpPr>
        <p:spPr>
          <a:xfrm>
            <a:off x="4594860" y="1623060"/>
            <a:ext cx="27432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0" name="Text 18"/>
          <p:cNvSpPr txBox="1"/>
          <p:nvPr/>
        </p:nvSpPr>
        <p:spPr>
          <a:xfrm>
            <a:off x="4978908" y="1604772"/>
            <a:ext cx="2618232"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5B6B7A"/>
                </a:solidFill>
                <a:latin typeface="맑은 고딕" pitchFamily="34" charset="0"/>
                <a:ea typeface="맑은 고딕" pitchFamily="34" charset="-122"/>
                <a:cs typeface="맑은 고딕" pitchFamily="34" charset="-120"/>
              </a:rPr>
              <a:t>원자료 정합성</a:t>
            </a:r>
            <a:endParaRPr lang="en-US" sz="1300" dirty="0"/>
          </a:p>
        </p:txBody>
      </p:sp>
      <p:sp>
        <p:nvSpPr>
          <p:cNvPr id="21" name="Text 19"/>
          <p:cNvSpPr txBox="1"/>
          <p:nvPr/>
        </p:nvSpPr>
        <p:spPr>
          <a:xfrm>
            <a:off x="4594860" y="2025396"/>
            <a:ext cx="3002280" cy="4572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14304A"/>
                </a:solidFill>
                <a:latin typeface="맑은 고딕" pitchFamily="34" charset="0"/>
                <a:ea typeface="맑은 고딕" pitchFamily="34" charset="-122"/>
                <a:cs typeface="맑은 고딕" pitchFamily="34" charset="-120"/>
              </a:rPr>
              <a:t>'19.1 = '19.10 ?</a:t>
            </a:r>
            <a:endParaRPr lang="en-US" sz="2000" dirty="0"/>
          </a:p>
        </p:txBody>
      </p:sp>
      <p:sp>
        <p:nvSpPr>
          <p:cNvPr id="22" name="Text 20"/>
          <p:cNvSpPr txBox="1"/>
          <p:nvPr/>
        </p:nvSpPr>
        <p:spPr>
          <a:xfrm>
            <a:off x="4594860" y="2628900"/>
            <a:ext cx="4572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A06A00"/>
                </a:solidFill>
                <a:latin typeface="맑은 고딕" pitchFamily="34" charset="0"/>
                <a:ea typeface="맑은 고딕" pitchFamily="34" charset="-122"/>
                <a:cs typeface="맑은 고딕" pitchFamily="34" charset="-120"/>
              </a:rPr>
              <a:t>문제</a:t>
            </a:r>
            <a:endParaRPr lang="en-US" sz="1100" dirty="0"/>
          </a:p>
        </p:txBody>
      </p:sp>
      <p:sp>
        <p:nvSpPr>
          <p:cNvPr id="23" name="Text 21"/>
          <p:cNvSpPr txBox="1"/>
          <p:nvPr/>
        </p:nvSpPr>
        <p:spPr>
          <a:xfrm>
            <a:off x="5161788" y="2610612"/>
            <a:ext cx="2435352" cy="786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dirty="0">
                <a:solidFill>
                  <a:srgbClr val="1F2A36"/>
                </a:solidFill>
                <a:latin typeface="맑은 고딕" pitchFamily="34" charset="0"/>
                <a:ea typeface="맑은 고딕" pitchFamily="34" charset="-122"/>
                <a:cs typeface="맑은 고딕" pitchFamily="34" charset="-120"/>
              </a:rPr>
              <a:t>원자료 CSV를 엑셀로 열면 1월(19.1)과 10월(19.10)이 똑같이 19.1로 보였다</a:t>
            </a:r>
            <a:endParaRPr lang="en-US" sz="1150" dirty="0"/>
          </a:p>
        </p:txBody>
      </p:sp>
      <p:sp>
        <p:nvSpPr>
          <p:cNvPr id="24" name="Text 22"/>
          <p:cNvSpPr txBox="1"/>
          <p:nvPr/>
        </p:nvSpPr>
        <p:spPr>
          <a:xfrm>
            <a:off x="4594860" y="3488436"/>
            <a:ext cx="4572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A06A00"/>
                </a:solidFill>
                <a:latin typeface="맑은 고딕" pitchFamily="34" charset="0"/>
                <a:ea typeface="맑은 고딕" pitchFamily="34" charset="-122"/>
                <a:cs typeface="맑은 고딕" pitchFamily="34" charset="-120"/>
              </a:rPr>
              <a:t>원인</a:t>
            </a:r>
            <a:endParaRPr lang="en-US" sz="1100" dirty="0"/>
          </a:p>
        </p:txBody>
      </p:sp>
      <p:sp>
        <p:nvSpPr>
          <p:cNvPr id="25" name="Text 23"/>
          <p:cNvSpPr txBox="1"/>
          <p:nvPr/>
        </p:nvSpPr>
        <p:spPr>
          <a:xfrm>
            <a:off x="5161788" y="3470148"/>
            <a:ext cx="2435352" cy="786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dirty="0">
                <a:solidFill>
                  <a:srgbClr val="1F2A36"/>
                </a:solidFill>
                <a:latin typeface="맑은 고딕" pitchFamily="34" charset="0"/>
                <a:ea typeface="맑은 고딕" pitchFamily="34" charset="-122"/>
                <a:cs typeface="맑은 고딕" pitchFamily="34" charset="-120"/>
              </a:rPr>
              <a:t>raw_date를 한 자리 월로 저장 → 다시 읽을 때 숫자로 변환되며 끝자리 0이 사라짐</a:t>
            </a:r>
            <a:endParaRPr lang="en-US" sz="1150" dirty="0"/>
          </a:p>
        </p:txBody>
      </p:sp>
      <p:sp>
        <p:nvSpPr>
          <p:cNvPr id="26" name="Text 24"/>
          <p:cNvSpPr txBox="1"/>
          <p:nvPr/>
        </p:nvSpPr>
        <p:spPr>
          <a:xfrm>
            <a:off x="4594860" y="4347972"/>
            <a:ext cx="4572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A06A00"/>
                </a:solidFill>
                <a:latin typeface="맑은 고딕" pitchFamily="34" charset="0"/>
                <a:ea typeface="맑은 고딕" pitchFamily="34" charset="-122"/>
                <a:cs typeface="맑은 고딕" pitchFamily="34" charset="-120"/>
              </a:rPr>
              <a:t>해결</a:t>
            </a:r>
            <a:endParaRPr lang="en-US" sz="1100" dirty="0"/>
          </a:p>
        </p:txBody>
      </p:sp>
      <p:sp>
        <p:nvSpPr>
          <p:cNvPr id="27" name="Text 25"/>
          <p:cNvSpPr txBox="1"/>
          <p:nvPr/>
        </p:nvSpPr>
        <p:spPr>
          <a:xfrm>
            <a:off x="5161788" y="4329684"/>
            <a:ext cx="2435352" cy="104241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dirty="0">
                <a:solidFill>
                  <a:srgbClr val="1F2A36"/>
                </a:solidFill>
                <a:latin typeface="맑은 고딕" pitchFamily="34" charset="0"/>
                <a:ea typeface="맑은 고딕" pitchFamily="34" charset="-122"/>
                <a:cs typeface="맑은 고딕" pitchFamily="34" charset="-120"/>
              </a:rPr>
              <a:t>두 자리 월('19.01)로 저장하고, 원문 토큰(raw_token)도 함께 보관</a:t>
            </a:r>
            <a:endParaRPr lang="en-US" sz="1150" dirty="0"/>
          </a:p>
        </p:txBody>
      </p:sp>
      <p:sp>
        <p:nvSpPr>
          <p:cNvPr id="28" name="Text 26"/>
          <p:cNvSpPr txBox="1"/>
          <p:nvPr/>
        </p:nvSpPr>
        <p:spPr>
          <a:xfrm>
            <a:off x="4594860" y="5463540"/>
            <a:ext cx="457200" cy="256032"/>
          </a:xfrm>
          <a:prstGeom prst="rect">
            <a:avLst/>
          </a:prstGeom>
          <a:solidFill>
            <a:srgbClr val="A06A00"/>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p>
        </p:txBody>
      </p:sp>
      <p:sp>
        <p:nvSpPr>
          <p:cNvPr id="29" name="Text 27"/>
          <p:cNvSpPr txBox="1"/>
          <p:nvPr/>
        </p:nvSpPr>
        <p:spPr>
          <a:xfrm>
            <a:off x="5161788" y="5445252"/>
            <a:ext cx="2435352" cy="786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b="1" dirty="0">
                <a:solidFill>
                  <a:srgbClr val="14304A"/>
                </a:solidFill>
                <a:latin typeface="맑은 고딕" pitchFamily="34" charset="0"/>
                <a:ea typeface="맑은 고딕" pitchFamily="34" charset="-122"/>
                <a:cs typeface="맑은 고딕" pitchFamily="34" charset="-120"/>
              </a:rPr>
              <a:t>다시 읽어도 60개월이 정확히 구분됨. 누락 월 검사 0건 통과</a:t>
            </a:r>
            <a:endParaRPr lang="en-US" sz="1150" dirty="0"/>
          </a:p>
        </p:txBody>
      </p:sp>
      <p:sp>
        <p:nvSpPr>
          <p:cNvPr id="30" name="Shape 28"/>
          <p:cNvSpPr/>
          <p:nvPr/>
        </p:nvSpPr>
        <p:spPr>
          <a:xfrm>
            <a:off x="8127492" y="1367028"/>
            <a:ext cx="3514344" cy="4800600"/>
          </a:xfrm>
          <a:prstGeom prst="roundRect">
            <a:avLst>
              <a:gd name="adj" fmla="val 2082"/>
            </a:avLst>
          </a:prstGeom>
          <a:solidFill>
            <a:srgbClr val="F6F8FA"/>
          </a:solidFill>
          <a:ln w="9525">
            <a:solidFill>
              <a:srgbClr val="D5DEE7"/>
            </a:solidFill>
            <a:prstDash val="solid"/>
          </a:ln>
        </p:spPr>
        <p:txBody>
          <a:bodyPr/>
          <a:lstStyle/>
          <a:p>
            <a:endParaRPr lang="ko-KR" altLang="en-US"/>
          </a:p>
        </p:txBody>
      </p:sp>
      <p:sp>
        <p:nvSpPr>
          <p:cNvPr id="31" name="Shape 29"/>
          <p:cNvSpPr/>
          <p:nvPr/>
        </p:nvSpPr>
        <p:spPr>
          <a:xfrm>
            <a:off x="8383524" y="1623060"/>
            <a:ext cx="274320" cy="274320"/>
          </a:xfrm>
          <a:prstGeom prst="ellipse">
            <a:avLst/>
          </a:prstGeom>
          <a:solidFill>
            <a:srgbClr val="C8412E"/>
          </a:solidFill>
          <a:ln w="12700">
            <a:solidFill>
              <a:srgbClr val="C8412E"/>
            </a:solidFill>
            <a:prstDash val="solid"/>
          </a:ln>
        </p:spPr>
        <p:txBody>
          <a:bodyPr/>
          <a:lstStyle/>
          <a:p>
            <a:endParaRPr lang="ko-KR" altLang="en-US"/>
          </a:p>
        </p:txBody>
      </p:sp>
      <p:sp>
        <p:nvSpPr>
          <p:cNvPr id="32" name="Text 30"/>
          <p:cNvSpPr txBox="1"/>
          <p:nvPr/>
        </p:nvSpPr>
        <p:spPr>
          <a:xfrm>
            <a:off x="8383524" y="1623060"/>
            <a:ext cx="27432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33" name="Text 31"/>
          <p:cNvSpPr txBox="1"/>
          <p:nvPr/>
        </p:nvSpPr>
        <p:spPr>
          <a:xfrm>
            <a:off x="8767572" y="1604772"/>
            <a:ext cx="2618232"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5B6B7A"/>
                </a:solidFill>
                <a:latin typeface="맑은 고딕" pitchFamily="34" charset="0"/>
                <a:ea typeface="맑은 고딕" pitchFamily="34" charset="-122"/>
                <a:cs typeface="맑은 고딕" pitchFamily="34" charset="-120"/>
              </a:rPr>
              <a:t>분석 설계</a:t>
            </a:r>
            <a:endParaRPr lang="en-US" sz="1300" dirty="0"/>
          </a:p>
        </p:txBody>
      </p:sp>
      <p:sp>
        <p:nvSpPr>
          <p:cNvPr id="34" name="Text 32"/>
          <p:cNvSpPr txBox="1"/>
          <p:nvPr/>
        </p:nvSpPr>
        <p:spPr>
          <a:xfrm>
            <a:off x="8383524" y="2025396"/>
            <a:ext cx="3002280" cy="4572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14304A"/>
                </a:solidFill>
                <a:latin typeface="맑은 고딕" pitchFamily="34" charset="0"/>
                <a:ea typeface="맑은 고딕" pitchFamily="34" charset="-122"/>
                <a:cs typeface="맑은 고딕" pitchFamily="34" charset="-120"/>
              </a:rPr>
              <a:t>90·135 → 72.7·99.5bp</a:t>
            </a:r>
            <a:endParaRPr lang="en-US" sz="2000" dirty="0"/>
          </a:p>
        </p:txBody>
      </p:sp>
      <p:sp>
        <p:nvSpPr>
          <p:cNvPr id="35" name="Text 33"/>
          <p:cNvSpPr txBox="1"/>
          <p:nvPr/>
        </p:nvSpPr>
        <p:spPr>
          <a:xfrm>
            <a:off x="8383524" y="2628900"/>
            <a:ext cx="4572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C8412E"/>
                </a:solidFill>
                <a:latin typeface="맑은 고딕" pitchFamily="34" charset="0"/>
                <a:ea typeface="맑은 고딕" pitchFamily="34" charset="-122"/>
                <a:cs typeface="맑은 고딕" pitchFamily="34" charset="-120"/>
              </a:rPr>
              <a:t>문제</a:t>
            </a:r>
            <a:endParaRPr lang="en-US" sz="1100" dirty="0"/>
          </a:p>
        </p:txBody>
      </p:sp>
      <p:sp>
        <p:nvSpPr>
          <p:cNvPr id="36" name="Text 34"/>
          <p:cNvSpPr txBox="1"/>
          <p:nvPr/>
        </p:nvSpPr>
        <p:spPr>
          <a:xfrm>
            <a:off x="8950452" y="2610612"/>
            <a:ext cx="2435352" cy="786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dirty="0">
                <a:solidFill>
                  <a:srgbClr val="1F2A36"/>
                </a:solidFill>
                <a:latin typeface="맑은 고딕" pitchFamily="34" charset="0"/>
                <a:ea typeface="맑은 고딕" pitchFamily="34" charset="-122"/>
                <a:cs typeface="맑은 고딕" pitchFamily="34" charset="-120"/>
              </a:rPr>
              <a:t>계기판 기준값을 분석하는 같은 18개월로 정하고 같은 기간으로 검증 → 답을 보고 만든 기준</a:t>
            </a:r>
            <a:endParaRPr lang="en-US" sz="1150" dirty="0"/>
          </a:p>
        </p:txBody>
      </p:sp>
      <p:sp>
        <p:nvSpPr>
          <p:cNvPr id="37" name="Text 35"/>
          <p:cNvSpPr txBox="1"/>
          <p:nvPr/>
        </p:nvSpPr>
        <p:spPr>
          <a:xfrm>
            <a:off x="8383524" y="3488436"/>
            <a:ext cx="4572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C8412E"/>
                </a:solidFill>
                <a:latin typeface="맑은 고딕" pitchFamily="34" charset="0"/>
                <a:ea typeface="맑은 고딕" pitchFamily="34" charset="-122"/>
                <a:cs typeface="맑은 고딕" pitchFamily="34" charset="-120"/>
              </a:rPr>
              <a:t>원인</a:t>
            </a:r>
            <a:endParaRPr lang="en-US" sz="1100" dirty="0"/>
          </a:p>
        </p:txBody>
      </p:sp>
      <p:sp>
        <p:nvSpPr>
          <p:cNvPr id="38" name="Text 36"/>
          <p:cNvSpPr txBox="1"/>
          <p:nvPr/>
        </p:nvSpPr>
        <p:spPr>
          <a:xfrm>
            <a:off x="8950452" y="3470148"/>
            <a:ext cx="2435352" cy="786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dirty="0">
                <a:solidFill>
                  <a:srgbClr val="1F2A36"/>
                </a:solidFill>
                <a:latin typeface="맑은 고딕" pitchFamily="34" charset="0"/>
                <a:ea typeface="맑은 고딕" pitchFamily="34" charset="-122"/>
                <a:cs typeface="맑은 고딕" pitchFamily="34" charset="-120"/>
              </a:rPr>
              <a:t>표본 안에서 기준 설정. 월평균 판정이 월말에야 확정된다는 점도 빠짐</a:t>
            </a:r>
            <a:endParaRPr lang="en-US" sz="1150" dirty="0"/>
          </a:p>
        </p:txBody>
      </p:sp>
      <p:sp>
        <p:nvSpPr>
          <p:cNvPr id="39" name="Text 37"/>
          <p:cNvSpPr txBox="1"/>
          <p:nvPr/>
        </p:nvSpPr>
        <p:spPr>
          <a:xfrm>
            <a:off x="8383524" y="4347972"/>
            <a:ext cx="4572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C8412E"/>
                </a:solidFill>
                <a:latin typeface="맑은 고딕" pitchFamily="34" charset="0"/>
                <a:ea typeface="맑은 고딕" pitchFamily="34" charset="-122"/>
                <a:cs typeface="맑은 고딕" pitchFamily="34" charset="-120"/>
              </a:rPr>
              <a:t>해결</a:t>
            </a:r>
            <a:endParaRPr lang="en-US" sz="1100" dirty="0"/>
          </a:p>
        </p:txBody>
      </p:sp>
      <p:sp>
        <p:nvSpPr>
          <p:cNvPr id="40" name="Text 38"/>
          <p:cNvSpPr txBox="1"/>
          <p:nvPr/>
        </p:nvSpPr>
        <p:spPr>
          <a:xfrm>
            <a:off x="8950452" y="4329684"/>
            <a:ext cx="2435352" cy="104241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dirty="0">
                <a:solidFill>
                  <a:srgbClr val="1F2A36"/>
                </a:solidFill>
                <a:latin typeface="맑은 고딕" pitchFamily="34" charset="0"/>
                <a:ea typeface="맑은 고딕" pitchFamily="34" charset="-122"/>
                <a:cs typeface="맑은 고딕" pitchFamily="34" charset="-120"/>
              </a:rPr>
              <a:t>2019–21년(표본 밖) 평균+2σ·+4σ로 기준 산출 → 2022–23년에 적용, σ 3·4·5배 민감도, 판정 다음 달 매수로 재계산</a:t>
            </a:r>
            <a:endParaRPr lang="en-US" sz="1150" dirty="0"/>
          </a:p>
        </p:txBody>
      </p:sp>
      <p:sp>
        <p:nvSpPr>
          <p:cNvPr id="41" name="Text 39"/>
          <p:cNvSpPr txBox="1"/>
          <p:nvPr/>
        </p:nvSpPr>
        <p:spPr>
          <a:xfrm>
            <a:off x="8383524" y="5463540"/>
            <a:ext cx="457200" cy="256032"/>
          </a:xfrm>
          <a:prstGeom prst="rect">
            <a:avLst/>
          </a:prstGeom>
          <a:solidFill>
            <a:srgbClr val="C8412E"/>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p>
        </p:txBody>
      </p:sp>
      <p:sp>
        <p:nvSpPr>
          <p:cNvPr id="42" name="Text 40"/>
          <p:cNvSpPr txBox="1"/>
          <p:nvPr/>
        </p:nvSpPr>
        <p:spPr>
          <a:xfrm>
            <a:off x="8950452" y="5445252"/>
            <a:ext cx="2435352" cy="786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150" b="1" dirty="0">
                <a:solidFill>
                  <a:srgbClr val="14304A"/>
                </a:solidFill>
                <a:latin typeface="맑은 고딕" pitchFamily="34" charset="0"/>
                <a:ea typeface="맑은 고딕" pitchFamily="34" charset="-122"/>
                <a:cs typeface="맑은 고딕" pitchFamily="34" charset="-120"/>
              </a:rPr>
              <a:t>경색 매수 초과수익 +221bp → 다음 달 매수 +205bp. 결론 유지</a:t>
            </a:r>
            <a:endParaRPr lang="en-US" sz="1150" dirty="0"/>
          </a:p>
        </p:txBody>
      </p:sp>
      <p:sp>
        <p:nvSpPr>
          <p:cNvPr id="43" name="Text 41"/>
          <p:cNvSpPr txBox="1"/>
          <p:nvPr/>
        </p:nvSpPr>
        <p:spPr>
          <a:xfrm>
            <a:off x="550164" y="6359652"/>
            <a:ext cx="10543032"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dirty="0">
                <a:solidFill>
                  <a:srgbClr val="5B6B7A"/>
                </a:solidFill>
                <a:latin typeface="맑은 고딕" pitchFamily="34" charset="0"/>
                <a:ea typeface="맑은 고딕" pitchFamily="34" charset="-122"/>
                <a:cs typeface="맑은 고딕" pitchFamily="34" charset="-120"/>
              </a:rPr>
              <a:t>extract() · prepare() · collect_ecos() · gauge()  |  output/gauge_validation.csv · gauge_sensitivity.csv · quality_checks.json</a:t>
            </a:r>
            <a:endParaRPr lang="en-US" sz="900" dirty="0"/>
          </a:p>
        </p:txBody>
      </p:sp>
      <p:sp>
        <p:nvSpPr>
          <p:cNvPr id="44" name="Text 28"/>
          <p:cNvSpPr txBox="1"/>
          <p:nvPr/>
        </p:nvSpPr>
        <p:spPr>
          <a:xfrm>
            <a:off x="11277295" y="63596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16</a:t>
            </a:r>
            <a:endParaRPr lang="ko-KR" altLang="en-US" sz="900" dirty="0"/>
          </a:p>
        </p:txBody>
      </p:sp>
    </p:spTree>
    <p:extLst>
      <p:ext uri="{BB962C8B-B14F-4D97-AF65-F5344CB8AC3E}">
        <p14:creationId xmlns:p14="http://schemas.microsoft.com/office/powerpoint/2010/main" val="830325217"/>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384048"/>
            <a:ext cx="11094415" cy="566928"/>
          </a:xfrm>
          <a:prstGeom prst="rect">
            <a:avLst/>
          </a:prstGeom>
          <a:noFill/>
          <a:ln/>
        </p:spPr>
        <p:txBody>
          <a:bodyPr wrap="square" lIns="0" tIns="0" rIns="0" bIns="0" rtlCol="0" anchor="ctr"/>
          <a:lstStyle/>
          <a:p>
            <a:pPr marL="0" indent="0">
              <a:buNone/>
            </a:pPr>
            <a:r>
              <a:rPr lang="ko-KR" altLang="en-US" sz="2800" b="1" dirty="0">
                <a:solidFill>
                  <a:srgbClr val="14304A"/>
                </a:solidFill>
                <a:latin typeface="맑은 고딕" panose="020B0503020000020004" pitchFamily="50" charset="-127"/>
                <a:ea typeface="맑은 고딕" panose="020B0503020000020004" pitchFamily="50" charset="-127"/>
                <a:cs typeface="맑은 고딕" pitchFamily="34" charset="-120"/>
              </a:rPr>
              <a:t>재현 시연: 제출한 ZIP 그대로, 명령어 한 줄로 다시 만든다</a:t>
            </a:r>
            <a:endParaRPr lang="ko-KR" altLang="en-US" sz="2800" dirty="0"/>
          </a:p>
        </p:txBody>
      </p:sp>
      <p:sp>
        <p:nvSpPr>
          <p:cNvPr id="3" name="Text 27"/>
          <p:cNvSpPr txBox="1"/>
          <p:nvPr/>
        </p:nvSpPr>
        <p:spPr>
          <a:xfrm>
            <a:off x="548640" y="6473952"/>
            <a:ext cx="10545775" cy="228600"/>
          </a:xfrm>
          <a:prstGeom prst="rect">
            <a:avLst/>
          </a:prstGeom>
          <a:noFill/>
          <a:ln/>
        </p:spPr>
        <p:txBody>
          <a:bodyPr wrap="square" lIns="0" tIns="0" rIns="0" bIns="0" rtlCol="0" anchor="t"/>
          <a:lstStyle/>
          <a:p>
            <a:pPr marL="0" indent="0">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실행 방법: README 8장  |  저장 원본(data/raw)만 사용 → 인터넷·ECOS 인증키 불필요  |  원본 HTML 1개·ECOS JSON 6개 SHA256 확인 후 실행</a:t>
            </a:r>
            <a:endParaRPr lang="ko-KR" altLang="en-US" sz="900" dirty="0"/>
          </a:p>
        </p:txBody>
      </p:sp>
      <p:sp>
        <p:nvSpPr>
          <p:cNvPr id="4" name="Text 28"/>
          <p:cNvSpPr txBox="1"/>
          <p:nvPr/>
        </p:nvSpPr>
        <p:spPr>
          <a:xfrm>
            <a:off x="11277295" y="6473952"/>
            <a:ext cx="365760" cy="228600"/>
          </a:xfrm>
          <a:prstGeom prst="rect">
            <a:avLst/>
          </a:prstGeom>
          <a:noFill/>
          <a:ln/>
        </p:spPr>
        <p:txBody>
          <a:bodyPr wrap="square" lIns="0" tIns="0" rIns="0" bIns="0" rtlCol="0" anchor="t"/>
          <a:lstStyle/>
          <a:p>
            <a:pPr marL="0" indent="0" algn="r">
              <a:buNone/>
            </a:pPr>
            <a:r>
              <a:rPr lang="ko-KR" altLang="en-US" sz="900" dirty="0">
                <a:solidFill>
                  <a:srgbClr val="5B6B7A"/>
                </a:solidFill>
                <a:latin typeface="맑은 고딕" panose="020B0503020000020004" pitchFamily="50" charset="-127"/>
                <a:ea typeface="맑은 고딕" panose="020B0503020000020004" pitchFamily="50" charset="-127"/>
                <a:cs typeface="맑은 고딕" pitchFamily="34" charset="-120"/>
              </a:rPr>
              <a:t>17</a:t>
            </a:r>
            <a:endParaRPr lang="ko-KR" altLang="en-US" sz="900" dirty="0"/>
          </a:p>
        </p:txBody>
      </p:sp>
      <p:sp>
        <p:nvSpPr>
          <p:cNvPr id="9" name="Rounded Rectangle 8"/>
          <p:cNvSpPr/>
          <p:nvPr/>
        </p:nvSpPr>
        <p:spPr>
          <a:xfrm>
            <a:off x="548640" y="5326380"/>
            <a:ext cx="6949440" cy="566928"/>
          </a:xfrm>
          <a:prstGeom prst="roundRect">
            <a:avLst>
              <a:gd name="adj" fmla="val 8000"/>
            </a:avLst>
          </a:prstGeom>
          <a:solidFill>
            <a:srgbClr val="0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5326380"/>
            <a:ext cx="6400800" cy="566928"/>
          </a:xfrm>
          <a:prstGeom prst="rect">
            <a:avLst/>
          </a:prstGeom>
          <a:noFill/>
        </p:spPr>
        <p:txBody>
          <a:bodyPr wrap="square" lIns="0" rIns="0" tIns="0" bIns="0" anchor="ctr">
            <a:spAutoFit/>
          </a:bodyPr>
          <a:lstStyle/>
          <a:p>
            <a:pPr algn="l"/>
            <a:r>
              <a:rPr sz="1400" b="0">
                <a:solidFill>
                  <a:srgbClr val="F2C14E"/>
                </a:solidFill>
                <a:latin typeface="Courier New"/>
                <a:ea typeface="맑은 고딕"/>
                <a:cs typeface="Courier New"/>
              </a:rPr>
              <a:t>&gt; py -3.11 source/legoland_analysis.py --offline</a:t>
            </a:r>
          </a:p>
        </p:txBody>
      </p:sp>
      <p:sp>
        <p:nvSpPr>
          <p:cNvPr id="11" name="TextBox 10"/>
          <p:cNvSpPr txBox="1"/>
          <p:nvPr/>
        </p:nvSpPr>
        <p:spPr>
          <a:xfrm>
            <a:off x="7863840" y="1234440"/>
            <a:ext cx="3776472" cy="411480"/>
          </a:xfrm>
          <a:prstGeom prst="rect">
            <a:avLst/>
          </a:prstGeom>
          <a:noFill/>
        </p:spPr>
        <p:txBody>
          <a:bodyPr wrap="square" lIns="0" rIns="0" tIns="0" bIns="0" anchor="ctr">
            <a:spAutoFit/>
          </a:bodyPr>
          <a:lstStyle/>
          <a:p>
            <a:pPr algn="l"/>
            <a:r>
              <a:rPr sz="1800" b="1">
                <a:solidFill>
                  <a:srgbClr val="14304A"/>
                </a:solidFill>
                <a:latin typeface="맑은 고딕"/>
                <a:ea typeface="맑은 고딕"/>
                <a:cs typeface="맑은 고딕"/>
              </a:rPr>
              <a:t>영상에서 확인하는 것</a:t>
            </a:r>
          </a:p>
        </p:txBody>
      </p:sp>
      <p:sp>
        <p:nvSpPr>
          <p:cNvPr id="12" name="Shape 15"/>
          <p:cNvSpPr/>
          <p:nvPr/>
        </p:nvSpPr>
        <p:spPr>
          <a:xfrm>
            <a:off x="7863840" y="1874519"/>
            <a:ext cx="548640" cy="548640"/>
          </a:xfrm>
          <a:prstGeom prst="ellipse">
            <a:avLst/>
          </a:prstGeom>
          <a:solidFill>
            <a:srgbClr val="14304A"/>
          </a:solidFill>
          <a:ln w="12700">
            <a:solidFill>
              <a:srgbClr val="14304A"/>
            </a:solidFill>
            <a:prstDash val="solid"/>
          </a:ln>
        </p:spPr>
        <p:txBody>
          <a:bodyPr/>
          <a:p/>
        </p:txBody>
      </p:sp>
      <p:sp>
        <p:nvSpPr>
          <p:cNvPr id="13" name="Text 16"/>
          <p:cNvSpPr txBox="1"/>
          <p:nvPr/>
        </p:nvSpPr>
        <p:spPr>
          <a:xfrm>
            <a:off x="7863840" y="1874519"/>
            <a:ext cx="548640" cy="54864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1</a:t>
            </a:r>
            <a:endParaRPr lang="ko-KR" altLang="en-US" sz="1300" dirty="0"/>
          </a:p>
        </p:txBody>
      </p:sp>
      <p:sp>
        <p:nvSpPr>
          <p:cNvPr id="14" name="TextBox 13"/>
          <p:cNvSpPr txBox="1"/>
          <p:nvPr/>
        </p:nvSpPr>
        <p:spPr>
          <a:xfrm>
            <a:off x="8595360" y="1801367"/>
            <a:ext cx="3044952" cy="384048"/>
          </a:xfrm>
          <a:prstGeom prst="rect">
            <a:avLst/>
          </a:prstGeom>
          <a:noFill/>
        </p:spPr>
        <p:txBody>
          <a:bodyPr wrap="square" lIns="0" rIns="0" tIns="0" bIns="0" anchor="ctr">
            <a:spAutoFit/>
          </a:bodyPr>
          <a:lstStyle/>
          <a:p>
            <a:pPr algn="l"/>
            <a:r>
              <a:rPr sz="1500" b="1">
                <a:solidFill>
                  <a:srgbClr val="14304A"/>
                </a:solidFill>
                <a:latin typeface="맑은 고딕"/>
                <a:ea typeface="맑은 고딕"/>
                <a:cs typeface="맑은 고딕"/>
              </a:rPr>
              <a:t>실행 전 결과 폴더 확인</a:t>
            </a:r>
          </a:p>
        </p:txBody>
      </p:sp>
      <p:sp>
        <p:nvSpPr>
          <p:cNvPr id="15" name="TextBox 14"/>
          <p:cNvSpPr txBox="1"/>
          <p:nvPr/>
        </p:nvSpPr>
        <p:spPr>
          <a:xfrm>
            <a:off x="8595360" y="2203703"/>
            <a:ext cx="3044952" cy="566928"/>
          </a:xfrm>
          <a:prstGeom prst="rect">
            <a:avLst/>
          </a:prstGeom>
          <a:noFill/>
        </p:spPr>
        <p:txBody>
          <a:bodyPr wrap="square" lIns="0" rIns="0" tIns="0" bIns="0" anchor="t">
            <a:spAutoFit/>
          </a:bodyPr>
          <a:lstStyle/>
          <a:p>
            <a:pPr algn="l"/>
            <a:r>
              <a:rPr sz="1200" b="0">
                <a:solidFill>
                  <a:srgbClr val="5B6B7A"/>
                </a:solidFill>
                <a:latin typeface="맑은 고딕"/>
                <a:ea typeface="맑은 고딕"/>
                <a:cs typeface="맑은 고딕"/>
              </a:rPr>
              <a:t>결과 파일 수정 시각은 오후 1:06</a:t>
            </a:r>
          </a:p>
        </p:txBody>
      </p:sp>
      <p:sp>
        <p:nvSpPr>
          <p:cNvPr id="16" name="Shape 15"/>
          <p:cNvSpPr/>
          <p:nvPr/>
        </p:nvSpPr>
        <p:spPr>
          <a:xfrm>
            <a:off x="7863840" y="3017520"/>
            <a:ext cx="548640" cy="548640"/>
          </a:xfrm>
          <a:prstGeom prst="ellipse">
            <a:avLst/>
          </a:prstGeom>
          <a:solidFill>
            <a:srgbClr val="14304A"/>
          </a:solidFill>
          <a:ln w="12700">
            <a:solidFill>
              <a:srgbClr val="14304A"/>
            </a:solidFill>
            <a:prstDash val="solid"/>
          </a:ln>
        </p:spPr>
        <p:txBody>
          <a:bodyPr/>
          <a:p/>
        </p:txBody>
      </p:sp>
      <p:sp>
        <p:nvSpPr>
          <p:cNvPr id="17" name="Text 16"/>
          <p:cNvSpPr txBox="1"/>
          <p:nvPr/>
        </p:nvSpPr>
        <p:spPr>
          <a:xfrm>
            <a:off x="7863840" y="3017520"/>
            <a:ext cx="548640" cy="54864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2</a:t>
            </a:r>
            <a:endParaRPr lang="ko-KR" altLang="en-US" sz="1300" dirty="0"/>
          </a:p>
        </p:txBody>
      </p:sp>
      <p:sp>
        <p:nvSpPr>
          <p:cNvPr id="18" name="TextBox 17"/>
          <p:cNvSpPr txBox="1"/>
          <p:nvPr/>
        </p:nvSpPr>
        <p:spPr>
          <a:xfrm>
            <a:off x="8595360" y="2944368"/>
            <a:ext cx="3044952" cy="384048"/>
          </a:xfrm>
          <a:prstGeom prst="rect">
            <a:avLst/>
          </a:prstGeom>
          <a:noFill/>
        </p:spPr>
        <p:txBody>
          <a:bodyPr wrap="square" lIns="0" rIns="0" tIns="0" bIns="0" anchor="ctr">
            <a:spAutoFit/>
          </a:bodyPr>
          <a:lstStyle/>
          <a:p>
            <a:pPr algn="l"/>
            <a:r>
              <a:rPr sz="1500" b="1">
                <a:solidFill>
                  <a:srgbClr val="14304A"/>
                </a:solidFill>
                <a:latin typeface="맑은 고딕"/>
                <a:ea typeface="맑은 고딕"/>
                <a:cs typeface="맑은 고딕"/>
              </a:rPr>
              <a:t>명령어 한 줄 실행</a:t>
            </a:r>
          </a:p>
        </p:txBody>
      </p:sp>
      <p:sp>
        <p:nvSpPr>
          <p:cNvPr id="19" name="TextBox 18"/>
          <p:cNvSpPr txBox="1"/>
          <p:nvPr/>
        </p:nvSpPr>
        <p:spPr>
          <a:xfrm>
            <a:off x="8595360" y="3346703"/>
            <a:ext cx="3044952" cy="566928"/>
          </a:xfrm>
          <a:prstGeom prst="rect">
            <a:avLst/>
          </a:prstGeom>
          <a:noFill/>
        </p:spPr>
        <p:txBody>
          <a:bodyPr wrap="square" lIns="0" rIns="0" tIns="0" bIns="0" anchor="t">
            <a:spAutoFit/>
          </a:bodyPr>
          <a:lstStyle/>
          <a:p>
            <a:pPr algn="l"/>
            <a:r>
              <a:rPr sz="1200" b="0">
                <a:solidFill>
                  <a:srgbClr val="5B6B7A"/>
                </a:solidFill>
                <a:latin typeface="맑은 고딕"/>
                <a:ea typeface="맑은 고딕"/>
                <a:cs typeface="맑은 고딕"/>
              </a:rPr>
              <a:t>원본 7개 해시 확인 후 전체 재생성</a:t>
            </a:r>
          </a:p>
        </p:txBody>
      </p:sp>
      <p:sp>
        <p:nvSpPr>
          <p:cNvPr id="20" name="Shape 15"/>
          <p:cNvSpPr/>
          <p:nvPr/>
        </p:nvSpPr>
        <p:spPr>
          <a:xfrm>
            <a:off x="7863840" y="4160520"/>
            <a:ext cx="548640" cy="548640"/>
          </a:xfrm>
          <a:prstGeom prst="ellipse">
            <a:avLst/>
          </a:prstGeom>
          <a:solidFill>
            <a:srgbClr val="14304A"/>
          </a:solidFill>
          <a:ln w="12700">
            <a:solidFill>
              <a:srgbClr val="14304A"/>
            </a:solidFill>
            <a:prstDash val="solid"/>
          </a:ln>
        </p:spPr>
        <p:txBody>
          <a:bodyPr/>
          <a:p/>
        </p:txBody>
      </p:sp>
      <p:sp>
        <p:nvSpPr>
          <p:cNvPr id="21" name="Text 16"/>
          <p:cNvSpPr txBox="1"/>
          <p:nvPr/>
        </p:nvSpPr>
        <p:spPr>
          <a:xfrm>
            <a:off x="7863840" y="4160520"/>
            <a:ext cx="548640" cy="548640"/>
          </a:xfrm>
          <a:prstGeom prst="rect">
            <a:avLst/>
          </a:prstGeom>
          <a:noFill/>
          <a:ln/>
        </p:spPr>
        <p:txBody>
          <a:bodyPr wrap="square" lIns="0" tIns="0" rIns="0" bIns="0" rtlCol="0" anchor="ctr"/>
          <a:lstStyle/>
          <a:p>
            <a:pPr marL="0" indent="0" algn="ctr">
              <a:buNone/>
            </a:pPr>
            <a:r>
              <a:rPr lang="ko-KR" altLang="en-US" sz="1300" b="1" dirty="0">
                <a:solidFill>
                  <a:srgbClr val="FFFFFF"/>
                </a:solidFill>
                <a:latin typeface="맑은 고딕" panose="020B0503020000020004" pitchFamily="50" charset="-127"/>
                <a:ea typeface="맑은 고딕" panose="020B0503020000020004" pitchFamily="50" charset="-127"/>
                <a:cs typeface="맑은 고딕" pitchFamily="34" charset="-120"/>
              </a:rPr>
              <a:t>3</a:t>
            </a:r>
            <a:endParaRPr lang="ko-KR" altLang="en-US" sz="1300" dirty="0"/>
          </a:p>
        </p:txBody>
      </p:sp>
      <p:sp>
        <p:nvSpPr>
          <p:cNvPr id="22" name="TextBox 21"/>
          <p:cNvSpPr txBox="1"/>
          <p:nvPr/>
        </p:nvSpPr>
        <p:spPr>
          <a:xfrm>
            <a:off x="8595360" y="4087368"/>
            <a:ext cx="3044952" cy="384048"/>
          </a:xfrm>
          <a:prstGeom prst="rect">
            <a:avLst/>
          </a:prstGeom>
          <a:noFill/>
        </p:spPr>
        <p:txBody>
          <a:bodyPr wrap="square" lIns="0" rIns="0" tIns="0" bIns="0" anchor="ctr">
            <a:spAutoFit/>
          </a:bodyPr>
          <a:lstStyle/>
          <a:p>
            <a:pPr algn="l"/>
            <a:r>
              <a:rPr sz="1500" b="1">
                <a:solidFill>
                  <a:srgbClr val="14304A"/>
                </a:solidFill>
                <a:latin typeface="맑은 고딕"/>
                <a:ea typeface="맑은 고딕"/>
                <a:cs typeface="맑은 고딕"/>
              </a:rPr>
              <a:t>같은 결과가 나온다</a:t>
            </a:r>
          </a:p>
        </p:txBody>
      </p:sp>
      <p:sp>
        <p:nvSpPr>
          <p:cNvPr id="23" name="TextBox 22"/>
          <p:cNvSpPr txBox="1"/>
          <p:nvPr/>
        </p:nvSpPr>
        <p:spPr>
          <a:xfrm>
            <a:off x="8595360" y="4489704"/>
            <a:ext cx="3044952" cy="566928"/>
          </a:xfrm>
          <a:prstGeom prst="rect">
            <a:avLst/>
          </a:prstGeom>
          <a:noFill/>
        </p:spPr>
        <p:txBody>
          <a:bodyPr wrap="square" lIns="0" rIns="0" tIns="0" bIns="0" anchor="t">
            <a:spAutoFit/>
          </a:bodyPr>
          <a:lstStyle/>
          <a:p>
            <a:pPr algn="l"/>
            <a:r>
              <a:rPr sz="1200" b="0">
                <a:solidFill>
                  <a:srgbClr val="5B6B7A"/>
                </a:solidFill>
                <a:latin typeface="맑은 고딕"/>
                <a:ea typeface="맑은 고딕"/>
                <a:cs typeface="맑은 고딕"/>
              </a:rPr>
              <a:t>파일 수정 시각이 방금으로 바뀌고, 계기판은 96bp → 149bp</a:t>
            </a:r>
          </a:p>
        </p:txBody>
      </p:sp>
      <p:sp>
        <p:nvSpPr>
          <p:cNvPr id="24" name="Rounded Rectangle 23"/>
          <p:cNvSpPr/>
          <p:nvPr/>
        </p:nvSpPr>
        <p:spPr>
          <a:xfrm>
            <a:off x="7863840" y="5326380"/>
            <a:ext cx="3776472" cy="566928"/>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5326380"/>
            <a:ext cx="3319272" cy="566928"/>
          </a:xfrm>
          <a:prstGeom prst="rect">
            <a:avLst/>
          </a:prstGeom>
          <a:noFill/>
        </p:spPr>
        <p:txBody>
          <a:bodyPr wrap="square" lIns="0" rIns="0" tIns="0" bIns="0" anchor="ctr">
            <a:spAutoFit/>
          </a:bodyPr>
          <a:lstStyle/>
          <a:p>
            <a:pPr algn="l"/>
            <a:r>
              <a:rPr sz="1300" b="1">
                <a:solidFill>
                  <a:srgbClr val="2E9E57"/>
                </a:solidFill>
                <a:latin typeface="맑은 고딕"/>
                <a:ea typeface="맑은 고딕"/>
                <a:cs typeface="맑은 고딕"/>
              </a:rPr>
              <a:t>✓ 발표 자료의 숫자와 같은 결과</a:t>
            </a:r>
          </a:p>
        </p:txBody>
      </p:sp>
      <p:pic>
        <p:nvPicPr>
          <p:cNvPr id="26" name="시연 영상">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48640" y="1234440"/>
            <a:ext cx="6949440" cy="390905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709"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14304A"/>
        </a:solidFill>
        <a:effectLst/>
      </p:bgPr>
    </p:bg>
    <p:spTree>
      <p:nvGrpSpPr>
        <p:cNvPr id="1" name=""/>
        <p:cNvGrpSpPr/>
        <p:nvPr/>
      </p:nvGrpSpPr>
      <p:grpSpPr>
        <a:xfrm>
          <a:off x="0" y="0"/>
          <a:ext cx="0" cy="0"/>
          <a:chOff x="0" y="0"/>
          <a:chExt cx="0" cy="0"/>
        </a:xfrm>
      </p:grpSpPr>
      <p:sp>
        <p:nvSpPr>
          <p:cNvPr id="2" name="Text 0"/>
          <p:cNvSpPr txBox="1"/>
          <p:nvPr/>
        </p:nvSpPr>
        <p:spPr>
          <a:xfrm>
            <a:off x="548640" y="914400"/>
            <a:ext cx="7315200" cy="365760"/>
          </a:xfrm>
          <a:prstGeom prst="rect">
            <a:avLst/>
          </a:prstGeom>
          <a:noFill/>
          <a:ln/>
        </p:spPr>
        <p:txBody>
          <a:bodyPr wrap="square" lIns="0" tIns="0" rIns="0" bIns="0" rtlCol="0" anchor="t"/>
          <a:lstStyle/>
          <a:p>
            <a:pPr marL="0" indent="0">
              <a:buNone/>
            </a:pPr>
            <a:r>
              <a:rPr lang="ko-KR" altLang="en-US" sz="1600" dirty="0">
                <a:solidFill>
                  <a:srgbClr val="C9D8E6"/>
                </a:solidFill>
                <a:latin typeface="맑은 고딕" panose="020B0503020000020004" pitchFamily="50" charset="-127"/>
                <a:ea typeface="맑은 고딕" panose="020B0503020000020004" pitchFamily="50" charset="-127"/>
                <a:cs typeface="맑은 고딕" pitchFamily="34" charset="-120"/>
              </a:rPr>
              <a:t>한 줄 결론</a:t>
            </a:r>
            <a:endParaRPr lang="ko-KR" altLang="en-US" sz="1600" dirty="0"/>
          </a:p>
        </p:txBody>
      </p:sp>
      <p:sp>
        <p:nvSpPr>
          <p:cNvPr id="3" name="Text 1"/>
          <p:cNvSpPr txBox="1"/>
          <p:nvPr/>
        </p:nvSpPr>
        <p:spPr>
          <a:xfrm>
            <a:off x="548640" y="1417320"/>
            <a:ext cx="7132320" cy="2377440"/>
          </a:xfrm>
          <a:prstGeom prst="rect">
            <a:avLst/>
          </a:prstGeom>
          <a:noFill/>
          <a:ln/>
        </p:spPr>
        <p:txBody>
          <a:bodyPr wrap="square" lIns="0" tIns="0" rIns="0" bIns="0" rtlCol="0" anchor="t"/>
          <a:lstStyle/>
          <a:p>
            <a:pPr marL="0" indent="0">
              <a:buNone/>
            </a:pPr>
            <a:r>
              <a:rPr lang="ko-KR" altLang="en-US" sz="3400" b="1" dirty="0">
                <a:solidFill>
                  <a:srgbClr val="FFFFFF"/>
                </a:solidFill>
                <a:latin typeface="맑은 고딕" panose="020B0503020000020004" pitchFamily="50" charset="-127"/>
                <a:ea typeface="맑은 고딕" panose="020B0503020000020004" pitchFamily="50" charset="-127"/>
                <a:cs typeface="맑은 고딕" pitchFamily="34" charset="-120"/>
              </a:rPr>
              <a:t>금리만 보면 놓친다.</a:t>
            </a:r>
            <a:endParaRPr lang="ko-KR" altLang="en-US" sz="3400" dirty="0"/>
          </a:p>
          <a:p>
            <a:pPr marL="0" indent="0">
              <a:buNone/>
            </a:pPr>
            <a:r>
              <a:rPr lang="ko-KR" altLang="en-US" sz="3400" b="1" dirty="0">
                <a:solidFill>
                  <a:srgbClr val="FFFFFF"/>
                </a:solidFill>
                <a:latin typeface="맑은 고딕" panose="020B0503020000020004" pitchFamily="50" charset="-127"/>
                <a:ea typeface="맑은 고딕" panose="020B0503020000020004" pitchFamily="50" charset="-127"/>
                <a:cs typeface="맑은 고딕" pitchFamily="34" charset="-120"/>
              </a:rPr>
              <a:t>스프레드가 위기의 크기와</a:t>
            </a:r>
            <a:endParaRPr lang="ko-KR" altLang="en-US" sz="3400" dirty="0"/>
          </a:p>
          <a:p>
            <a:pPr marL="0" indent="0">
              <a:buNone/>
            </a:pPr>
            <a:r>
              <a:rPr lang="ko-KR" altLang="en-US" sz="3400" b="1" dirty="0">
                <a:solidFill>
                  <a:srgbClr val="FFFFFF"/>
                </a:solidFill>
                <a:latin typeface="맑은 고딕" panose="020B0503020000020004" pitchFamily="50" charset="-127"/>
                <a:ea typeface="맑은 고딕" panose="020B0503020000020004" pitchFamily="50" charset="-127"/>
                <a:cs typeface="맑은 고딕" pitchFamily="34" charset="-120"/>
              </a:rPr>
              <a:t>기회의 크기를 알려준다.</a:t>
            </a:r>
            <a:endParaRPr lang="ko-KR" altLang="en-US" sz="3400" dirty="0"/>
          </a:p>
        </p:txBody>
      </p:sp>
      <p:sp>
        <p:nvSpPr>
          <p:cNvPr id="4" name="Shape 2"/>
          <p:cNvSpPr/>
          <p:nvPr/>
        </p:nvSpPr>
        <p:spPr>
          <a:xfrm>
            <a:off x="548640" y="4251960"/>
            <a:ext cx="6583680" cy="1691640"/>
          </a:xfrm>
          <a:prstGeom prst="roundRect">
            <a:avLst>
              <a:gd name="adj" fmla="val 4324"/>
            </a:avLst>
          </a:prstGeom>
          <a:solidFill>
            <a:srgbClr val="0E2336"/>
          </a:solidFill>
          <a:ln w="12700">
            <a:solidFill>
              <a:srgbClr val="2A4763"/>
            </a:solidFill>
            <a:prstDash val="solid"/>
          </a:ln>
        </p:spPr>
      </p:sp>
      <p:sp>
        <p:nvSpPr>
          <p:cNvPr id="5" name="Text 3"/>
          <p:cNvSpPr txBox="1"/>
          <p:nvPr/>
        </p:nvSpPr>
        <p:spPr>
          <a:xfrm>
            <a:off x="822960" y="4434840"/>
            <a:ext cx="6126480" cy="1371600"/>
          </a:xfrm>
          <a:prstGeom prst="rect">
            <a:avLst/>
          </a:prstGeom>
          <a:noFill/>
          <a:ln/>
        </p:spPr>
        <p:txBody>
          <a:bodyPr wrap="square" lIns="0" tIns="0" rIns="0" bIns="0" rtlCol="0" anchor="t"/>
          <a:lstStyle/>
          <a:p>
            <a:pPr marL="0" indent="0">
              <a:spcAft>
                <a:spcPts val="400"/>
              </a:spcAft>
              <a:buNone/>
            </a:pPr>
            <a:r>
              <a:rPr lang="ko-KR" altLang="en-US" sz="1300" dirty="0">
                <a:solidFill>
                  <a:srgbClr val="F2C14E"/>
                </a:solidFill>
                <a:latin typeface="Courier New" pitchFamily="34" charset="0"/>
                <a:ea typeface="맑은 고딕" panose="020B0503020000020004" pitchFamily="50" charset="-127"/>
                <a:cs typeface="Courier New" pitchFamily="34" charset="-120"/>
              </a:rPr>
              <a:t>python -m pip install -r requirements.txt</a:t>
            </a:r>
            <a:endParaRPr lang="ko-KR" altLang="en-US" sz="1300" dirty="0"/>
          </a:p>
          <a:p>
            <a:pPr marL="0" indent="0">
              <a:spcAft>
                <a:spcPts val="400"/>
              </a:spcAft>
              <a:buNone/>
            </a:pPr>
            <a:r>
              <a:rPr lang="ko-KR" altLang="en-US" sz="1300" dirty="0">
                <a:solidFill>
                  <a:srgbClr val="F2C14E"/>
                </a:solidFill>
                <a:latin typeface="Courier New" pitchFamily="34" charset="0"/>
                <a:ea typeface="맑은 고딕" panose="020B0503020000020004" pitchFamily="50" charset="-127"/>
                <a:cs typeface="Courier New" pitchFamily="34" charset="-120"/>
              </a:rPr>
              <a:t>python source/legoland_analysis.py --offline</a:t>
            </a:r>
            <a:endParaRPr lang="ko-KR" altLang="en-US" sz="1300" dirty="0"/>
          </a:p>
          <a:p>
            <a:pPr marL="0" indent="0">
              <a:spcAft>
                <a:spcPts val="400"/>
              </a:spcAft>
              <a:buNone/>
            </a:pPr>
            <a:r>
              <a:rPr lang="ko-KR" altLang="en-US" sz="1300" dirty="0">
                <a:solidFill>
                  <a:srgbClr val="C9D8E6"/>
                </a:solidFill>
                <a:latin typeface="Courier New" pitchFamily="34" charset="0"/>
                <a:ea typeface="맑은 고딕" panose="020B0503020000020004" pitchFamily="50" charset="-127"/>
                <a:cs typeface="Courier New" pitchFamily="34" charset="-120"/>
              </a:rPr>
              <a:t>→ data/ · db/ · output/ 전체 재생성</a:t>
            </a:r>
            <a:endParaRPr lang="ko-KR" altLang="en-US" sz="1300" dirty="0"/>
          </a:p>
          <a:p>
            <a:pPr marL="0" indent="0">
              <a:spcAft>
                <a:spcPts val="400"/>
              </a:spcAft>
              <a:buNone/>
            </a:pPr>
            <a:r>
              <a:rPr lang="ko-KR" altLang="en-US" sz="1300" dirty="0">
                <a:solidFill>
                  <a:srgbClr val="C9D8E6"/>
                </a:solidFill>
                <a:latin typeface="Courier New" pitchFamily="34" charset="0"/>
                <a:ea typeface="맑은 고딕" panose="020B0503020000020004" pitchFamily="50" charset="-127"/>
                <a:cs typeface="Courier New" pitchFamily="34" charset="-120"/>
              </a:rPr>
              <a:t>보고서: output/REPORT.html</a:t>
            </a:r>
            <a:endParaRPr lang="ko-KR" altLang="en-US" sz="1300" dirty="0"/>
          </a:p>
        </p:txBody>
      </p:sp>
      <p:sp>
        <p:nvSpPr>
          <p:cNvPr id="6" name="Shape 4"/>
          <p:cNvSpPr/>
          <p:nvPr/>
        </p:nvSpPr>
        <p:spPr>
          <a:xfrm>
            <a:off x="7726680" y="2194560"/>
            <a:ext cx="3474720" cy="3474720"/>
          </a:xfrm>
          <a:prstGeom prst="blockArc">
            <a:avLst>
              <a:gd name="adj1" fmla="val 10860000"/>
              <a:gd name="adj2" fmla="val 15060000"/>
              <a:gd name="adj3" fmla="val 14000"/>
            </a:avLst>
          </a:prstGeom>
          <a:solidFill>
            <a:srgbClr val="2E9E57"/>
          </a:solidFill>
          <a:ln w="12700">
            <a:solidFill>
              <a:srgbClr val="2E9E57">
                <a:alpha val="0"/>
              </a:srgbClr>
            </a:solidFill>
            <a:prstDash val="solid"/>
          </a:ln>
        </p:spPr>
      </p:sp>
      <p:sp>
        <p:nvSpPr>
          <p:cNvPr id="7" name="Shape 5"/>
          <p:cNvSpPr/>
          <p:nvPr/>
        </p:nvSpPr>
        <p:spPr>
          <a:xfrm>
            <a:off x="7726680" y="2194560"/>
            <a:ext cx="3474720" cy="3474720"/>
          </a:xfrm>
          <a:prstGeom prst="blockArc">
            <a:avLst>
              <a:gd name="adj1" fmla="val 15180000"/>
              <a:gd name="adj2" fmla="val 18300000"/>
              <a:gd name="adj3" fmla="val 14000"/>
            </a:avLst>
          </a:prstGeom>
          <a:solidFill>
            <a:srgbClr val="E0A020"/>
          </a:solidFill>
          <a:ln w="12700">
            <a:solidFill>
              <a:srgbClr val="E0A020">
                <a:alpha val="0"/>
              </a:srgbClr>
            </a:solidFill>
            <a:prstDash val="solid"/>
          </a:ln>
        </p:spPr>
      </p:sp>
      <p:sp>
        <p:nvSpPr>
          <p:cNvPr id="8" name="Shape 6"/>
          <p:cNvSpPr/>
          <p:nvPr/>
        </p:nvSpPr>
        <p:spPr>
          <a:xfrm>
            <a:off x="7726680" y="2194560"/>
            <a:ext cx="3474720" cy="3474720"/>
          </a:xfrm>
          <a:prstGeom prst="blockArc">
            <a:avLst>
              <a:gd name="adj1" fmla="val 18420000"/>
              <a:gd name="adj2" fmla="val 21540000"/>
              <a:gd name="adj3" fmla="val 14000"/>
            </a:avLst>
          </a:prstGeom>
          <a:solidFill>
            <a:srgbClr val="C8412E"/>
          </a:solidFill>
          <a:ln w="12700">
            <a:solidFill>
              <a:srgbClr val="C8412E">
                <a:alpha val="0"/>
              </a:srgbClr>
            </a:solidFill>
            <a:prstDash val="solid"/>
          </a:ln>
        </p:spPr>
      </p:sp>
      <p:sp>
        <p:nvSpPr>
          <p:cNvPr id="9" name="Text 7"/>
          <p:cNvSpPr txBox="1"/>
          <p:nvPr/>
        </p:nvSpPr>
        <p:spPr>
          <a:xfrm>
            <a:off x="8092440" y="4160520"/>
            <a:ext cx="2743200" cy="731520"/>
          </a:xfrm>
          <a:prstGeom prst="rect">
            <a:avLst/>
          </a:prstGeom>
          <a:noFill/>
          <a:ln/>
        </p:spPr>
        <p:txBody>
          <a:bodyPr wrap="square" lIns="0" tIns="0" rIns="0" bIns="0" rtlCol="0" anchor="t"/>
          <a:lstStyle/>
          <a:p>
            <a:pPr marL="0" indent="0" algn="ctr">
              <a:buNone/>
            </a:pPr>
            <a:r>
              <a:rPr lang="ko-KR" altLang="en-US" sz="3600" b="1" dirty="0">
                <a:solidFill>
                  <a:srgbClr val="FFFFFF"/>
                </a:solidFill>
                <a:latin typeface="맑은 고딕" panose="020B0503020000020004" pitchFamily="50" charset="-127"/>
                <a:ea typeface="맑은 고딕" panose="020B0503020000020004" pitchFamily="50" charset="-127"/>
                <a:cs typeface="맑은 고딕" pitchFamily="34" charset="-120"/>
              </a:rPr>
              <a:t>Q &amp; A</a:t>
            </a:r>
            <a:endParaRPr lang="ko-KR" altLang="en-US" sz="3600" dirty="0"/>
          </a:p>
        </p:txBody>
      </p:sp>
      <p:sp>
        <p:nvSpPr>
          <p:cNvPr id="10" name="Text 8"/>
          <p:cNvSpPr txBox="1"/>
          <p:nvPr/>
        </p:nvSpPr>
        <p:spPr>
          <a:xfrm>
            <a:off x="8092440" y="4892040"/>
            <a:ext cx="2743200" cy="411480"/>
          </a:xfrm>
          <a:prstGeom prst="rect">
            <a:avLst/>
          </a:prstGeom>
          <a:noFill/>
          <a:ln/>
        </p:spPr>
        <p:txBody>
          <a:bodyPr wrap="square" lIns="0" tIns="0" rIns="0" bIns="0" rtlCol="0" anchor="t"/>
          <a:lstStyle/>
          <a:p>
            <a:pPr marL="0" indent="0" algn="ctr">
              <a:buNone/>
            </a:pPr>
            <a:r>
              <a:rPr lang="ko-KR" altLang="en-US" sz="1600" dirty="0">
                <a:solidFill>
                  <a:srgbClr val="C9D8E6"/>
                </a:solidFill>
                <a:latin typeface="맑은 고딕" panose="020B0503020000020004" pitchFamily="50" charset="-127"/>
                <a:ea typeface="맑은 고딕" panose="020B0503020000020004" pitchFamily="50" charset="-127"/>
                <a:cs typeface="맑은 고딕" pitchFamily="34" charset="-120"/>
              </a:rPr>
              <a:t>감사합니다</a:t>
            </a:r>
            <a:endParaRPr lang="ko-KR" alt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맑은 고딕" panose="020B0503020000020004" pitchFamily="50" charset="-127"/>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맑은 고딕" panose="020B0503020000020004" pitchFamily="50" charset="-127"/>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3747</Words>
  <Application>Microsoft Office PowerPoint</Application>
  <PresentationFormat>사용자 지정</PresentationFormat>
  <Paragraphs>587</Paragraphs>
  <Slides>17</Slides>
  <Notes>16</Notes>
  <HiddenSlides>0</HiddenSlides>
  <MMClips>0</MMClips>
  <ScaleCrop>false</ScaleCrop>
  <HeadingPairs>
    <vt:vector size="4" baseType="variant">
      <vt:variant>
        <vt:lpstr>테마</vt:lpstr>
      </vt:variant>
      <vt:variant>
        <vt:i4>1</vt:i4>
      </vt:variant>
      <vt:variant>
        <vt:lpstr>슬라이드 제목</vt:lpstr>
      </vt:variant>
      <vt:variant>
        <vt:i4>17</vt:i4>
      </vt:variant>
    </vt:vector>
  </HeadingPairs>
  <TitlesOfParts>
    <vt:vector size="18"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레고랜드 사태 전후 신용스프레드 분석</dc:title>
  <dc:subject>PptxGenJS Presentation</dc:subject>
  <dc:creator>PptxGenJS</dc:creator>
  <cp:lastModifiedBy>user</cp:lastModifiedBy>
  <cp:revision>3</cp:revision>
  <dcterms:created xsi:type="dcterms:W3CDTF">2026-09-27T05:07:24Z</dcterms:created>
  <dcterms:modified xsi:type="dcterms:W3CDTF">2026-09-28T01:09:31Z</dcterms:modified>
</cp:coreProperties>
</file>